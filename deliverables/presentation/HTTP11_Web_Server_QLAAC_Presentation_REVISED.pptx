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B1F3A"/>
                </a:solidFill>
                <a:latin typeface="Calibri"/>
              </a:defRPr>
            </a:pPr>
            <a:r>
              <a:rPr sz="1300" b="0" i="0" u="none" strike="noStrike">
                <a:solidFill>
                  <a:srgbClr val="0B1F3A"/>
                </a:solidFill>
                <a:latin typeface="Calibri"/>
              </a:rPr>
              <a:t>Successful (2xx) throughput</a:t>
            </a:r>
          </a:p>
        </c:rich>
      </c:tx>
      <c:layout/>
      <c:overlay val="0"/>
    </c:title>
    <c:autoTitleDeleted val="0"/>
    <c:plotArea>
      <c:layout/>
      <c:barChart>
        <c:barDir val="col"/>
        <c:grouping val="clustered"/>
        <c:varyColors val="0"/>
        <c:ser>
          <c:idx val="0"/>
          <c:order val="0"/>
          <c:tx>
            <c:strRef>
              <c:f>Sheet1!$B$1</c:f>
              <c:strCache>
                <c:ptCount val="1"/>
                <c:pt idx="0">
                  <c:v>Baseline (QLAAC off)</c:v>
                </c:pt>
              </c:strCache>
            </c:strRef>
          </c:tx>
          <c:spPr>
            <a:solidFill>
              <a:srgbClr val="E8A33D"/>
            </a:solidFill>
            <a:effectLst/>
          </c:spPr>
          <c:invertIfNegative val="0"/>
          <c:dLbls>
            <c:numFmt formatCode="#,##0" sourceLinked="0"/>
            <c:txPr>
              <a:bodyPr/>
              <a:lstStyle/>
              <a:p>
                <a:pPr>
                  <a:defRPr b="0" i="0" strike="noStrike" sz="900" u="none">
                    <a:solidFill>
                      <a:srgbClr val="1F2937"/>
                    </a:solidFill>
                    <a:latin typeface="Calibri"/>
                  </a:defRPr>
                </a:pPr>
              </a:p>
            </c:txPr>
            <c:showLegendKey val="0"/>
            <c:showVal val="1"/>
            <c:showCatName val="0"/>
            <c:showSerName val="0"/>
            <c:showPercent val="0"/>
            <c:showBubbleSize val="0"/>
            <c:showLeaderLines val="0"/>
          </c:dLbls>
          <c:cat>
            <c:multiLvlStrRef>
              <c:f>Sheet1!$A$2:$A$5</c:f>
              <c:multiLvlStrCache>
                <c:ptCount val="4"/>
                <c:lvl>
                  <c:pt idx="0">
                    <c:v>C = 2</c:v>
                  </c:pt>
                  <c:pt idx="1">
                    <c:v>C = 8</c:v>
                  </c:pt>
                  <c:pt idx="2">
                    <c:v>C = 32</c:v>
                  </c:pt>
                  <c:pt idx="3">
                    <c:v>C = 64</c:v>
                  </c:pt>
                </c:lvl>
              </c:multiLvlStrCache>
            </c:multiLvlStrRef>
          </c:cat>
          <c:val>
            <c:numRef>
              <c:f>Sheet1!$B$2:$B$5</c:f>
              <c:numCache>
                <c:formatCode>General</c:formatCode>
                <c:ptCount val="4"/>
                <c:pt idx="0">
                  <c:v>13929.24</c:v>
                </c:pt>
                <c:pt idx="1">
                  <c:v>6629.38</c:v>
                </c:pt>
                <c:pt idx="2">
                  <c:v>6860.38</c:v>
                </c:pt>
                <c:pt idx="3">
                  <c:v>6828.52</c:v>
                </c:pt>
              </c:numCache>
            </c:numRef>
          </c:val>
        </c:ser>
        <c:ser>
          <c:idx val="1"/>
          <c:order val="1"/>
          <c:tx>
            <c:strRef>
              <c:f>Sheet1!$C$1</c:f>
              <c:strCache>
                <c:ptCount val="1"/>
                <c:pt idx="0">
                  <c:v>QLAAC on</c:v>
                </c:pt>
              </c:strCache>
            </c:strRef>
          </c:tx>
          <c:spPr>
            <a:solidFill>
              <a:srgbClr val="0FA3B1"/>
            </a:solidFill>
            <a:effectLst/>
          </c:spPr>
          <c:invertIfNegative val="0"/>
          <c:dLbls>
            <c:numFmt formatCode="#,##0" sourceLinked="0"/>
            <c:txPr>
              <a:bodyPr/>
              <a:lstStyle/>
              <a:p>
                <a:pPr>
                  <a:defRPr b="0" i="0" strike="noStrike" sz="900" u="none">
                    <a:solidFill>
                      <a:srgbClr val="1F2937"/>
                    </a:solidFill>
                    <a:latin typeface="Calibri"/>
                  </a:defRPr>
                </a:pPr>
              </a:p>
            </c:txPr>
            <c:showLegendKey val="0"/>
            <c:showVal val="1"/>
            <c:showCatName val="0"/>
            <c:showSerName val="0"/>
            <c:showPercent val="0"/>
            <c:showBubbleSize val="0"/>
            <c:showLeaderLines val="0"/>
          </c:dLbls>
          <c:cat>
            <c:multiLvlStrRef>
              <c:f>Sheet1!$A$2:$A$5</c:f>
              <c:multiLvlStrCache>
                <c:ptCount val="4"/>
                <c:lvl>
                  <c:pt idx="0">
                    <c:v>C = 2</c:v>
                  </c:pt>
                  <c:pt idx="1">
                    <c:v>C = 8</c:v>
                  </c:pt>
                  <c:pt idx="2">
                    <c:v>C = 32</c:v>
                  </c:pt>
                  <c:pt idx="3">
                    <c:v>C = 64</c:v>
                  </c:pt>
                </c:lvl>
              </c:multiLvlStrCache>
            </c:multiLvlStrRef>
          </c:cat>
          <c:val>
            <c:numRef>
              <c:f>Sheet1!$C$2:$C$5</c:f>
              <c:numCache>
                <c:formatCode>General</c:formatCode>
                <c:ptCount val="4"/>
                <c:pt idx="0">
                  <c:v>14665.4</c:v>
                </c:pt>
                <c:pt idx="1">
                  <c:v>2129.26</c:v>
                </c:pt>
                <c:pt idx="2">
                  <c:v>1970.4</c:v>
                </c:pt>
                <c:pt idx="3">
                  <c:v>638.12</c:v>
                </c:pt>
              </c:numCache>
            </c:numRef>
          </c:val>
        </c:ser>
        <c:dLbls>
          <c:numFmt formatCode="#,##0" sourceLinked="0"/>
          <c:txPr>
            <a:bodyPr/>
            <a:lstStyle/>
            <a:p>
              <a:pPr>
                <a:defRPr b="0" i="0" strike="noStrike" sz="900" u="none">
                  <a:solidFill>
                    <a:srgbClr val="1F2937"/>
                  </a:solidFill>
                  <a:latin typeface="Calibri"/>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F2937"/>
                </a:solidFill>
                <a:latin typeface="Calibri"/>
              </a:defRPr>
            </a:pPr>
            <a:endParaRPr lang="en-US"/>
          </a:p>
        </c:txPr>
        <c:crossAx val="2094734552"/>
        <c:crosses val="autoZero"/>
        <c:auto val="1"/>
        <c:lblAlgn val="ctr"/>
        <c:noMultiLvlLbl val="1"/>
      </c:catAx>
      <c:valAx>
        <c:axId val="2094734552"/>
        <c:scaling>
          <c:orientation val="minMax"/>
          <c:max val="16000"/>
          <c:min val="0"/>
        </c:scaling>
        <c:delete val="0"/>
        <c:axPos val="l"/>
        <c:majorGridlines>
          <c:spPr>
            <a:ln w="9525" cap="flat">
              <a:solidFill>
                <a:srgbClr val="E2E8F0"/>
              </a:solidFill>
              <a:prstDash val="solid"/>
              <a:round/>
            </a:ln>
          </c:spPr>
        </c:majorGridlines>
        <c:title>
          <c:tx>
            <c:rich>
              <a:bodyPr/>
              <a:lstStyle/>
              <a:p>
                <a:pPr>
                  <a:defRPr sz="1000" b="0" i="0" u="none" strike="noStrike">
                    <a:solidFill>
                      <a:srgbClr val="5B6676"/>
                    </a:solidFill>
                    <a:latin typeface="Calibri"/>
                  </a:defRPr>
                </a:pPr>
                <a:r>
                  <a:rPr sz="1000" b="0" i="0" u="none" strike="noStrike">
                    <a:solidFill>
                      <a:srgbClr val="5B6676"/>
                    </a:solidFill>
                    <a:latin typeface="Calibri"/>
                  </a:rPr>
                  <a:t>requests / second</a:t>
                </a:r>
              </a:p>
            </c:rich>
          </c:tx>
          <c:layout/>
          <c:overlay val="0"/>
        </c:title>
        <c:numFmt formatCode="#,##0"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6676"/>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1100">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B1F3A"/>
                </a:solidFill>
                <a:latin typeface="Calibri"/>
              </a:defRPr>
            </a:pPr>
            <a:r>
              <a:rPr sz="1300" b="0" i="0" u="none" strike="noStrike">
                <a:solidFill>
                  <a:srgbClr val="0B1F3A"/>
                </a:solidFill>
                <a:latin typeface="Calibri"/>
              </a:rPr>
              <a:t>p99 latency of 2xx responses</a:t>
            </a:r>
          </a:p>
        </c:rich>
      </c:tx>
      <c:layout/>
      <c:overlay val="0"/>
    </c:title>
    <c:autoTitleDeleted val="0"/>
    <c:plotArea>
      <c:layout/>
      <c:barChart>
        <c:barDir val="col"/>
        <c:grouping val="clustered"/>
        <c:varyColors val="0"/>
        <c:ser>
          <c:idx val="0"/>
          <c:order val="0"/>
          <c:tx>
            <c:strRef>
              <c:f>Sheet1!$B$1</c:f>
              <c:strCache>
                <c:ptCount val="1"/>
                <c:pt idx="0">
                  <c:v>Baseline (QLAAC off)</c:v>
                </c:pt>
              </c:strCache>
            </c:strRef>
          </c:tx>
          <c:spPr>
            <a:solidFill>
              <a:srgbClr val="E8A33D"/>
            </a:solidFill>
            <a:effectLst/>
          </c:spPr>
          <c:invertIfNegative val="0"/>
          <c:dLbls>
            <c:numFmt formatCode="0.00" sourceLinked="0"/>
            <c:txPr>
              <a:bodyPr/>
              <a:lstStyle/>
              <a:p>
                <a:pPr>
                  <a:defRPr b="0" i="0" strike="noStrike" sz="900" u="none">
                    <a:solidFill>
                      <a:srgbClr val="1F2937"/>
                    </a:solidFill>
                    <a:latin typeface="Calibri"/>
                  </a:defRPr>
                </a:pPr>
              </a:p>
            </c:txPr>
            <c:showLegendKey val="0"/>
            <c:showVal val="1"/>
            <c:showCatName val="0"/>
            <c:showSerName val="0"/>
            <c:showPercent val="0"/>
            <c:showBubbleSize val="0"/>
            <c:showLeaderLines val="0"/>
          </c:dLbls>
          <c:cat>
            <c:multiLvlStrRef>
              <c:f>Sheet1!$A$2:$A$5</c:f>
              <c:multiLvlStrCache>
                <c:ptCount val="4"/>
                <c:lvl>
                  <c:pt idx="0">
                    <c:v>C = 2</c:v>
                  </c:pt>
                  <c:pt idx="1">
                    <c:v>C = 8</c:v>
                  </c:pt>
                  <c:pt idx="2">
                    <c:v>C = 32</c:v>
                  </c:pt>
                  <c:pt idx="3">
                    <c:v>C = 64</c:v>
                  </c:pt>
                </c:lvl>
              </c:multiLvlStrCache>
            </c:multiLvlStrRef>
          </c:cat>
          <c:val>
            <c:numRef>
              <c:f>Sheet1!$B$2:$B$5</c:f>
              <c:numCache>
                <c:formatCode>General</c:formatCode>
                <c:ptCount val="4"/>
                <c:pt idx="0">
                  <c:v>0.31</c:v>
                </c:pt>
                <c:pt idx="1">
                  <c:v>29.09</c:v>
                </c:pt>
                <c:pt idx="2">
                  <c:v>204</c:v>
                </c:pt>
                <c:pt idx="3">
                  <c:v>440.33</c:v>
                </c:pt>
              </c:numCache>
            </c:numRef>
          </c:val>
        </c:ser>
        <c:ser>
          <c:idx val="1"/>
          <c:order val="1"/>
          <c:tx>
            <c:strRef>
              <c:f>Sheet1!$C$1</c:f>
              <c:strCache>
                <c:ptCount val="1"/>
                <c:pt idx="0">
                  <c:v>QLAAC on</c:v>
                </c:pt>
              </c:strCache>
            </c:strRef>
          </c:tx>
          <c:spPr>
            <a:solidFill>
              <a:srgbClr val="0FA3B1"/>
            </a:solidFill>
            <a:effectLst/>
          </c:spPr>
          <c:invertIfNegative val="0"/>
          <c:dLbls>
            <c:numFmt formatCode="0.00" sourceLinked="0"/>
            <c:txPr>
              <a:bodyPr/>
              <a:lstStyle/>
              <a:p>
                <a:pPr>
                  <a:defRPr b="0" i="0" strike="noStrike" sz="900" u="none">
                    <a:solidFill>
                      <a:srgbClr val="1F2937"/>
                    </a:solidFill>
                    <a:latin typeface="Calibri"/>
                  </a:defRPr>
                </a:pPr>
              </a:p>
            </c:txPr>
            <c:showLegendKey val="0"/>
            <c:showVal val="1"/>
            <c:showCatName val="0"/>
            <c:showSerName val="0"/>
            <c:showPercent val="0"/>
            <c:showBubbleSize val="0"/>
            <c:showLeaderLines val="0"/>
          </c:dLbls>
          <c:cat>
            <c:multiLvlStrRef>
              <c:f>Sheet1!$A$2:$A$5</c:f>
              <c:multiLvlStrCache>
                <c:ptCount val="4"/>
                <c:lvl>
                  <c:pt idx="0">
                    <c:v>C = 2</c:v>
                  </c:pt>
                  <c:pt idx="1">
                    <c:v>C = 8</c:v>
                  </c:pt>
                  <c:pt idx="2">
                    <c:v>C = 32</c:v>
                  </c:pt>
                  <c:pt idx="3">
                    <c:v>C = 64</c:v>
                  </c:pt>
                </c:lvl>
              </c:multiLvlStrCache>
            </c:multiLvlStrRef>
          </c:cat>
          <c:val>
            <c:numRef>
              <c:f>Sheet1!$C$2:$C$5</c:f>
              <c:numCache>
                <c:formatCode>General</c:formatCode>
                <c:ptCount val="4"/>
                <c:pt idx="0">
                  <c:v>0.33</c:v>
                </c:pt>
                <c:pt idx="1">
                  <c:v>3.55</c:v>
                </c:pt>
                <c:pt idx="2">
                  <c:v>16.55</c:v>
                </c:pt>
                <c:pt idx="3">
                  <c:v>161.18</c:v>
                </c:pt>
              </c:numCache>
            </c:numRef>
          </c:val>
        </c:ser>
        <c:dLbls>
          <c:numFmt formatCode="0.00" sourceLinked="0"/>
          <c:txPr>
            <a:bodyPr/>
            <a:lstStyle/>
            <a:p>
              <a:pPr>
                <a:defRPr b="0" i="0" strike="noStrike" sz="900" u="none">
                  <a:solidFill>
                    <a:srgbClr val="1F2937"/>
                  </a:solidFill>
                  <a:latin typeface="Calibri"/>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F2937"/>
                </a:solidFill>
                <a:latin typeface="Calibri"/>
              </a:defRPr>
            </a:pPr>
            <a:endParaRPr lang="en-US"/>
          </a:p>
        </c:txPr>
        <c:crossAx val="2094734552"/>
        <c:crosses val="autoZero"/>
        <c:auto val="1"/>
        <c:lblAlgn val="ctr"/>
        <c:noMultiLvlLbl val="1"/>
      </c:catAx>
      <c:valAx>
        <c:axId val="2094734552"/>
        <c:scaling>
          <c:orientation val="minMax"/>
          <c:max val="500"/>
          <c:min val="0"/>
        </c:scaling>
        <c:delete val="0"/>
        <c:axPos val="l"/>
        <c:majorGridlines>
          <c:spPr>
            <a:ln w="9525" cap="flat">
              <a:solidFill>
                <a:srgbClr val="E2E8F0"/>
              </a:solidFill>
              <a:prstDash val="solid"/>
              <a:round/>
            </a:ln>
          </c:spPr>
        </c:majorGridlines>
        <c:title>
          <c:tx>
            <c:rich>
              <a:bodyPr/>
              <a:lstStyle/>
              <a:p>
                <a:pPr>
                  <a:defRPr sz="1000" b="0" i="0" u="none" strike="noStrike">
                    <a:solidFill>
                      <a:srgbClr val="5B6676"/>
                    </a:solidFill>
                    <a:latin typeface="Calibri"/>
                  </a:defRPr>
                </a:pPr>
                <a:r>
                  <a:rPr sz="1000" b="0" i="0" u="none" strike="noStrike">
                    <a:solidFill>
                      <a:srgbClr val="5B6676"/>
                    </a:solidFill>
                    <a:latin typeface="Calibri"/>
                  </a:rPr>
                  <a:t>milliseconds</a:t>
                </a:r>
              </a:p>
            </c:rich>
          </c:tx>
          <c:layout/>
          <c:overlay val="0"/>
        </c:title>
        <c:numFmt formatCode="0"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6676"/>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1100">
              <a:latin typeface="Calibri"/>
              <a:cs typeface="Calibri"/>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project: a from-scratch multi-threaded HTTP/1.1 server in C on raw TCP sockets, plus QLAAC, an in-server admission controller. We compare the same binary with QLAAC off (baseline) versus on. Team: Yash Pradhan (24BCE0702) and Anjini Pandey (24BCE0714).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fixed pool of 4 workers and a bounded queue of 64 protects the host, but once all workers are busy extra clients only add waiting time (Little's law). Averages and medians stay small because most requests are fast; the unlucky request that waits behind busy workers is visible only in p95/p99. In our baseline at 64 clients the median is 0.52 ms but p99 is 440 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baseline is exactly the same executable with adaptive_control_enabled = false: 4 workers, bounded FIFO queue of 64, keep-alive up to 100 requests / 5 s. It is not an unbounded queue. With more clients than workers each worker is pinned to a connection until it ends, so the first request on a waiting connection absorbs the queue wait. A simple model reproduces the observed baseline p99 (30.2 / 204.1 / 439.3 ms predicted vs 29.09 / 204.00 / 440.33 observed). We did not benchmark any commercial server.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sampler thread wakes every 1000 ms, reads queue occupancy, worker utilisation and the p95 of the last 5 s, and updates the state. Thresholds: worker utilisation 0.85 caution / 1.0 saturated; queue 0.70 growing / 0.90 critical; p95 50 ms elevated / 150 ms critical. CAUTION shortens keep-alive so connections rotate through workers; OVERLOAD rejects new connections at accept time with 503 and Retry-After: 5. Escalation is immediate, de-escalation needs five healthy windows. The novelty claim is deliberately limited: latency/queue-triggered admission control is not new; our contribution is a transparent, instrumented implementation and an honest measurement of the trade-off.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Request path (solid): clients connect; one listener thread polls and accepts, consults the QLAAC state, and pushes the connection onto a bounded FIFO queue (capacity 64). Four pre-spawned workers pop connections and own them; each worker runs the streaming parser, the router and handlers, then sends the response (sendfile for static files). Feedback path (dashed): workers record latency and status in the metrics collector; the sampler thread reads queue occupancy, worker utilisation and rolling p95 every 1000 ms and updates the QLAAC state, which the listener and workers consult. The same metrics are served as JSON on /metrics and read by the live dashboard. In OVERLOAD the listener writes a 503 and closes; if the queue is full it also writes a 503 with Retry-After: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between the socket and the response is our own code: no third-party HTTP or event library. Static files use a zero-copy sendfile(2) loop with an offset-preserving fallback, which is verified in Section 4.3. The 72 automated tests (37 C unit tests, 35 Python unit and integration tests) pass when a server instance is running; when no server is running 21 server-dependent integration tests skip. They are functional and security regression tests, not performance tests. Left-out features are documented as outside scope, not as completed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main evaluation uses two raw CSVs (baseline and QLAAC, "tuned" controller): 4 concurrency levels x 5 trials x 10 s, GET /health on loopback with a Python closed-loop load generator. Throughput counts only 2xx responses, so rejected requests cannot inflate it. Percentiles cover only 2xx responses, which means under QLAAC at C=64 (about 72% 503s) they describe a survivor population. Caveat covered on slide 9: the server was not restarted between consecutive trials, so QLAAC state can carry over.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charts use the same conditions and a zero-based linear axis; values are the exact means from Table 5.3 of the final report (recomputed from the two raw CSVs by verify_benchmark_statistics.py according to the report). At C=2 the two are indistinguishable (13,929 vs 14,665 req/s; p99 0.31 vs 0.33 ms). At C=8 and 32 QLAAC cuts p99 by 87.8% and 91.9% but throughput falls 67.9% and 71.3% with no 503s. At C=64 p99 falls 63.4% on average but with 159.88 ms standard deviation (two trials near 33 ms, three between 149 and 424 ms), throughput falls 90.7%, and 72.14% +/- 5.15% of completed responses are 503 rejections. Do not present the latency gain without the throughput loss.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QLAAC is not universally better. Low load: no advantage. Moderate load: large p99 reduction but the median and p95 get worse and throughput drops by more than two thirds; the controller is over-eager because with persistent connections and C &gt; W worker saturation is always true, which raises CAUTION even when the queue is short. The latency signal is measured after a connection leaves the queue, so the "latency-aware" part was inactive in this workload. At C=64 the slow five-window recovery keeps rejecting after the queue drains (an inference; controller state was not logged over time). Experimental caveats: single host, one workload, consecutive trials without restart.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Summarise: implemented a complete multi-threaded server, added QLAAC, and measured an honest latency vs throughput trade-off; QLAAC is not universally better. Future work is proposed, not completed: latency measured from accept time, a less eager CAUTION rule, per-trial restarts with controller-state logging, open-loop and larger workloads. References are taken from the report's own list with original numbering.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chart" Target="/ppt/charts/chart2.xml"/><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F3A"/>
        </a:solidFill>
      </p:bgPr>
    </p:bg>
    <p:spTree>
      <p:nvGrpSpPr>
        <p:cNvPr id="1" name=""/>
        <p:cNvGrpSpPr/>
        <p:nvPr/>
      </p:nvGrpSpPr>
      <p:grpSpPr>
        <a:xfrm>
          <a:off x="0" y="0"/>
          <a:ext cx="0" cy="0"/>
          <a:chOff x="0" y="0"/>
          <a:chExt cx="0" cy="0"/>
        </a:xfrm>
      </p:grpSpPr>
      <p:sp>
        <p:nvSpPr>
          <p:cNvPr id="2" name="Text 0"/>
          <p:cNvSpPr txBox="1"/>
          <p:nvPr/>
        </p:nvSpPr>
        <p:spPr>
          <a:xfrm>
            <a:off x="457200" y="457200"/>
            <a:ext cx="4572000" cy="457200"/>
          </a:xfrm>
          <a:prstGeom prst="rect">
            <a:avLst/>
          </a:prstGeom>
          <a:noFill/>
          <a:ln/>
        </p:spPr>
        <p:txBody>
          <a:bodyPr wrap="square" lIns="0" tIns="0" rIns="0" bIns="0" rtlCol="0" anchor="ctr"/>
          <a:lstStyle/>
          <a:p>
            <a:pPr indent="0" marL="0">
              <a:buNone/>
            </a:pPr>
            <a:r>
              <a:rPr lang="en-US" sz="1200" b="1" spc="100" kern="0" dirty="0">
                <a:solidFill>
                  <a:srgbClr val="5FD3DD"/>
                </a:solidFill>
                <a:latin typeface="Calibri" pitchFamily="34" charset="0"/>
                <a:ea typeface="Calibri" pitchFamily="34" charset="-122"/>
                <a:cs typeface="Calibri" pitchFamily="34" charset="-120"/>
              </a:rPr>
              <a:t>BCSE308P · COMPUTER NETWORKS LAB · FALL SEMESTER 2026–27</a:t>
            </a:r>
            <a:endParaRPr lang="en-US" sz="1200" dirty="0"/>
          </a:p>
        </p:txBody>
      </p:sp>
      <p:sp>
        <p:nvSpPr>
          <p:cNvPr id="3" name="Text 1"/>
          <p:cNvSpPr txBox="1"/>
          <p:nvPr/>
        </p:nvSpPr>
        <p:spPr>
          <a:xfrm>
            <a:off x="457200" y="1005840"/>
            <a:ext cx="4572000" cy="1920240"/>
          </a:xfrm>
          <a:prstGeom prst="rect">
            <a:avLst/>
          </a:prstGeom>
          <a:noFill/>
          <a:ln/>
        </p:spPr>
        <p:txBody>
          <a:bodyPr wrap="square" lIns="0" tIns="0" rIns="0" bIns="0" rtlCol="0" anchor="t"/>
          <a:lstStyle/>
          <a:p>
            <a:pPr indent="0" marL="0">
              <a:buNone/>
            </a:pPr>
            <a:r>
              <a:rPr lang="en-US" sz="2600" b="1" dirty="0">
                <a:solidFill>
                  <a:srgbClr val="FFFFFF"/>
                </a:solidFill>
                <a:latin typeface="Cambria" pitchFamily="34" charset="0"/>
                <a:ea typeface="Cambria" pitchFamily="34" charset="-122"/>
                <a:cs typeface="Cambria" pitchFamily="34" charset="-120"/>
              </a:rPr>
              <a:t>Design and Implementation of a Multi-Threaded HTTP/1.1 Web Server from Scratch Using Raw TCP Sockets</a:t>
            </a:r>
            <a:endParaRPr lang="en-US" sz="2600" dirty="0"/>
          </a:p>
        </p:txBody>
      </p:sp>
      <p:sp>
        <p:nvSpPr>
          <p:cNvPr id="4" name="Text 2"/>
          <p:cNvSpPr txBox="1"/>
          <p:nvPr/>
        </p:nvSpPr>
        <p:spPr>
          <a:xfrm>
            <a:off x="457200" y="3383280"/>
            <a:ext cx="4572000" cy="731520"/>
          </a:xfrm>
          <a:prstGeom prst="rect">
            <a:avLst/>
          </a:prstGeom>
          <a:noFill/>
          <a:ln/>
        </p:spPr>
        <p:txBody>
          <a:bodyPr wrap="square" lIns="0" tIns="0" rIns="0" bIns="0" rtlCol="0" anchor="ctr"/>
          <a:lstStyle/>
          <a:p>
            <a:pPr indent="0" marL="0">
              <a:spcAft>
                <a:spcPts val="600"/>
              </a:spcAft>
              <a:buNone/>
            </a:pPr>
            <a:r>
              <a:rPr lang="en-US" sz="1800" dirty="0">
                <a:solidFill>
                  <a:srgbClr val="FFFFFF"/>
                </a:solidFill>
                <a:latin typeface="Calibri" pitchFamily="34" charset="0"/>
                <a:ea typeface="Calibri" pitchFamily="34" charset="-122"/>
                <a:cs typeface="Calibri" pitchFamily="34" charset="-120"/>
              </a:rPr>
              <a:t>Yash Pradhan — 24BCE0702</a:t>
            </a:r>
            <a:endParaRPr lang="en-US" sz="1800" dirty="0"/>
          </a:p>
          <a:p>
            <a:pPr indent="0" marL="0">
              <a:spcAft>
                <a:spcPts val="600"/>
              </a:spcAft>
              <a:buNone/>
            </a:pPr>
            <a:r>
              <a:rPr lang="en-US" sz="1800" dirty="0">
                <a:solidFill>
                  <a:srgbClr val="FFFFFF"/>
                </a:solidFill>
                <a:latin typeface="Calibri" pitchFamily="34" charset="0"/>
                <a:ea typeface="Calibri" pitchFamily="34" charset="-122"/>
                <a:cs typeface="Calibri" pitchFamily="34" charset="-120"/>
              </a:rPr>
              <a:t>Anjini Pandey — 24BCE0714</a:t>
            </a:r>
            <a:endParaRPr lang="en-US" sz="1800" dirty="0"/>
          </a:p>
        </p:txBody>
      </p:sp>
      <p:sp>
        <p:nvSpPr>
          <p:cNvPr id="5" name="Text 3"/>
          <p:cNvSpPr txBox="1"/>
          <p:nvPr/>
        </p:nvSpPr>
        <p:spPr>
          <a:xfrm>
            <a:off x="457200" y="4206240"/>
            <a:ext cx="4572000" cy="365760"/>
          </a:xfrm>
          <a:prstGeom prst="rect">
            <a:avLst/>
          </a:prstGeom>
          <a:noFill/>
          <a:ln/>
        </p:spPr>
        <p:txBody>
          <a:bodyPr wrap="square" lIns="0" tIns="0" rIns="0" bIns="0" rtlCol="0" anchor="ctr"/>
          <a:lstStyle/>
          <a:p>
            <a:pPr indent="0" marL="0">
              <a:buNone/>
            </a:pPr>
            <a:r>
              <a:rPr lang="en-US" sz="1400" i="1" dirty="0">
                <a:solidFill>
                  <a:srgbClr val="9FB3CC"/>
                </a:solidFill>
                <a:latin typeface="Calibri" pitchFamily="34" charset="0"/>
                <a:ea typeface="Calibri" pitchFamily="34" charset="-122"/>
                <a:cs typeface="Calibri" pitchFamily="34" charset="-120"/>
              </a:rPr>
              <a:t>Baseline vs Queue-and-Latency-Aware Admission Control (QLAAC)</a:t>
            </a:r>
            <a:endParaRPr lang="en-US" sz="1400" dirty="0"/>
          </a:p>
        </p:txBody>
      </p:sp>
      <p:sp>
        <p:nvSpPr>
          <p:cNvPr id="6" name="Shape 4"/>
          <p:cNvSpPr/>
          <p:nvPr/>
        </p:nvSpPr>
        <p:spPr>
          <a:xfrm>
            <a:off x="5349240" y="548640"/>
            <a:ext cx="3337560" cy="3931920"/>
          </a:xfrm>
          <a:prstGeom prst="roundRect">
            <a:avLst>
              <a:gd name="adj" fmla="val 2192"/>
            </a:avLst>
          </a:prstGeom>
          <a:solidFill>
            <a:srgbClr val="16325C"/>
          </a:solidFill>
          <a:ln w="6350">
            <a:solidFill>
              <a:srgbClr val="16325C"/>
            </a:solidFill>
            <a:prstDash val="solid"/>
          </a:ln>
        </p:spPr>
      </p:sp>
      <p:sp>
        <p:nvSpPr>
          <p:cNvPr id="7" name="Text 5"/>
          <p:cNvSpPr txBox="1"/>
          <p:nvPr/>
        </p:nvSpPr>
        <p:spPr>
          <a:xfrm>
            <a:off x="5440680" y="640080"/>
            <a:ext cx="914400" cy="274320"/>
          </a:xfrm>
          <a:prstGeom prst="rect">
            <a:avLst/>
          </a:prstGeom>
          <a:noFill/>
          <a:ln/>
        </p:spPr>
        <p:txBody>
          <a:bodyPr wrap="square" lIns="0" tIns="0" rIns="0" bIns="0" rtlCol="0" anchor="ctr"/>
          <a:lstStyle/>
          <a:p>
            <a:pPr algn="ctr" indent="0" marL="0">
              <a:buNone/>
            </a:pPr>
            <a:r>
              <a:rPr lang="en-US" sz="1100" dirty="0">
                <a:solidFill>
                  <a:srgbClr val="9FB3CC"/>
                </a:solidFill>
                <a:latin typeface="Calibri" pitchFamily="34" charset="0"/>
                <a:ea typeface="Calibri" pitchFamily="34" charset="-122"/>
                <a:cs typeface="Calibri" pitchFamily="34" charset="-120"/>
              </a:rPr>
              <a:t>TCP clients</a:t>
            </a:r>
            <a:endParaRPr lang="en-US" sz="1100" dirty="0"/>
          </a:p>
        </p:txBody>
      </p:sp>
      <p:sp>
        <p:nvSpPr>
          <p:cNvPr id="8" name="Text 6"/>
          <p:cNvSpPr txBox="1"/>
          <p:nvPr/>
        </p:nvSpPr>
        <p:spPr>
          <a:xfrm>
            <a:off x="6400800" y="640080"/>
            <a:ext cx="1188720" cy="274320"/>
          </a:xfrm>
          <a:prstGeom prst="rect">
            <a:avLst/>
          </a:prstGeom>
          <a:noFill/>
          <a:ln/>
        </p:spPr>
        <p:txBody>
          <a:bodyPr wrap="square" lIns="0" tIns="0" rIns="0" bIns="0" rtlCol="0" anchor="ctr"/>
          <a:lstStyle/>
          <a:p>
            <a:pPr algn="ctr" indent="0" marL="0">
              <a:buNone/>
            </a:pPr>
            <a:r>
              <a:rPr lang="en-US" sz="1100" dirty="0">
                <a:solidFill>
                  <a:srgbClr val="9FB3CC"/>
                </a:solidFill>
                <a:latin typeface="Calibri" pitchFamily="34" charset="0"/>
                <a:ea typeface="Calibri" pitchFamily="34" charset="-122"/>
                <a:cs typeface="Calibri" pitchFamily="34" charset="-120"/>
              </a:rPr>
              <a:t>bounded queue (64)</a:t>
            </a:r>
            <a:endParaRPr lang="en-US" sz="1100" dirty="0"/>
          </a:p>
        </p:txBody>
      </p:sp>
      <p:sp>
        <p:nvSpPr>
          <p:cNvPr id="9" name="Text 7"/>
          <p:cNvSpPr txBox="1"/>
          <p:nvPr/>
        </p:nvSpPr>
        <p:spPr>
          <a:xfrm>
            <a:off x="7726680" y="640080"/>
            <a:ext cx="868680" cy="274320"/>
          </a:xfrm>
          <a:prstGeom prst="rect">
            <a:avLst/>
          </a:prstGeom>
          <a:noFill/>
          <a:ln/>
        </p:spPr>
        <p:txBody>
          <a:bodyPr wrap="square" lIns="0" tIns="0" rIns="0" bIns="0" rtlCol="0" anchor="ctr"/>
          <a:lstStyle/>
          <a:p>
            <a:pPr algn="ctr" indent="0" marL="0">
              <a:buNone/>
            </a:pPr>
            <a:r>
              <a:rPr lang="en-US" sz="1100" dirty="0">
                <a:solidFill>
                  <a:srgbClr val="9FB3CC"/>
                </a:solidFill>
                <a:latin typeface="Calibri" pitchFamily="34" charset="0"/>
                <a:ea typeface="Calibri" pitchFamily="34" charset="-122"/>
                <a:cs typeface="Calibri" pitchFamily="34" charset="-120"/>
              </a:rPr>
              <a:t>4 workers</a:t>
            </a:r>
            <a:endParaRPr lang="en-US" sz="1100" dirty="0"/>
          </a:p>
        </p:txBody>
      </p:sp>
      <p:sp>
        <p:nvSpPr>
          <p:cNvPr id="10" name="Text 8"/>
          <p:cNvSpPr txBox="1"/>
          <p:nvPr/>
        </p:nvSpPr>
        <p:spPr>
          <a:xfrm>
            <a:off x="5486400" y="1051560"/>
            <a:ext cx="731520" cy="457200"/>
          </a:xfrm>
          <a:prstGeom prst="roundRect">
            <a:avLst>
              <a:gd name="adj" fmla="val 16000"/>
            </a:avLst>
          </a:prstGeom>
          <a:solidFill>
            <a:srgbClr val="0B1F3A"/>
          </a:solidFill>
          <a:ln w="15875">
            <a:solidFill>
              <a:srgbClr val="5FD3DD"/>
            </a:solidFill>
          </a:ln>
        </p:spPr>
        <p:txBody>
          <a:bodyPr wrap="square" lIns="635" tIns="635" rIns="635" bIns="635"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C1</a:t>
            </a:r>
            <a:endParaRPr lang="en-US" sz="1200" dirty="0"/>
          </a:p>
        </p:txBody>
      </p:sp>
      <p:sp>
        <p:nvSpPr>
          <p:cNvPr id="11" name="Text 9"/>
          <p:cNvSpPr txBox="1"/>
          <p:nvPr/>
        </p:nvSpPr>
        <p:spPr>
          <a:xfrm>
            <a:off x="5486400" y="1828800"/>
            <a:ext cx="731520" cy="457200"/>
          </a:xfrm>
          <a:prstGeom prst="roundRect">
            <a:avLst>
              <a:gd name="adj" fmla="val 16000"/>
            </a:avLst>
          </a:prstGeom>
          <a:solidFill>
            <a:srgbClr val="0B1F3A"/>
          </a:solidFill>
          <a:ln w="15875">
            <a:solidFill>
              <a:srgbClr val="5FD3DD"/>
            </a:solidFill>
          </a:ln>
        </p:spPr>
        <p:txBody>
          <a:bodyPr wrap="square" lIns="635" tIns="635" rIns="635" bIns="635"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C2</a:t>
            </a:r>
            <a:endParaRPr lang="en-US" sz="1200" dirty="0"/>
          </a:p>
        </p:txBody>
      </p:sp>
      <p:sp>
        <p:nvSpPr>
          <p:cNvPr id="12" name="Text 10"/>
          <p:cNvSpPr txBox="1"/>
          <p:nvPr/>
        </p:nvSpPr>
        <p:spPr>
          <a:xfrm>
            <a:off x="5486400" y="2606040"/>
            <a:ext cx="731520" cy="457200"/>
          </a:xfrm>
          <a:prstGeom prst="roundRect">
            <a:avLst>
              <a:gd name="adj" fmla="val 16000"/>
            </a:avLst>
          </a:prstGeom>
          <a:solidFill>
            <a:srgbClr val="0B1F3A"/>
          </a:solidFill>
          <a:ln w="15875">
            <a:solidFill>
              <a:srgbClr val="5FD3DD"/>
            </a:solidFill>
          </a:ln>
        </p:spPr>
        <p:txBody>
          <a:bodyPr wrap="square" lIns="635" tIns="635" rIns="635" bIns="635"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C3</a:t>
            </a:r>
            <a:endParaRPr lang="en-US" sz="1200" dirty="0"/>
          </a:p>
        </p:txBody>
      </p:sp>
      <p:sp>
        <p:nvSpPr>
          <p:cNvPr id="13" name="Text 11"/>
          <p:cNvSpPr txBox="1"/>
          <p:nvPr/>
        </p:nvSpPr>
        <p:spPr>
          <a:xfrm>
            <a:off x="5486400" y="3383280"/>
            <a:ext cx="731520" cy="457200"/>
          </a:xfrm>
          <a:prstGeom prst="roundRect">
            <a:avLst>
              <a:gd name="adj" fmla="val 16000"/>
            </a:avLst>
          </a:prstGeom>
          <a:solidFill>
            <a:srgbClr val="0B1F3A"/>
          </a:solidFill>
          <a:ln w="15875">
            <a:solidFill>
              <a:srgbClr val="5FD3DD"/>
            </a:solidFill>
          </a:ln>
        </p:spPr>
        <p:txBody>
          <a:bodyPr wrap="square" lIns="635" tIns="635" rIns="635" bIns="635"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C4</a:t>
            </a:r>
            <a:endParaRPr lang="en-US" sz="1200" dirty="0"/>
          </a:p>
        </p:txBody>
      </p:sp>
      <p:sp>
        <p:nvSpPr>
          <p:cNvPr id="14" name="Shape 12"/>
          <p:cNvSpPr/>
          <p:nvPr/>
        </p:nvSpPr>
        <p:spPr>
          <a:xfrm>
            <a:off x="6492240" y="2011680"/>
            <a:ext cx="201168" cy="822960"/>
          </a:xfrm>
          <a:prstGeom prst="rect">
            <a:avLst/>
          </a:prstGeom>
          <a:solidFill>
            <a:srgbClr val="5FD3DD"/>
          </a:solidFill>
          <a:ln w="9525">
            <a:solidFill>
              <a:srgbClr val="5FD3DD"/>
            </a:solidFill>
            <a:prstDash val="solid"/>
          </a:ln>
        </p:spPr>
      </p:sp>
      <p:sp>
        <p:nvSpPr>
          <p:cNvPr id="15" name="Shape 13"/>
          <p:cNvSpPr/>
          <p:nvPr/>
        </p:nvSpPr>
        <p:spPr>
          <a:xfrm>
            <a:off x="6748272" y="2011680"/>
            <a:ext cx="201168" cy="822960"/>
          </a:xfrm>
          <a:prstGeom prst="rect">
            <a:avLst/>
          </a:prstGeom>
          <a:solidFill>
            <a:srgbClr val="5FD3DD"/>
          </a:solidFill>
          <a:ln w="9525">
            <a:solidFill>
              <a:srgbClr val="5FD3DD"/>
            </a:solidFill>
            <a:prstDash val="solid"/>
          </a:ln>
        </p:spPr>
      </p:sp>
      <p:sp>
        <p:nvSpPr>
          <p:cNvPr id="16" name="Shape 14"/>
          <p:cNvSpPr/>
          <p:nvPr/>
        </p:nvSpPr>
        <p:spPr>
          <a:xfrm>
            <a:off x="7004304" y="2011680"/>
            <a:ext cx="201168" cy="822960"/>
          </a:xfrm>
          <a:prstGeom prst="rect">
            <a:avLst/>
          </a:prstGeom>
          <a:solidFill>
            <a:srgbClr val="5FD3DD"/>
          </a:solidFill>
          <a:ln w="9525">
            <a:solidFill>
              <a:srgbClr val="5FD3DD"/>
            </a:solidFill>
            <a:prstDash val="solid"/>
          </a:ln>
        </p:spPr>
      </p:sp>
      <p:sp>
        <p:nvSpPr>
          <p:cNvPr id="17" name="Shape 15"/>
          <p:cNvSpPr/>
          <p:nvPr/>
        </p:nvSpPr>
        <p:spPr>
          <a:xfrm>
            <a:off x="7260336" y="2011680"/>
            <a:ext cx="201168" cy="822960"/>
          </a:xfrm>
          <a:prstGeom prst="rect">
            <a:avLst/>
          </a:prstGeom>
          <a:solidFill>
            <a:srgbClr val="3B5B85"/>
          </a:solidFill>
          <a:ln w="9525">
            <a:solidFill>
              <a:srgbClr val="5FD3DD"/>
            </a:solidFill>
            <a:prstDash val="solid"/>
          </a:ln>
        </p:spPr>
      </p:sp>
      <p:sp>
        <p:nvSpPr>
          <p:cNvPr id="18" name="Text 16"/>
          <p:cNvSpPr txBox="1"/>
          <p:nvPr/>
        </p:nvSpPr>
        <p:spPr>
          <a:xfrm>
            <a:off x="7818120" y="1051560"/>
            <a:ext cx="685800" cy="457200"/>
          </a:xfrm>
          <a:prstGeom prst="roundRect">
            <a:avLst>
              <a:gd name="adj" fmla="val 16000"/>
            </a:avLst>
          </a:prstGeom>
          <a:solidFill>
            <a:srgbClr val="0E9AA7"/>
          </a:solidFill>
          <a:ln w="15875">
            <a:solidFill>
              <a:srgbClr val="0E9AA7"/>
            </a:solidFill>
          </a:ln>
        </p:spPr>
        <p:txBody>
          <a:bodyPr wrap="square" lIns="635" tIns="635" rIns="635" bIns="635"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W1</a:t>
            </a:r>
            <a:endParaRPr lang="en-US" sz="1200" dirty="0"/>
          </a:p>
        </p:txBody>
      </p:sp>
      <p:sp>
        <p:nvSpPr>
          <p:cNvPr id="19" name="Shape 17"/>
          <p:cNvSpPr/>
          <p:nvPr/>
        </p:nvSpPr>
        <p:spPr>
          <a:xfrm flipV="1">
            <a:off x="7269480" y="1280160"/>
            <a:ext cx="548640" cy="1143000"/>
          </a:xfrm>
          <a:prstGeom prst="line">
            <a:avLst/>
          </a:prstGeom>
          <a:noFill/>
          <a:ln w="12700">
            <a:solidFill>
              <a:srgbClr val="9FB3CC"/>
            </a:solidFill>
            <a:prstDash val="solid"/>
            <a:tailEnd type="triangle"/>
          </a:ln>
        </p:spPr>
      </p:sp>
      <p:sp>
        <p:nvSpPr>
          <p:cNvPr id="20" name="Text 18"/>
          <p:cNvSpPr txBox="1"/>
          <p:nvPr/>
        </p:nvSpPr>
        <p:spPr>
          <a:xfrm>
            <a:off x="7818120" y="1828800"/>
            <a:ext cx="685800" cy="457200"/>
          </a:xfrm>
          <a:prstGeom prst="roundRect">
            <a:avLst>
              <a:gd name="adj" fmla="val 16000"/>
            </a:avLst>
          </a:prstGeom>
          <a:solidFill>
            <a:srgbClr val="0E9AA7"/>
          </a:solidFill>
          <a:ln w="15875">
            <a:solidFill>
              <a:srgbClr val="0E9AA7"/>
            </a:solidFill>
          </a:ln>
        </p:spPr>
        <p:txBody>
          <a:bodyPr wrap="square" lIns="635" tIns="635" rIns="635" bIns="635"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W2</a:t>
            </a:r>
            <a:endParaRPr lang="en-US" sz="1200" dirty="0"/>
          </a:p>
        </p:txBody>
      </p:sp>
      <p:sp>
        <p:nvSpPr>
          <p:cNvPr id="21" name="Shape 19"/>
          <p:cNvSpPr/>
          <p:nvPr/>
        </p:nvSpPr>
        <p:spPr>
          <a:xfrm flipV="1">
            <a:off x="7269480" y="2057400"/>
            <a:ext cx="548640" cy="365760"/>
          </a:xfrm>
          <a:prstGeom prst="line">
            <a:avLst/>
          </a:prstGeom>
          <a:noFill/>
          <a:ln w="12700">
            <a:solidFill>
              <a:srgbClr val="9FB3CC"/>
            </a:solidFill>
            <a:prstDash val="solid"/>
            <a:tailEnd type="triangle"/>
          </a:ln>
        </p:spPr>
      </p:sp>
      <p:sp>
        <p:nvSpPr>
          <p:cNvPr id="22" name="Text 20"/>
          <p:cNvSpPr txBox="1"/>
          <p:nvPr/>
        </p:nvSpPr>
        <p:spPr>
          <a:xfrm>
            <a:off x="7818120" y="2606040"/>
            <a:ext cx="685800" cy="457200"/>
          </a:xfrm>
          <a:prstGeom prst="roundRect">
            <a:avLst>
              <a:gd name="adj" fmla="val 16000"/>
            </a:avLst>
          </a:prstGeom>
          <a:solidFill>
            <a:srgbClr val="0E9AA7"/>
          </a:solidFill>
          <a:ln w="15875">
            <a:solidFill>
              <a:srgbClr val="0E9AA7"/>
            </a:solidFill>
          </a:ln>
        </p:spPr>
        <p:txBody>
          <a:bodyPr wrap="square" lIns="635" tIns="635" rIns="635" bIns="635"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W3</a:t>
            </a:r>
            <a:endParaRPr lang="en-US" sz="1200" dirty="0"/>
          </a:p>
        </p:txBody>
      </p:sp>
      <p:sp>
        <p:nvSpPr>
          <p:cNvPr id="23" name="Shape 21"/>
          <p:cNvSpPr/>
          <p:nvPr/>
        </p:nvSpPr>
        <p:spPr>
          <a:xfrm>
            <a:off x="7269480" y="2423160"/>
            <a:ext cx="548640" cy="411480"/>
          </a:xfrm>
          <a:prstGeom prst="line">
            <a:avLst/>
          </a:prstGeom>
          <a:noFill/>
          <a:ln w="12700">
            <a:solidFill>
              <a:srgbClr val="9FB3CC"/>
            </a:solidFill>
            <a:prstDash val="solid"/>
            <a:tailEnd type="triangle"/>
          </a:ln>
        </p:spPr>
      </p:sp>
      <p:sp>
        <p:nvSpPr>
          <p:cNvPr id="24" name="Text 22"/>
          <p:cNvSpPr txBox="1"/>
          <p:nvPr/>
        </p:nvSpPr>
        <p:spPr>
          <a:xfrm>
            <a:off x="7818120" y="3383280"/>
            <a:ext cx="685800" cy="457200"/>
          </a:xfrm>
          <a:prstGeom prst="roundRect">
            <a:avLst>
              <a:gd name="adj" fmla="val 16000"/>
            </a:avLst>
          </a:prstGeom>
          <a:solidFill>
            <a:srgbClr val="0E9AA7"/>
          </a:solidFill>
          <a:ln w="15875">
            <a:solidFill>
              <a:srgbClr val="0E9AA7"/>
            </a:solidFill>
          </a:ln>
        </p:spPr>
        <p:txBody>
          <a:bodyPr wrap="square" lIns="635" tIns="635" rIns="635" bIns="635"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W4</a:t>
            </a:r>
            <a:endParaRPr lang="en-US" sz="1200" dirty="0"/>
          </a:p>
        </p:txBody>
      </p:sp>
      <p:sp>
        <p:nvSpPr>
          <p:cNvPr id="25" name="Shape 23"/>
          <p:cNvSpPr/>
          <p:nvPr/>
        </p:nvSpPr>
        <p:spPr>
          <a:xfrm>
            <a:off x="7269480" y="2423160"/>
            <a:ext cx="548640" cy="1188720"/>
          </a:xfrm>
          <a:prstGeom prst="line">
            <a:avLst/>
          </a:prstGeom>
          <a:noFill/>
          <a:ln w="12700">
            <a:solidFill>
              <a:srgbClr val="9FB3CC"/>
            </a:solidFill>
            <a:prstDash val="solid"/>
            <a:tailEnd type="triangle"/>
          </a:ln>
        </p:spPr>
      </p:sp>
      <p:sp>
        <p:nvSpPr>
          <p:cNvPr id="26" name="Shape 24"/>
          <p:cNvSpPr/>
          <p:nvPr/>
        </p:nvSpPr>
        <p:spPr>
          <a:xfrm>
            <a:off x="6217920" y="1280160"/>
            <a:ext cx="274320" cy="1143000"/>
          </a:xfrm>
          <a:prstGeom prst="line">
            <a:avLst/>
          </a:prstGeom>
          <a:noFill/>
          <a:ln w="12700">
            <a:solidFill>
              <a:srgbClr val="9FB3CC"/>
            </a:solidFill>
            <a:prstDash val="solid"/>
            <a:tailEnd type="triangle"/>
          </a:ln>
        </p:spPr>
      </p:sp>
      <p:sp>
        <p:nvSpPr>
          <p:cNvPr id="27" name="Shape 25"/>
          <p:cNvSpPr/>
          <p:nvPr/>
        </p:nvSpPr>
        <p:spPr>
          <a:xfrm>
            <a:off x="6217920" y="2057400"/>
            <a:ext cx="274320" cy="365760"/>
          </a:xfrm>
          <a:prstGeom prst="line">
            <a:avLst/>
          </a:prstGeom>
          <a:noFill/>
          <a:ln w="12700">
            <a:solidFill>
              <a:srgbClr val="9FB3CC"/>
            </a:solidFill>
            <a:prstDash val="solid"/>
            <a:tailEnd type="triangle"/>
          </a:ln>
        </p:spPr>
      </p:sp>
      <p:sp>
        <p:nvSpPr>
          <p:cNvPr id="28" name="Shape 26"/>
          <p:cNvSpPr/>
          <p:nvPr/>
        </p:nvSpPr>
        <p:spPr>
          <a:xfrm flipV="1">
            <a:off x="6217920" y="2423160"/>
            <a:ext cx="274320" cy="411480"/>
          </a:xfrm>
          <a:prstGeom prst="line">
            <a:avLst/>
          </a:prstGeom>
          <a:noFill/>
          <a:ln w="12700">
            <a:solidFill>
              <a:srgbClr val="9FB3CC"/>
            </a:solidFill>
            <a:prstDash val="solid"/>
            <a:tailEnd type="triangle"/>
          </a:ln>
        </p:spPr>
      </p:sp>
      <p:sp>
        <p:nvSpPr>
          <p:cNvPr id="29" name="Shape 27"/>
          <p:cNvSpPr/>
          <p:nvPr/>
        </p:nvSpPr>
        <p:spPr>
          <a:xfrm flipV="1">
            <a:off x="6217920" y="2423160"/>
            <a:ext cx="274320" cy="1188720"/>
          </a:xfrm>
          <a:prstGeom prst="line">
            <a:avLst/>
          </a:prstGeom>
          <a:noFill/>
          <a:ln w="12700">
            <a:solidFill>
              <a:srgbClr val="9FB3CC"/>
            </a:solidFill>
            <a:prstDash val="solid"/>
            <a:tailEnd type="triangle"/>
          </a:ln>
        </p:spPr>
      </p:sp>
      <p:sp>
        <p:nvSpPr>
          <p:cNvPr id="30" name="Text 28"/>
          <p:cNvSpPr txBox="1"/>
          <p:nvPr/>
        </p:nvSpPr>
        <p:spPr>
          <a:xfrm>
            <a:off x="5440680" y="4023360"/>
            <a:ext cx="3108960" cy="320040"/>
          </a:xfrm>
          <a:prstGeom prst="rect">
            <a:avLst/>
          </a:prstGeom>
          <a:noFill/>
          <a:ln/>
        </p:spPr>
        <p:txBody>
          <a:bodyPr wrap="square" lIns="0" tIns="0" rIns="0" bIns="0" rtlCol="0" anchor="ctr"/>
          <a:lstStyle/>
          <a:p>
            <a:pPr algn="ctr" indent="0" marL="0">
              <a:buNone/>
            </a:pPr>
            <a:r>
              <a:rPr lang="en-US" sz="1200" i="1" dirty="0">
                <a:solidFill>
                  <a:srgbClr val="5FD3DD"/>
                </a:solidFill>
                <a:latin typeface="Calibri" pitchFamily="34" charset="0"/>
                <a:ea typeface="Calibri" pitchFamily="34" charset="-122"/>
                <a:cs typeface="Calibri" pitchFamily="34" charset="-120"/>
              </a:rPr>
              <a:t>request path: clients → queue → workers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8229600" cy="548640"/>
          </a:xfrm>
          <a:prstGeom prst="rect">
            <a:avLst/>
          </a:prstGeom>
          <a:noFill/>
          <a:ln/>
        </p:spPr>
        <p:txBody>
          <a:bodyPr wrap="square" lIns="0" tIns="0" rIns="0" bIns="0" rtlCol="0" anchor="ctr"/>
          <a:lstStyle/>
          <a:p>
            <a:pPr indent="0" marL="0">
              <a:buNone/>
            </a:pPr>
            <a:r>
              <a:rPr lang="en-US" sz="2800" b="1" dirty="0">
                <a:solidFill>
                  <a:srgbClr val="0B1F3A"/>
                </a:solidFill>
                <a:latin typeface="Cambria" pitchFamily="34" charset="0"/>
                <a:ea typeface="Cambria" pitchFamily="34" charset="-122"/>
                <a:cs typeface="Cambria" pitchFamily="34" charset="-120"/>
              </a:rPr>
              <a:t>Problem and motivation</a:t>
            </a:r>
            <a:endParaRPr lang="en-US" sz="2800" dirty="0"/>
          </a:p>
        </p:txBody>
      </p:sp>
      <p:sp>
        <p:nvSpPr>
          <p:cNvPr id="3" name="Text 1"/>
          <p:cNvSpPr txBox="1"/>
          <p:nvPr/>
        </p:nvSpPr>
        <p:spPr>
          <a:xfrm>
            <a:off x="457200" y="1097280"/>
            <a:ext cx="3749040" cy="237744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rgbClr val="1F2937"/>
                </a:solidFill>
                <a:latin typeface="Calibri" pitchFamily="34" charset="0"/>
                <a:ea typeface="Calibri" pitchFamily="34" charset="-122"/>
                <a:cs typeface="Calibri" pitchFamily="34" charset="-120"/>
              </a:rPr>
              <a:t>Many clients request service at once</a:t>
            </a:r>
            <a:endParaRPr lang="en-US" sz="1600" dirty="0"/>
          </a:p>
          <a:p>
            <a:pPr marL="342900" indent="-342900">
              <a:spcAft>
                <a:spcPts val="600"/>
              </a:spcAft>
              <a:buSzPct val="100000"/>
              <a:buChar char="•"/>
            </a:pPr>
            <a:r>
              <a:rPr lang="en-US" sz="1600" dirty="0">
                <a:solidFill>
                  <a:srgbClr val="1F2937"/>
                </a:solidFill>
                <a:latin typeface="Calibri" pitchFamily="34" charset="0"/>
                <a:ea typeface="Calibri" pitchFamily="34" charset="-122"/>
                <a:cs typeface="Calibri" pitchFamily="34" charset="-120"/>
              </a:rPr>
              <a:t>Server resources are bounded: 4 worker threads, queue of 64</a:t>
            </a:r>
            <a:endParaRPr lang="en-US" sz="1600" dirty="0"/>
          </a:p>
          <a:p>
            <a:pPr marL="342900" indent="-342900">
              <a:spcAft>
                <a:spcPts val="600"/>
              </a:spcAft>
              <a:buSzPct val="100000"/>
              <a:buChar char="•"/>
            </a:pPr>
            <a:r>
              <a:rPr lang="en-US" sz="1600" dirty="0">
                <a:solidFill>
                  <a:srgbClr val="1F2937"/>
                </a:solidFill>
                <a:latin typeface="Calibri" pitchFamily="34" charset="0"/>
                <a:ea typeface="Calibri" pitchFamily="34" charset="-122"/>
                <a:cs typeface="Calibri" pitchFamily="34" charset="-120"/>
              </a:rPr>
              <a:t>When all workers are busy, new connections wait in the queue</a:t>
            </a:r>
            <a:endParaRPr lang="en-US" sz="1600" dirty="0"/>
          </a:p>
          <a:p>
            <a:pPr marL="342900" indent="-342900">
              <a:spcAft>
                <a:spcPts val="600"/>
              </a:spcAft>
              <a:buSzPct val="100000"/>
              <a:buChar char="•"/>
            </a:pPr>
            <a:r>
              <a:rPr lang="en-US" sz="1600" dirty="0">
                <a:solidFill>
                  <a:srgbClr val="1F2937"/>
                </a:solidFill>
                <a:latin typeface="Calibri" pitchFamily="34" charset="0"/>
                <a:ea typeface="Calibri" pitchFamily="34" charset="-122"/>
                <a:cs typeface="Calibri" pitchFamily="34" charset="-120"/>
              </a:rPr>
              <a:t>Mean latency hides this: p95 / p99 expose the slow tail</a:t>
            </a:r>
            <a:endParaRPr lang="en-US" sz="1600" dirty="0"/>
          </a:p>
        </p:txBody>
      </p:sp>
      <p:sp>
        <p:nvSpPr>
          <p:cNvPr id="4" name="Shape 2"/>
          <p:cNvSpPr/>
          <p:nvPr/>
        </p:nvSpPr>
        <p:spPr>
          <a:xfrm>
            <a:off x="457200" y="3520440"/>
            <a:ext cx="3749040" cy="1097280"/>
          </a:xfrm>
          <a:prstGeom prst="roundRect">
            <a:avLst>
              <a:gd name="adj" fmla="val 6667"/>
            </a:avLst>
          </a:prstGeom>
          <a:solidFill>
            <a:srgbClr val="DDF2F4"/>
          </a:solidFill>
          <a:ln w="6350">
            <a:solidFill>
              <a:srgbClr val="DDF2F4"/>
            </a:solidFill>
            <a:prstDash val="solid"/>
          </a:ln>
        </p:spPr>
      </p:sp>
      <p:sp>
        <p:nvSpPr>
          <p:cNvPr id="5" name="Text 3"/>
          <p:cNvSpPr txBox="1"/>
          <p:nvPr/>
        </p:nvSpPr>
        <p:spPr>
          <a:xfrm>
            <a:off x="594360" y="3566160"/>
            <a:ext cx="3474720" cy="1005840"/>
          </a:xfrm>
          <a:prstGeom prst="rect">
            <a:avLst/>
          </a:prstGeom>
          <a:noFill/>
          <a:ln/>
        </p:spPr>
        <p:txBody>
          <a:bodyPr wrap="square" lIns="0" tIns="0" rIns="0" bIns="0" rtlCol="0" anchor="ctr"/>
          <a:lstStyle/>
          <a:p>
            <a:pPr indent="0" marL="0">
              <a:buNone/>
            </a:pPr>
            <a:r>
              <a:rPr lang="en-US" sz="1200" dirty="0">
                <a:solidFill>
                  <a:srgbClr val="5B6676"/>
                </a:solidFill>
                <a:latin typeface="Calibri" pitchFamily="34" charset="0"/>
                <a:ea typeface="Calibri" pitchFamily="34" charset="-122"/>
                <a:cs typeface="Calibri" pitchFamily="34" charset="-120"/>
              </a:rPr>
              <a:t>Baseline, C = 64</a:t>
            </a:r>
            <a:endParaRPr lang="en-US" sz="1200" dirty="0"/>
          </a:p>
          <a:p>
            <a:pPr indent="0" marL="0">
              <a:buNone/>
            </a:pPr>
            <a:r>
              <a:rPr lang="en-US" sz="2000" b="1" dirty="0">
                <a:solidFill>
                  <a:srgbClr val="0B1F3A"/>
                </a:solidFill>
                <a:latin typeface="Cambria" pitchFamily="34" charset="0"/>
                <a:ea typeface="Cambria" pitchFamily="34" charset="-122"/>
                <a:cs typeface="Cambria" pitchFamily="34" charset="-120"/>
              </a:rPr>
              <a:t>p50 0.52 ms  vs  p99 440.33 ms</a:t>
            </a:r>
            <a:endParaRPr lang="en-US" sz="1200" dirty="0"/>
          </a:p>
        </p:txBody>
      </p:sp>
      <p:sp>
        <p:nvSpPr>
          <p:cNvPr id="6" name="Shape 4"/>
          <p:cNvSpPr/>
          <p:nvPr/>
        </p:nvSpPr>
        <p:spPr>
          <a:xfrm>
            <a:off x="4480560" y="1097280"/>
            <a:ext cx="4206240" cy="3520440"/>
          </a:xfrm>
          <a:prstGeom prst="roundRect">
            <a:avLst>
              <a:gd name="adj" fmla="val 2078"/>
            </a:avLst>
          </a:prstGeom>
          <a:solidFill>
            <a:srgbClr val="F3F6F9"/>
          </a:solidFill>
          <a:ln w="6350">
            <a:solidFill>
              <a:srgbClr val="F3F6F9"/>
            </a:solidFill>
            <a:prstDash val="solid"/>
          </a:ln>
        </p:spPr>
      </p:sp>
      <p:sp>
        <p:nvSpPr>
          <p:cNvPr id="7" name="Text 5"/>
          <p:cNvSpPr txBox="1"/>
          <p:nvPr/>
        </p:nvSpPr>
        <p:spPr>
          <a:xfrm>
            <a:off x="4572000" y="1143000"/>
            <a:ext cx="4023360" cy="274320"/>
          </a:xfrm>
          <a:prstGeom prst="rect">
            <a:avLst/>
          </a:prstGeom>
          <a:noFill/>
          <a:ln/>
        </p:spPr>
        <p:txBody>
          <a:bodyPr wrap="square" lIns="0" tIns="0" rIns="0" bIns="0" rtlCol="0" anchor="ctr"/>
          <a:lstStyle/>
          <a:p>
            <a:pPr indent="0" marL="0">
              <a:buNone/>
            </a:pPr>
            <a:r>
              <a:rPr lang="en-US" sz="1200" b="1" dirty="0">
                <a:solidFill>
                  <a:srgbClr val="5B6676"/>
                </a:solidFill>
                <a:latin typeface="Calibri" pitchFamily="34" charset="0"/>
                <a:ea typeface="Calibri" pitchFamily="34" charset="-122"/>
                <a:cs typeface="Calibri" pitchFamily="34" charset="-120"/>
              </a:rPr>
              <a:t>Clients (C) → queue → workers</a:t>
            </a:r>
            <a:endParaRPr lang="en-US" sz="1200" dirty="0"/>
          </a:p>
        </p:txBody>
      </p:sp>
      <p:sp>
        <p:nvSpPr>
          <p:cNvPr id="8" name="Text 6"/>
          <p:cNvSpPr txBox="1"/>
          <p:nvPr/>
        </p:nvSpPr>
        <p:spPr>
          <a:xfrm>
            <a:off x="4617720" y="1508760"/>
            <a:ext cx="640080" cy="310896"/>
          </a:xfrm>
          <a:prstGeom prst="roundRect">
            <a:avLst>
              <a:gd name="adj" fmla="val 23529"/>
            </a:avLst>
          </a:prstGeom>
          <a:solidFill>
            <a:srgbClr val="FFFFFF"/>
          </a:solidFill>
          <a:ln w="15875">
            <a:solidFill>
              <a:srgbClr val="16325C"/>
            </a:solidFill>
          </a:ln>
        </p:spPr>
        <p:txBody>
          <a:bodyPr wrap="square" lIns="635" tIns="635" rIns="635" bIns="635" rtlCol="0" anchor="ctr"/>
          <a:lstStyle/>
          <a:p>
            <a:pPr algn="ctr" indent="0" marL="0">
              <a:buNone/>
            </a:pPr>
            <a:r>
              <a:rPr lang="en-US" sz="1100" dirty="0">
                <a:solidFill>
                  <a:srgbClr val="1F2937"/>
                </a:solidFill>
                <a:latin typeface="Calibri" pitchFamily="34" charset="0"/>
                <a:ea typeface="Calibri" pitchFamily="34" charset="-122"/>
                <a:cs typeface="Calibri" pitchFamily="34" charset="-120"/>
              </a:rPr>
              <a:t>C1</a:t>
            </a:r>
            <a:endParaRPr lang="en-US" sz="1100" dirty="0"/>
          </a:p>
        </p:txBody>
      </p:sp>
      <p:sp>
        <p:nvSpPr>
          <p:cNvPr id="9" name="Text 7"/>
          <p:cNvSpPr txBox="1"/>
          <p:nvPr/>
        </p:nvSpPr>
        <p:spPr>
          <a:xfrm>
            <a:off x="4617720" y="1892808"/>
            <a:ext cx="640080" cy="310896"/>
          </a:xfrm>
          <a:prstGeom prst="roundRect">
            <a:avLst>
              <a:gd name="adj" fmla="val 23529"/>
            </a:avLst>
          </a:prstGeom>
          <a:solidFill>
            <a:srgbClr val="FFFFFF"/>
          </a:solidFill>
          <a:ln w="15875">
            <a:solidFill>
              <a:srgbClr val="16325C"/>
            </a:solidFill>
          </a:ln>
        </p:spPr>
        <p:txBody>
          <a:bodyPr wrap="square" lIns="635" tIns="635" rIns="635" bIns="635" rtlCol="0" anchor="ctr"/>
          <a:lstStyle/>
          <a:p>
            <a:pPr algn="ctr" indent="0" marL="0">
              <a:buNone/>
            </a:pPr>
            <a:r>
              <a:rPr lang="en-US" sz="1100" dirty="0">
                <a:solidFill>
                  <a:srgbClr val="1F2937"/>
                </a:solidFill>
                <a:latin typeface="Calibri" pitchFamily="34" charset="0"/>
                <a:ea typeface="Calibri" pitchFamily="34" charset="-122"/>
                <a:cs typeface="Calibri" pitchFamily="34" charset="-120"/>
              </a:rPr>
              <a:t>C2</a:t>
            </a:r>
            <a:endParaRPr lang="en-US" sz="1100" dirty="0"/>
          </a:p>
        </p:txBody>
      </p:sp>
      <p:sp>
        <p:nvSpPr>
          <p:cNvPr id="10" name="Text 8"/>
          <p:cNvSpPr txBox="1"/>
          <p:nvPr/>
        </p:nvSpPr>
        <p:spPr>
          <a:xfrm>
            <a:off x="4617720" y="2276856"/>
            <a:ext cx="640080" cy="310896"/>
          </a:xfrm>
          <a:prstGeom prst="roundRect">
            <a:avLst>
              <a:gd name="adj" fmla="val 23529"/>
            </a:avLst>
          </a:prstGeom>
          <a:solidFill>
            <a:srgbClr val="FFFFFF"/>
          </a:solidFill>
          <a:ln w="15875">
            <a:solidFill>
              <a:srgbClr val="16325C"/>
            </a:solidFill>
          </a:ln>
        </p:spPr>
        <p:txBody>
          <a:bodyPr wrap="square" lIns="635" tIns="635" rIns="635" bIns="635" rtlCol="0" anchor="ctr"/>
          <a:lstStyle/>
          <a:p>
            <a:pPr algn="ctr" indent="0" marL="0">
              <a:buNone/>
            </a:pPr>
            <a:r>
              <a:rPr lang="en-US" sz="1100" dirty="0">
                <a:solidFill>
                  <a:srgbClr val="1F2937"/>
                </a:solidFill>
                <a:latin typeface="Calibri" pitchFamily="34" charset="0"/>
                <a:ea typeface="Calibri" pitchFamily="34" charset="-122"/>
                <a:cs typeface="Calibri" pitchFamily="34" charset="-120"/>
              </a:rPr>
              <a:t>C3</a:t>
            </a:r>
            <a:endParaRPr lang="en-US" sz="1100" dirty="0"/>
          </a:p>
        </p:txBody>
      </p:sp>
      <p:sp>
        <p:nvSpPr>
          <p:cNvPr id="11" name="Text 9"/>
          <p:cNvSpPr txBox="1"/>
          <p:nvPr/>
        </p:nvSpPr>
        <p:spPr>
          <a:xfrm>
            <a:off x="4617720" y="2660904"/>
            <a:ext cx="640080" cy="310896"/>
          </a:xfrm>
          <a:prstGeom prst="roundRect">
            <a:avLst>
              <a:gd name="adj" fmla="val 23529"/>
            </a:avLst>
          </a:prstGeom>
          <a:solidFill>
            <a:srgbClr val="FFFFFF"/>
          </a:solidFill>
          <a:ln w="15875">
            <a:solidFill>
              <a:srgbClr val="16325C"/>
            </a:solidFill>
          </a:ln>
        </p:spPr>
        <p:txBody>
          <a:bodyPr wrap="square" lIns="635" tIns="635" rIns="635" bIns="635" rtlCol="0" anchor="ctr"/>
          <a:lstStyle/>
          <a:p>
            <a:pPr algn="ctr" indent="0" marL="0">
              <a:buNone/>
            </a:pPr>
            <a:r>
              <a:rPr lang="en-US" sz="1100" dirty="0">
                <a:solidFill>
                  <a:srgbClr val="1F2937"/>
                </a:solidFill>
                <a:latin typeface="Calibri" pitchFamily="34" charset="0"/>
                <a:ea typeface="Calibri" pitchFamily="34" charset="-122"/>
                <a:cs typeface="Calibri" pitchFamily="34" charset="-120"/>
              </a:rPr>
              <a:t>Cn</a:t>
            </a:r>
            <a:endParaRPr lang="en-US" sz="1100" dirty="0"/>
          </a:p>
        </p:txBody>
      </p:sp>
      <p:sp>
        <p:nvSpPr>
          <p:cNvPr id="12" name="Shape 10"/>
          <p:cNvSpPr/>
          <p:nvPr/>
        </p:nvSpPr>
        <p:spPr>
          <a:xfrm>
            <a:off x="5303520" y="2286000"/>
            <a:ext cx="320040" cy="0"/>
          </a:xfrm>
          <a:prstGeom prst="line">
            <a:avLst/>
          </a:prstGeom>
          <a:noFill/>
          <a:ln w="22225">
            <a:solidFill>
              <a:srgbClr val="16325C"/>
            </a:solidFill>
            <a:prstDash val="solid"/>
            <a:tailEnd type="triangle"/>
          </a:ln>
        </p:spPr>
      </p:sp>
      <p:sp>
        <p:nvSpPr>
          <p:cNvPr id="13" name="Shape 11"/>
          <p:cNvSpPr/>
          <p:nvPr/>
        </p:nvSpPr>
        <p:spPr>
          <a:xfrm>
            <a:off x="5669280" y="1965960"/>
            <a:ext cx="219456" cy="640080"/>
          </a:xfrm>
          <a:prstGeom prst="rect">
            <a:avLst/>
          </a:prstGeom>
          <a:solidFill>
            <a:srgbClr val="D99A1E"/>
          </a:solidFill>
          <a:ln w="9525">
            <a:solidFill>
              <a:srgbClr val="16325C"/>
            </a:solidFill>
            <a:prstDash val="solid"/>
          </a:ln>
        </p:spPr>
      </p:sp>
      <p:sp>
        <p:nvSpPr>
          <p:cNvPr id="14" name="Shape 12"/>
          <p:cNvSpPr/>
          <p:nvPr/>
        </p:nvSpPr>
        <p:spPr>
          <a:xfrm>
            <a:off x="5943600" y="1965960"/>
            <a:ext cx="219456" cy="640080"/>
          </a:xfrm>
          <a:prstGeom prst="rect">
            <a:avLst/>
          </a:prstGeom>
          <a:solidFill>
            <a:srgbClr val="D99A1E"/>
          </a:solidFill>
          <a:ln w="9525">
            <a:solidFill>
              <a:srgbClr val="16325C"/>
            </a:solidFill>
            <a:prstDash val="solid"/>
          </a:ln>
        </p:spPr>
      </p:sp>
      <p:sp>
        <p:nvSpPr>
          <p:cNvPr id="15" name="Shape 13"/>
          <p:cNvSpPr/>
          <p:nvPr/>
        </p:nvSpPr>
        <p:spPr>
          <a:xfrm>
            <a:off x="6217920" y="1965960"/>
            <a:ext cx="219456" cy="640080"/>
          </a:xfrm>
          <a:prstGeom prst="rect">
            <a:avLst/>
          </a:prstGeom>
          <a:solidFill>
            <a:srgbClr val="D99A1E"/>
          </a:solidFill>
          <a:ln w="9525">
            <a:solidFill>
              <a:srgbClr val="16325C"/>
            </a:solidFill>
            <a:prstDash val="solid"/>
          </a:ln>
        </p:spPr>
      </p:sp>
      <p:sp>
        <p:nvSpPr>
          <p:cNvPr id="16" name="Shape 14"/>
          <p:cNvSpPr/>
          <p:nvPr/>
        </p:nvSpPr>
        <p:spPr>
          <a:xfrm>
            <a:off x="6492240" y="1965960"/>
            <a:ext cx="219456" cy="640080"/>
          </a:xfrm>
          <a:prstGeom prst="rect">
            <a:avLst/>
          </a:prstGeom>
          <a:solidFill>
            <a:srgbClr val="D99A1E"/>
          </a:solidFill>
          <a:ln w="9525">
            <a:solidFill>
              <a:srgbClr val="16325C"/>
            </a:solidFill>
            <a:prstDash val="solid"/>
          </a:ln>
        </p:spPr>
      </p:sp>
      <p:sp>
        <p:nvSpPr>
          <p:cNvPr id="17" name="Shape 15"/>
          <p:cNvSpPr/>
          <p:nvPr/>
        </p:nvSpPr>
        <p:spPr>
          <a:xfrm>
            <a:off x="6766560" y="1965960"/>
            <a:ext cx="219456" cy="640080"/>
          </a:xfrm>
          <a:prstGeom prst="rect">
            <a:avLst/>
          </a:prstGeom>
          <a:solidFill>
            <a:srgbClr val="C9D2DC"/>
          </a:solidFill>
          <a:ln w="9525">
            <a:solidFill>
              <a:srgbClr val="16325C"/>
            </a:solidFill>
            <a:prstDash val="solid"/>
          </a:ln>
        </p:spPr>
      </p:sp>
      <p:sp>
        <p:nvSpPr>
          <p:cNvPr id="18" name="Text 16"/>
          <p:cNvSpPr txBox="1"/>
          <p:nvPr/>
        </p:nvSpPr>
        <p:spPr>
          <a:xfrm>
            <a:off x="5623560" y="2651760"/>
            <a:ext cx="1463040" cy="457200"/>
          </a:xfrm>
          <a:prstGeom prst="rect">
            <a:avLst/>
          </a:prstGeom>
          <a:noFill/>
          <a:ln/>
        </p:spPr>
        <p:txBody>
          <a:bodyPr wrap="square" lIns="0" tIns="0" rIns="0" bIns="0" rtlCol="0" anchor="ctr"/>
          <a:lstStyle/>
          <a:p>
            <a:pPr algn="ctr" indent="0" marL="0">
              <a:buNone/>
            </a:pPr>
            <a:r>
              <a:rPr lang="en-US" sz="1100" dirty="0">
                <a:solidFill>
                  <a:srgbClr val="5B6676"/>
                </a:solidFill>
                <a:latin typeface="Calibri" pitchFamily="34" charset="0"/>
                <a:ea typeface="Calibri" pitchFamily="34" charset="-122"/>
                <a:cs typeface="Calibri" pitchFamily="34" charset="-120"/>
              </a:rPr>
              <a:t>queue (cap. 64)</a:t>
            </a:r>
            <a:endParaRPr lang="en-US" sz="1100" dirty="0"/>
          </a:p>
          <a:p>
            <a:pPr algn="ctr" indent="0" marL="0">
              <a:buNone/>
            </a:pPr>
            <a:r>
              <a:rPr lang="en-US" sz="1100" dirty="0">
                <a:solidFill>
                  <a:srgbClr val="5B6676"/>
                </a:solidFill>
                <a:latin typeface="Calibri" pitchFamily="34" charset="0"/>
                <a:ea typeface="Calibri" pitchFamily="34" charset="-122"/>
                <a:cs typeface="Calibri" pitchFamily="34" charset="-120"/>
              </a:rPr>
              <a:t>filling up</a:t>
            </a:r>
            <a:endParaRPr lang="en-US" sz="1100" dirty="0"/>
          </a:p>
        </p:txBody>
      </p:sp>
      <p:sp>
        <p:nvSpPr>
          <p:cNvPr id="19" name="Shape 17"/>
          <p:cNvSpPr/>
          <p:nvPr/>
        </p:nvSpPr>
        <p:spPr>
          <a:xfrm>
            <a:off x="7086600" y="2286000"/>
            <a:ext cx="228600" cy="0"/>
          </a:xfrm>
          <a:prstGeom prst="line">
            <a:avLst/>
          </a:prstGeom>
          <a:noFill/>
          <a:ln w="22225">
            <a:solidFill>
              <a:srgbClr val="16325C"/>
            </a:solidFill>
            <a:prstDash val="solid"/>
            <a:tailEnd type="triangle"/>
          </a:ln>
        </p:spPr>
      </p:sp>
      <p:sp>
        <p:nvSpPr>
          <p:cNvPr id="20" name="Text 18"/>
          <p:cNvSpPr txBox="1"/>
          <p:nvPr/>
        </p:nvSpPr>
        <p:spPr>
          <a:xfrm>
            <a:off x="7360920" y="1508760"/>
            <a:ext cx="1143000" cy="310896"/>
          </a:xfrm>
          <a:prstGeom prst="roundRect">
            <a:avLst>
              <a:gd name="adj" fmla="val 23529"/>
            </a:avLst>
          </a:prstGeom>
          <a:solidFill>
            <a:srgbClr val="C8453B"/>
          </a:solidFill>
          <a:ln w="15875">
            <a:solidFill>
              <a:srgbClr val="C8453B"/>
            </a:solidFill>
          </a:ln>
        </p:spPr>
        <p:txBody>
          <a:bodyPr wrap="square" lIns="635" tIns="635" rIns="635" bIns="635"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W1 busy</a:t>
            </a:r>
            <a:endParaRPr lang="en-US" sz="1100" dirty="0"/>
          </a:p>
        </p:txBody>
      </p:sp>
      <p:sp>
        <p:nvSpPr>
          <p:cNvPr id="21" name="Text 19"/>
          <p:cNvSpPr txBox="1"/>
          <p:nvPr/>
        </p:nvSpPr>
        <p:spPr>
          <a:xfrm>
            <a:off x="7360920" y="1892808"/>
            <a:ext cx="1143000" cy="310896"/>
          </a:xfrm>
          <a:prstGeom prst="roundRect">
            <a:avLst>
              <a:gd name="adj" fmla="val 23529"/>
            </a:avLst>
          </a:prstGeom>
          <a:solidFill>
            <a:srgbClr val="C8453B"/>
          </a:solidFill>
          <a:ln w="15875">
            <a:solidFill>
              <a:srgbClr val="C8453B"/>
            </a:solidFill>
          </a:ln>
        </p:spPr>
        <p:txBody>
          <a:bodyPr wrap="square" lIns="635" tIns="635" rIns="635" bIns="635"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W2 busy</a:t>
            </a:r>
            <a:endParaRPr lang="en-US" sz="1100" dirty="0"/>
          </a:p>
        </p:txBody>
      </p:sp>
      <p:sp>
        <p:nvSpPr>
          <p:cNvPr id="22" name="Text 20"/>
          <p:cNvSpPr txBox="1"/>
          <p:nvPr/>
        </p:nvSpPr>
        <p:spPr>
          <a:xfrm>
            <a:off x="7360920" y="2276856"/>
            <a:ext cx="1143000" cy="310896"/>
          </a:xfrm>
          <a:prstGeom prst="roundRect">
            <a:avLst>
              <a:gd name="adj" fmla="val 23529"/>
            </a:avLst>
          </a:prstGeom>
          <a:solidFill>
            <a:srgbClr val="C8453B"/>
          </a:solidFill>
          <a:ln w="15875">
            <a:solidFill>
              <a:srgbClr val="C8453B"/>
            </a:solidFill>
          </a:ln>
        </p:spPr>
        <p:txBody>
          <a:bodyPr wrap="square" lIns="635" tIns="635" rIns="635" bIns="635"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W3 busy</a:t>
            </a:r>
            <a:endParaRPr lang="en-US" sz="1100" dirty="0"/>
          </a:p>
        </p:txBody>
      </p:sp>
      <p:sp>
        <p:nvSpPr>
          <p:cNvPr id="23" name="Text 21"/>
          <p:cNvSpPr txBox="1"/>
          <p:nvPr/>
        </p:nvSpPr>
        <p:spPr>
          <a:xfrm>
            <a:off x="7360920" y="2660904"/>
            <a:ext cx="1143000" cy="310896"/>
          </a:xfrm>
          <a:prstGeom prst="roundRect">
            <a:avLst>
              <a:gd name="adj" fmla="val 23529"/>
            </a:avLst>
          </a:prstGeom>
          <a:solidFill>
            <a:srgbClr val="C8453B"/>
          </a:solidFill>
          <a:ln w="15875">
            <a:solidFill>
              <a:srgbClr val="C8453B"/>
            </a:solidFill>
          </a:ln>
        </p:spPr>
        <p:txBody>
          <a:bodyPr wrap="square" lIns="635" tIns="635" rIns="635" bIns="635"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W4 busy</a:t>
            </a:r>
            <a:endParaRPr lang="en-US" sz="1100" dirty="0"/>
          </a:p>
        </p:txBody>
      </p:sp>
      <p:sp>
        <p:nvSpPr>
          <p:cNvPr id="24" name="Text 22"/>
          <p:cNvSpPr txBox="1"/>
          <p:nvPr/>
        </p:nvSpPr>
        <p:spPr>
          <a:xfrm>
            <a:off x="7315200" y="3063240"/>
            <a:ext cx="1280160" cy="274320"/>
          </a:xfrm>
          <a:prstGeom prst="rect">
            <a:avLst/>
          </a:prstGeom>
          <a:noFill/>
          <a:ln/>
        </p:spPr>
        <p:txBody>
          <a:bodyPr wrap="square" lIns="0" tIns="0" rIns="0" bIns="0" rtlCol="0" anchor="ctr"/>
          <a:lstStyle/>
          <a:p>
            <a:pPr algn="ctr" indent="0" marL="0">
              <a:buNone/>
            </a:pPr>
            <a:r>
              <a:rPr lang="en-US" sz="1100" b="1" dirty="0">
                <a:solidFill>
                  <a:srgbClr val="C8453B"/>
                </a:solidFill>
                <a:latin typeface="Calibri" pitchFamily="34" charset="0"/>
                <a:ea typeface="Calibri" pitchFamily="34" charset="-122"/>
                <a:cs typeface="Calibri" pitchFamily="34" charset="-120"/>
              </a:rPr>
              <a:t>all workers saturated</a:t>
            </a:r>
            <a:endParaRPr lang="en-US" sz="1100" dirty="0"/>
          </a:p>
        </p:txBody>
      </p:sp>
      <p:sp>
        <p:nvSpPr>
          <p:cNvPr id="25" name="Text 23"/>
          <p:cNvSpPr txBox="1"/>
          <p:nvPr/>
        </p:nvSpPr>
        <p:spPr>
          <a:xfrm>
            <a:off x="4617720" y="3337560"/>
            <a:ext cx="3840480" cy="274320"/>
          </a:xfrm>
          <a:prstGeom prst="rect">
            <a:avLst/>
          </a:prstGeom>
          <a:noFill/>
          <a:ln/>
        </p:spPr>
        <p:txBody>
          <a:bodyPr wrap="square" lIns="0" tIns="0" rIns="0" bIns="0" rtlCol="0" anchor="ctr"/>
          <a:lstStyle/>
          <a:p>
            <a:pPr indent="0" marL="0">
              <a:buNone/>
            </a:pPr>
            <a:r>
              <a:rPr lang="en-US" sz="1200" b="1" dirty="0">
                <a:solidFill>
                  <a:srgbClr val="5B6676"/>
                </a:solidFill>
                <a:latin typeface="Calibri" pitchFamily="34" charset="0"/>
                <a:ea typeface="Calibri" pitchFamily="34" charset="-122"/>
                <a:cs typeface="Calibri" pitchFamily="34" charset="-120"/>
              </a:rPr>
              <a:t>Waiting time grows with C</a:t>
            </a:r>
            <a:endParaRPr lang="en-US" sz="1200" dirty="0"/>
          </a:p>
        </p:txBody>
      </p:sp>
      <p:sp>
        <p:nvSpPr>
          <p:cNvPr id="26" name="Shape 24"/>
          <p:cNvSpPr/>
          <p:nvPr/>
        </p:nvSpPr>
        <p:spPr>
          <a:xfrm>
            <a:off x="4617720" y="3657600"/>
            <a:ext cx="722376" cy="237744"/>
          </a:xfrm>
          <a:prstGeom prst="rect">
            <a:avLst/>
          </a:prstGeom>
          <a:solidFill>
            <a:srgbClr val="D99A1E"/>
          </a:solidFill>
          <a:ln w="6350">
            <a:solidFill>
              <a:srgbClr val="D99A1E"/>
            </a:solidFill>
            <a:prstDash val="solid"/>
          </a:ln>
        </p:spPr>
      </p:sp>
      <p:sp>
        <p:nvSpPr>
          <p:cNvPr id="27" name="Text 25"/>
          <p:cNvSpPr txBox="1"/>
          <p:nvPr/>
        </p:nvSpPr>
        <p:spPr>
          <a:xfrm>
            <a:off x="5431536" y="3657600"/>
            <a:ext cx="1737360" cy="237744"/>
          </a:xfrm>
          <a:prstGeom prst="rect">
            <a:avLst/>
          </a:prstGeom>
          <a:noFill/>
          <a:ln/>
        </p:spPr>
        <p:txBody>
          <a:bodyPr wrap="square" lIns="0" tIns="0" rIns="0" bIns="0" rtlCol="0" anchor="ctr"/>
          <a:lstStyle/>
          <a:p>
            <a:pPr indent="0" marL="0">
              <a:buNone/>
            </a:pPr>
            <a:r>
              <a:rPr lang="en-US" sz="1100" dirty="0">
                <a:solidFill>
                  <a:srgbClr val="1F2937"/>
                </a:solidFill>
                <a:latin typeface="Calibri" pitchFamily="34" charset="0"/>
                <a:ea typeface="Calibri" pitchFamily="34" charset="-122"/>
                <a:cs typeface="Calibri" pitchFamily="34" charset="-120"/>
              </a:rPr>
              <a:t>p99 @ C=8  29 ms</a:t>
            </a:r>
            <a:endParaRPr lang="en-US" sz="1100" dirty="0"/>
          </a:p>
        </p:txBody>
      </p:sp>
      <p:sp>
        <p:nvSpPr>
          <p:cNvPr id="28" name="Shape 26"/>
          <p:cNvSpPr/>
          <p:nvPr/>
        </p:nvSpPr>
        <p:spPr>
          <a:xfrm>
            <a:off x="4617720" y="3968496"/>
            <a:ext cx="1554480" cy="237744"/>
          </a:xfrm>
          <a:prstGeom prst="rect">
            <a:avLst/>
          </a:prstGeom>
          <a:solidFill>
            <a:srgbClr val="D99A1E"/>
          </a:solidFill>
          <a:ln w="6350">
            <a:solidFill>
              <a:srgbClr val="D99A1E"/>
            </a:solidFill>
            <a:prstDash val="solid"/>
          </a:ln>
        </p:spPr>
      </p:sp>
      <p:sp>
        <p:nvSpPr>
          <p:cNvPr id="29" name="Text 27"/>
          <p:cNvSpPr txBox="1"/>
          <p:nvPr/>
        </p:nvSpPr>
        <p:spPr>
          <a:xfrm>
            <a:off x="6263640" y="3968496"/>
            <a:ext cx="1737360" cy="237744"/>
          </a:xfrm>
          <a:prstGeom prst="rect">
            <a:avLst/>
          </a:prstGeom>
          <a:noFill/>
          <a:ln/>
        </p:spPr>
        <p:txBody>
          <a:bodyPr wrap="square" lIns="0" tIns="0" rIns="0" bIns="0" rtlCol="0" anchor="ctr"/>
          <a:lstStyle/>
          <a:p>
            <a:pPr indent="0" marL="0">
              <a:buNone/>
            </a:pPr>
            <a:r>
              <a:rPr lang="en-US" sz="1100" dirty="0">
                <a:solidFill>
                  <a:srgbClr val="1F2937"/>
                </a:solidFill>
                <a:latin typeface="Calibri" pitchFamily="34" charset="0"/>
                <a:ea typeface="Calibri" pitchFamily="34" charset="-122"/>
                <a:cs typeface="Calibri" pitchFamily="34" charset="-120"/>
              </a:rPr>
              <a:t>C=32  204 ms</a:t>
            </a:r>
            <a:endParaRPr lang="en-US" sz="1100" dirty="0"/>
          </a:p>
        </p:txBody>
      </p:sp>
      <p:sp>
        <p:nvSpPr>
          <p:cNvPr id="30" name="Shape 28"/>
          <p:cNvSpPr/>
          <p:nvPr/>
        </p:nvSpPr>
        <p:spPr>
          <a:xfrm>
            <a:off x="4617720" y="4279392"/>
            <a:ext cx="2834640" cy="237744"/>
          </a:xfrm>
          <a:prstGeom prst="rect">
            <a:avLst/>
          </a:prstGeom>
          <a:solidFill>
            <a:srgbClr val="C8453B"/>
          </a:solidFill>
          <a:ln w="6350">
            <a:solidFill>
              <a:srgbClr val="C8453B"/>
            </a:solidFill>
            <a:prstDash val="solid"/>
          </a:ln>
        </p:spPr>
      </p:sp>
      <p:sp>
        <p:nvSpPr>
          <p:cNvPr id="31" name="Text 29"/>
          <p:cNvSpPr txBox="1"/>
          <p:nvPr/>
        </p:nvSpPr>
        <p:spPr>
          <a:xfrm>
            <a:off x="7543800" y="4279392"/>
            <a:ext cx="1737360" cy="237744"/>
          </a:xfrm>
          <a:prstGeom prst="rect">
            <a:avLst/>
          </a:prstGeom>
          <a:noFill/>
          <a:ln/>
        </p:spPr>
        <p:txBody>
          <a:bodyPr wrap="square" lIns="0" tIns="0" rIns="0" bIns="0" rtlCol="0" anchor="ctr"/>
          <a:lstStyle/>
          <a:p>
            <a:pPr indent="0" marL="0">
              <a:buNone/>
            </a:pPr>
            <a:r>
              <a:rPr lang="en-US" sz="1100" dirty="0">
                <a:solidFill>
                  <a:srgbClr val="1F2937"/>
                </a:solidFill>
                <a:latin typeface="Calibri" pitchFamily="34" charset="0"/>
                <a:ea typeface="Calibri" pitchFamily="34" charset="-122"/>
                <a:cs typeface="Calibri" pitchFamily="34" charset="-120"/>
              </a:rPr>
              <a:t>C=64  440 ms</a:t>
            </a:r>
            <a:endParaRPr lang="en-US" sz="1100" dirty="0"/>
          </a:p>
        </p:txBody>
      </p:sp>
      <p:sp>
        <p:nvSpPr>
          <p:cNvPr id="32" name="Text 30"/>
          <p:cNvSpPr txBox="1"/>
          <p:nvPr/>
        </p:nvSpPr>
        <p:spPr>
          <a:xfrm>
            <a:off x="457200" y="4800600"/>
            <a:ext cx="7680960" cy="228600"/>
          </a:xfrm>
          <a:prstGeom prst="rect">
            <a:avLst/>
          </a:prstGeom>
          <a:noFill/>
          <a:ln/>
        </p:spPr>
        <p:txBody>
          <a:bodyPr wrap="square" lIns="0" tIns="0" rIns="0" bIns="0" rtlCol="0" anchor="ctr"/>
          <a:lstStyle/>
          <a:p>
            <a:pPr indent="0" marL="0">
              <a:buNone/>
            </a:pPr>
            <a:r>
              <a:rPr lang="en-US" sz="1000" dirty="0">
                <a:solidFill>
                  <a:srgbClr val="5B6676"/>
                </a:solidFill>
                <a:latin typeface="Calibri" pitchFamily="34" charset="0"/>
                <a:ea typeface="Calibri" pitchFamily="34" charset="-122"/>
                <a:cs typeface="Calibri" pitchFamily="34" charset="-120"/>
              </a:rPr>
              <a:t>Source: CN_Project_Final_Report (BCSE308P), Sections 1.2, 5.3</a:t>
            </a:r>
            <a:endParaRPr lang="en-US" sz="1000" dirty="0"/>
          </a:p>
        </p:txBody>
      </p:sp>
      <p:sp>
        <p:nvSpPr>
          <p:cNvPr id="33" name="Text 31"/>
          <p:cNvSpPr txBox="1"/>
          <p:nvPr/>
        </p:nvSpPr>
        <p:spPr>
          <a:xfrm>
            <a:off x="8229600" y="4800600"/>
            <a:ext cx="457200" cy="228600"/>
          </a:xfrm>
          <a:prstGeom prst="rect">
            <a:avLst/>
          </a:prstGeom>
          <a:noFill/>
          <a:ln/>
        </p:spPr>
        <p:txBody>
          <a:bodyPr wrap="square" lIns="0" tIns="0" rIns="0" bIns="0" rtlCol="0" anchor="ctr"/>
          <a:lstStyle/>
          <a:p>
            <a:pPr algn="r" indent="0" marL="0">
              <a:buNone/>
            </a:pPr>
            <a:r>
              <a:rPr lang="en-US" sz="1000" dirty="0">
                <a:solidFill>
                  <a:srgbClr val="5B6676"/>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8229600" cy="548640"/>
          </a:xfrm>
          <a:prstGeom prst="rect">
            <a:avLst/>
          </a:prstGeom>
          <a:noFill/>
          <a:ln/>
        </p:spPr>
        <p:txBody>
          <a:bodyPr wrap="square" lIns="0" tIns="0" rIns="0" bIns="0" rtlCol="0" anchor="ctr"/>
          <a:lstStyle/>
          <a:p>
            <a:pPr indent="0" marL="0">
              <a:buNone/>
            </a:pPr>
            <a:r>
              <a:rPr lang="en-US" sz="2800" b="1" dirty="0">
                <a:solidFill>
                  <a:srgbClr val="0B1F3A"/>
                </a:solidFill>
                <a:latin typeface="Cambria" pitchFamily="34" charset="0"/>
                <a:ea typeface="Cambria" pitchFamily="34" charset="-122"/>
                <a:cs typeface="Cambria" pitchFamily="34" charset="-120"/>
              </a:rPr>
              <a:t>Baseline and its gap</a:t>
            </a:r>
            <a:endParaRPr lang="en-US" sz="2800" dirty="0"/>
          </a:p>
        </p:txBody>
      </p:sp>
      <p:sp>
        <p:nvSpPr>
          <p:cNvPr id="3" name="Text 1"/>
          <p:cNvSpPr txBox="1"/>
          <p:nvPr/>
        </p:nvSpPr>
        <p:spPr>
          <a:xfrm>
            <a:off x="457200" y="804672"/>
            <a:ext cx="8229600" cy="274320"/>
          </a:xfrm>
          <a:prstGeom prst="rect">
            <a:avLst/>
          </a:prstGeom>
          <a:noFill/>
          <a:ln/>
        </p:spPr>
        <p:txBody>
          <a:bodyPr wrap="square" lIns="0" tIns="0" rIns="0" bIns="0" rtlCol="0" anchor="ctr"/>
          <a:lstStyle/>
          <a:p>
            <a:pPr indent="0" marL="0">
              <a:buNone/>
            </a:pPr>
            <a:r>
              <a:rPr lang="en-US" sz="1400" dirty="0">
                <a:solidFill>
                  <a:srgbClr val="5B6676"/>
                </a:solidFill>
                <a:latin typeface="Calibri" pitchFamily="34" charset="0"/>
                <a:ea typeface="Calibri" pitchFamily="34" charset="-122"/>
                <a:cs typeface="Calibri" pitchFamily="34" charset="-120"/>
              </a:rPr>
              <a:t>Baseline = the same server binary with QLAAC disabled</a:t>
            </a:r>
            <a:endParaRPr lang="en-US" sz="1400" dirty="0"/>
          </a:p>
        </p:txBody>
      </p:sp>
      <p:sp>
        <p:nvSpPr>
          <p:cNvPr id="4" name="Text 2"/>
          <p:cNvSpPr txBox="1"/>
          <p:nvPr/>
        </p:nvSpPr>
        <p:spPr>
          <a:xfrm>
            <a:off x="457200" y="1280160"/>
            <a:ext cx="1188720" cy="731520"/>
          </a:xfrm>
          <a:prstGeom prst="roundRect">
            <a:avLst>
              <a:gd name="adj" fmla="val 10000"/>
            </a:avLst>
          </a:prstGeom>
          <a:solidFill>
            <a:srgbClr val="FFFFFF"/>
          </a:solidFill>
          <a:ln w="15875">
            <a:solidFill>
              <a:srgbClr val="16325C"/>
            </a:solidFill>
          </a:ln>
        </p:spPr>
        <p:txBody>
          <a:bodyPr wrap="square" lIns="635" tIns="635" rIns="635" bIns="635" rtlCol="0" anchor="ctr"/>
          <a:lstStyle/>
          <a:p>
            <a:pPr algn="ctr" indent="0" marL="0">
              <a:buNone/>
            </a:pPr>
            <a:r>
              <a:rPr lang="en-US" sz="1200" dirty="0">
                <a:solidFill>
                  <a:srgbClr val="1F2937"/>
                </a:solidFill>
                <a:latin typeface="Calibri" pitchFamily="34" charset="0"/>
                <a:ea typeface="Calibri" pitchFamily="34" charset="-122"/>
                <a:cs typeface="Calibri" pitchFamily="34" charset="-120"/>
              </a:rPr>
              <a:t>Clients</a:t>
            </a:r>
            <a:endParaRPr lang="en-US" sz="1200" dirty="0"/>
          </a:p>
          <a:p>
            <a:pPr algn="ctr" indent="0" marL="0">
              <a:buNone/>
            </a:pPr>
            <a:r>
              <a:rPr lang="en-US" sz="1200" dirty="0">
                <a:solidFill>
                  <a:srgbClr val="1F2937"/>
                </a:solidFill>
                <a:latin typeface="Calibri" pitchFamily="34" charset="0"/>
                <a:ea typeface="Calibri" pitchFamily="34" charset="-122"/>
                <a:cs typeface="Calibri" pitchFamily="34" charset="-120"/>
              </a:rPr>
              <a:t>(C = 8…64)</a:t>
            </a:r>
            <a:endParaRPr lang="en-US" sz="1200" dirty="0"/>
          </a:p>
        </p:txBody>
      </p:sp>
      <p:sp>
        <p:nvSpPr>
          <p:cNvPr id="5" name="Shape 3"/>
          <p:cNvSpPr/>
          <p:nvPr/>
        </p:nvSpPr>
        <p:spPr>
          <a:xfrm>
            <a:off x="1645920" y="1645920"/>
            <a:ext cx="365760" cy="0"/>
          </a:xfrm>
          <a:prstGeom prst="line">
            <a:avLst/>
          </a:prstGeom>
          <a:noFill/>
          <a:ln w="22225">
            <a:solidFill>
              <a:srgbClr val="16325C"/>
            </a:solidFill>
            <a:prstDash val="solid"/>
            <a:tailEnd type="triangle"/>
          </a:ln>
        </p:spPr>
      </p:sp>
      <p:sp>
        <p:nvSpPr>
          <p:cNvPr id="6" name="Text 4"/>
          <p:cNvSpPr txBox="1"/>
          <p:nvPr/>
        </p:nvSpPr>
        <p:spPr>
          <a:xfrm>
            <a:off x="2011680" y="1280160"/>
            <a:ext cx="1828800" cy="731520"/>
          </a:xfrm>
          <a:prstGeom prst="roundRect">
            <a:avLst>
              <a:gd name="adj" fmla="val 10000"/>
            </a:avLst>
          </a:prstGeom>
          <a:solidFill>
            <a:srgbClr val="FFFFFF"/>
          </a:solidFill>
          <a:ln w="15875">
            <a:solidFill>
              <a:srgbClr val="16325C"/>
            </a:solidFill>
          </a:ln>
        </p:spPr>
        <p:txBody>
          <a:bodyPr wrap="square" lIns="635" tIns="635" rIns="635" bIns="635" rtlCol="0" anchor="ctr"/>
          <a:lstStyle/>
          <a:p>
            <a:pPr algn="ctr" indent="0" marL="0">
              <a:buNone/>
            </a:pPr>
            <a:r>
              <a:rPr lang="en-US" sz="1200" dirty="0">
                <a:solidFill>
                  <a:srgbClr val="1F2937"/>
                </a:solidFill>
                <a:latin typeface="Calibri" pitchFamily="34" charset="0"/>
                <a:ea typeface="Calibri" pitchFamily="34" charset="-122"/>
                <a:cs typeface="Calibri" pitchFamily="34" charset="-120"/>
              </a:rPr>
              <a:t>Bounded FIFO queue</a:t>
            </a:r>
            <a:endParaRPr lang="en-US" sz="1200" dirty="0"/>
          </a:p>
          <a:p>
            <a:pPr algn="ctr" indent="0" marL="0">
              <a:buNone/>
            </a:pPr>
            <a:r>
              <a:rPr lang="en-US" sz="1200" dirty="0">
                <a:solidFill>
                  <a:srgbClr val="1F2937"/>
                </a:solidFill>
                <a:latin typeface="Calibri" pitchFamily="34" charset="0"/>
                <a:ea typeface="Calibri" pitchFamily="34" charset="-122"/>
                <a:cs typeface="Calibri" pitchFamily="34" charset="-120"/>
              </a:rPr>
              <a:t>capacity 64</a:t>
            </a:r>
            <a:endParaRPr lang="en-US" sz="1200" dirty="0"/>
          </a:p>
        </p:txBody>
      </p:sp>
      <p:sp>
        <p:nvSpPr>
          <p:cNvPr id="7" name="Shape 5"/>
          <p:cNvSpPr/>
          <p:nvPr/>
        </p:nvSpPr>
        <p:spPr>
          <a:xfrm>
            <a:off x="3840480" y="1645920"/>
            <a:ext cx="365760" cy="0"/>
          </a:xfrm>
          <a:prstGeom prst="line">
            <a:avLst/>
          </a:prstGeom>
          <a:noFill/>
          <a:ln w="22225">
            <a:solidFill>
              <a:srgbClr val="16325C"/>
            </a:solidFill>
            <a:prstDash val="solid"/>
            <a:tailEnd type="triangle"/>
          </a:ln>
        </p:spPr>
      </p:sp>
      <p:sp>
        <p:nvSpPr>
          <p:cNvPr id="8" name="Text 6"/>
          <p:cNvSpPr txBox="1"/>
          <p:nvPr/>
        </p:nvSpPr>
        <p:spPr>
          <a:xfrm>
            <a:off x="4206240" y="1280160"/>
            <a:ext cx="1005840" cy="731520"/>
          </a:xfrm>
          <a:prstGeom prst="roundRect">
            <a:avLst>
              <a:gd name="adj" fmla="val 10000"/>
            </a:avLst>
          </a:prstGeom>
          <a:solidFill>
            <a:srgbClr val="C8453B"/>
          </a:solidFill>
          <a:ln w="15875">
            <a:solidFill>
              <a:srgbClr val="C8453B"/>
            </a:solidFill>
          </a:ln>
        </p:spPr>
        <p:txBody>
          <a:bodyPr wrap="square" lIns="635" tIns="635" rIns="635" bIns="635"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W1</a:t>
            </a:r>
            <a:endParaRPr lang="en-US" sz="1200" dirty="0"/>
          </a:p>
        </p:txBody>
      </p:sp>
      <p:sp>
        <p:nvSpPr>
          <p:cNvPr id="9" name="Text 7"/>
          <p:cNvSpPr txBox="1"/>
          <p:nvPr/>
        </p:nvSpPr>
        <p:spPr>
          <a:xfrm>
            <a:off x="5303520" y="1280160"/>
            <a:ext cx="1005840" cy="731520"/>
          </a:xfrm>
          <a:prstGeom prst="roundRect">
            <a:avLst>
              <a:gd name="adj" fmla="val 10000"/>
            </a:avLst>
          </a:prstGeom>
          <a:solidFill>
            <a:srgbClr val="C8453B"/>
          </a:solidFill>
          <a:ln w="15875">
            <a:solidFill>
              <a:srgbClr val="C8453B"/>
            </a:solidFill>
          </a:ln>
        </p:spPr>
        <p:txBody>
          <a:bodyPr wrap="square" lIns="635" tIns="635" rIns="635" bIns="635"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W2</a:t>
            </a:r>
            <a:endParaRPr lang="en-US" sz="1200" dirty="0"/>
          </a:p>
        </p:txBody>
      </p:sp>
      <p:sp>
        <p:nvSpPr>
          <p:cNvPr id="10" name="Text 8"/>
          <p:cNvSpPr txBox="1"/>
          <p:nvPr/>
        </p:nvSpPr>
        <p:spPr>
          <a:xfrm>
            <a:off x="6400800" y="1280160"/>
            <a:ext cx="1005840" cy="731520"/>
          </a:xfrm>
          <a:prstGeom prst="roundRect">
            <a:avLst>
              <a:gd name="adj" fmla="val 10000"/>
            </a:avLst>
          </a:prstGeom>
          <a:solidFill>
            <a:srgbClr val="C8453B"/>
          </a:solidFill>
          <a:ln w="15875">
            <a:solidFill>
              <a:srgbClr val="C8453B"/>
            </a:solidFill>
          </a:ln>
        </p:spPr>
        <p:txBody>
          <a:bodyPr wrap="square" lIns="635" tIns="635" rIns="635" bIns="635"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W3</a:t>
            </a:r>
            <a:endParaRPr lang="en-US" sz="1200" dirty="0"/>
          </a:p>
        </p:txBody>
      </p:sp>
      <p:sp>
        <p:nvSpPr>
          <p:cNvPr id="11" name="Text 9"/>
          <p:cNvSpPr txBox="1"/>
          <p:nvPr/>
        </p:nvSpPr>
        <p:spPr>
          <a:xfrm>
            <a:off x="7498080" y="1280160"/>
            <a:ext cx="1005840" cy="731520"/>
          </a:xfrm>
          <a:prstGeom prst="roundRect">
            <a:avLst>
              <a:gd name="adj" fmla="val 10000"/>
            </a:avLst>
          </a:prstGeom>
          <a:solidFill>
            <a:srgbClr val="C8453B"/>
          </a:solidFill>
          <a:ln w="15875">
            <a:solidFill>
              <a:srgbClr val="C8453B"/>
            </a:solidFill>
          </a:ln>
        </p:spPr>
        <p:txBody>
          <a:bodyPr wrap="square" lIns="635" tIns="635" rIns="635" bIns="635"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W4</a:t>
            </a:r>
            <a:endParaRPr lang="en-US" sz="1200" dirty="0"/>
          </a:p>
        </p:txBody>
      </p:sp>
      <p:sp>
        <p:nvSpPr>
          <p:cNvPr id="12" name="Text 10"/>
          <p:cNvSpPr txBox="1"/>
          <p:nvPr/>
        </p:nvSpPr>
        <p:spPr>
          <a:xfrm>
            <a:off x="4206240" y="2057400"/>
            <a:ext cx="4480560" cy="274320"/>
          </a:xfrm>
          <a:prstGeom prst="rect">
            <a:avLst/>
          </a:prstGeom>
          <a:noFill/>
          <a:ln/>
        </p:spPr>
        <p:txBody>
          <a:bodyPr wrap="square" lIns="0" tIns="0" rIns="0" bIns="0" rtlCol="0" anchor="ctr"/>
          <a:lstStyle/>
          <a:p>
            <a:pPr indent="0" marL="0">
              <a:buNone/>
            </a:pPr>
            <a:r>
              <a:rPr lang="en-US" sz="1200" dirty="0">
                <a:solidFill>
                  <a:srgbClr val="1F2937"/>
                </a:solidFill>
                <a:latin typeface="Calibri" pitchFamily="34" charset="0"/>
                <a:ea typeface="Calibri" pitchFamily="34" charset="-122"/>
                <a:cs typeface="Calibri" pitchFamily="34" charset="-120"/>
              </a:rPr>
              <a:t>4 workers, each pinned to one connection (≤100 requests, 5 s idle)</a:t>
            </a:r>
            <a:endParaRPr lang="en-US" sz="1200" dirty="0"/>
          </a:p>
        </p:txBody>
      </p:sp>
      <p:sp>
        <p:nvSpPr>
          <p:cNvPr id="13" name="Text 11"/>
          <p:cNvSpPr txBox="1"/>
          <p:nvPr/>
        </p:nvSpPr>
        <p:spPr>
          <a:xfrm>
            <a:off x="457200" y="2331720"/>
            <a:ext cx="4572000" cy="274320"/>
          </a:xfrm>
          <a:prstGeom prst="rect">
            <a:avLst/>
          </a:prstGeom>
          <a:noFill/>
          <a:ln/>
        </p:spPr>
        <p:txBody>
          <a:bodyPr wrap="square" lIns="0" tIns="0" rIns="0" bIns="0" rtlCol="0" anchor="ctr"/>
          <a:lstStyle/>
          <a:p>
            <a:pPr indent="0" marL="0">
              <a:buNone/>
            </a:pPr>
            <a:r>
              <a:rPr lang="en-US" sz="1300" b="1" dirty="0">
                <a:solidFill>
                  <a:srgbClr val="C8453B"/>
                </a:solidFill>
                <a:latin typeface="Calibri" pitchFamily="34" charset="0"/>
                <a:ea typeface="Calibri" pitchFamily="34" charset="-122"/>
                <a:cs typeface="Calibri" pitchFamily="34" charset="-120"/>
              </a:rPr>
              <a:t>Bottleneck: queue wait behind pinned workers</a:t>
            </a:r>
            <a:endParaRPr lang="en-US" sz="1300" dirty="0"/>
          </a:p>
        </p:txBody>
      </p:sp>
      <p:sp>
        <p:nvSpPr>
          <p:cNvPr id="14" name="Text 12"/>
          <p:cNvSpPr txBox="1"/>
          <p:nvPr/>
        </p:nvSpPr>
        <p:spPr>
          <a:xfrm>
            <a:off x="457200" y="2743200"/>
            <a:ext cx="4206240" cy="192024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Long-lived connections keep workers occupied</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Requests wait behind busy workers as C grows</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Fixed policy: no latency feedback, no early shedding</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Queue-full 503 never triggered (0 5xx in all 20 baseline trials)</a:t>
            </a:r>
            <a:endParaRPr lang="en-US" sz="1400" dirty="0"/>
          </a:p>
        </p:txBody>
      </p:sp>
      <p:sp>
        <p:nvSpPr>
          <p:cNvPr id="15" name="Text 13"/>
          <p:cNvSpPr txBox="1"/>
          <p:nvPr/>
        </p:nvSpPr>
        <p:spPr>
          <a:xfrm>
            <a:off x="4937760" y="2606040"/>
            <a:ext cx="3749040" cy="274320"/>
          </a:xfrm>
          <a:prstGeom prst="rect">
            <a:avLst/>
          </a:prstGeom>
          <a:noFill/>
          <a:ln/>
        </p:spPr>
        <p:txBody>
          <a:bodyPr wrap="square" lIns="0" tIns="0" rIns="0" bIns="0" rtlCol="0" anchor="ctr"/>
          <a:lstStyle/>
          <a:p>
            <a:pPr indent="0" marL="0">
              <a:buNone/>
            </a:pPr>
            <a:r>
              <a:rPr lang="en-US" sz="1200" b="1" dirty="0">
                <a:solidFill>
                  <a:srgbClr val="5B6676"/>
                </a:solidFill>
                <a:latin typeface="Calibri" pitchFamily="34" charset="0"/>
                <a:ea typeface="Calibri" pitchFamily="34" charset="-122"/>
                <a:cs typeface="Calibri" pitchFamily="34" charset="-120"/>
              </a:rPr>
              <a:t>Baseline p99 latency of successful responses</a:t>
            </a:r>
            <a:endParaRPr lang="en-US" sz="1200" dirty="0"/>
          </a:p>
        </p:txBody>
      </p:sp>
      <p:sp>
        <p:nvSpPr>
          <p:cNvPr id="16" name="Shape 14"/>
          <p:cNvSpPr/>
          <p:nvPr/>
        </p:nvSpPr>
        <p:spPr>
          <a:xfrm>
            <a:off x="4937760" y="2926080"/>
            <a:ext cx="1188720" cy="1371600"/>
          </a:xfrm>
          <a:prstGeom prst="roundRect">
            <a:avLst>
              <a:gd name="adj" fmla="val 6154"/>
            </a:avLst>
          </a:prstGeom>
          <a:solidFill>
            <a:srgbClr val="F3F6F9"/>
          </a:solidFill>
          <a:ln w="6350">
            <a:solidFill>
              <a:srgbClr val="F3F6F9"/>
            </a:solidFill>
            <a:prstDash val="solid"/>
          </a:ln>
        </p:spPr>
      </p:sp>
      <p:sp>
        <p:nvSpPr>
          <p:cNvPr id="17" name="Text 15"/>
          <p:cNvSpPr txBox="1"/>
          <p:nvPr/>
        </p:nvSpPr>
        <p:spPr>
          <a:xfrm>
            <a:off x="4937760" y="2971800"/>
            <a:ext cx="1188720" cy="1280160"/>
          </a:xfrm>
          <a:prstGeom prst="rect">
            <a:avLst/>
          </a:prstGeom>
          <a:noFill/>
          <a:ln/>
        </p:spPr>
        <p:txBody>
          <a:bodyPr wrap="square" lIns="0" tIns="0" rIns="0" bIns="0" rtlCol="0" anchor="ctr"/>
          <a:lstStyle/>
          <a:p>
            <a:pPr algn="ctr" indent="0" marL="0">
              <a:buNone/>
            </a:pPr>
            <a:r>
              <a:rPr lang="en-US" sz="1200" dirty="0">
                <a:solidFill>
                  <a:srgbClr val="5B6676"/>
                </a:solidFill>
                <a:latin typeface="Calibri" pitchFamily="34" charset="0"/>
                <a:ea typeface="Calibri" pitchFamily="34" charset="-122"/>
                <a:cs typeface="Calibri" pitchFamily="34" charset="-120"/>
              </a:rPr>
              <a:t>C = 8</a:t>
            </a:r>
            <a:endParaRPr lang="en-US" sz="1200" dirty="0"/>
          </a:p>
          <a:p>
            <a:pPr algn="ctr" indent="0" marL="0">
              <a:buNone/>
            </a:pPr>
            <a:r>
              <a:rPr lang="en-US" sz="1800" b="1" dirty="0">
                <a:solidFill>
                  <a:srgbClr val="0B1F3A"/>
                </a:solidFill>
                <a:latin typeface="Cambria" pitchFamily="34" charset="0"/>
                <a:ea typeface="Cambria" pitchFamily="34" charset="-122"/>
                <a:cs typeface="Cambria" pitchFamily="34" charset="-120"/>
              </a:rPr>
              <a:t>29.09 ms</a:t>
            </a:r>
            <a:endParaRPr lang="en-US" sz="1200" dirty="0"/>
          </a:p>
          <a:p>
            <a:pPr algn="ctr" indent="0" marL="0">
              <a:buNone/>
            </a:pPr>
            <a:r>
              <a:rPr lang="en-US" sz="1200" dirty="0">
                <a:solidFill>
                  <a:srgbClr val="5B6676"/>
                </a:solidFill>
                <a:latin typeface="Calibri" pitchFamily="34" charset="0"/>
                <a:ea typeface="Calibri" pitchFamily="34" charset="-122"/>
                <a:cs typeface="Calibri" pitchFamily="34" charset="-120"/>
              </a:rPr>
              <a:t>≈ 6,629 req/s</a:t>
            </a:r>
            <a:endParaRPr lang="en-US" sz="1200" dirty="0"/>
          </a:p>
        </p:txBody>
      </p:sp>
      <p:sp>
        <p:nvSpPr>
          <p:cNvPr id="18" name="Shape 16"/>
          <p:cNvSpPr/>
          <p:nvPr/>
        </p:nvSpPr>
        <p:spPr>
          <a:xfrm>
            <a:off x="6217920" y="2926080"/>
            <a:ext cx="1188720" cy="1371600"/>
          </a:xfrm>
          <a:prstGeom prst="roundRect">
            <a:avLst>
              <a:gd name="adj" fmla="val 6154"/>
            </a:avLst>
          </a:prstGeom>
          <a:solidFill>
            <a:srgbClr val="F3F6F9"/>
          </a:solidFill>
          <a:ln w="6350">
            <a:solidFill>
              <a:srgbClr val="F3F6F9"/>
            </a:solidFill>
            <a:prstDash val="solid"/>
          </a:ln>
        </p:spPr>
      </p:sp>
      <p:sp>
        <p:nvSpPr>
          <p:cNvPr id="19" name="Text 17"/>
          <p:cNvSpPr txBox="1"/>
          <p:nvPr/>
        </p:nvSpPr>
        <p:spPr>
          <a:xfrm>
            <a:off x="6217920" y="2971800"/>
            <a:ext cx="1188720" cy="1280160"/>
          </a:xfrm>
          <a:prstGeom prst="rect">
            <a:avLst/>
          </a:prstGeom>
          <a:noFill/>
          <a:ln/>
        </p:spPr>
        <p:txBody>
          <a:bodyPr wrap="square" lIns="0" tIns="0" rIns="0" bIns="0" rtlCol="0" anchor="ctr"/>
          <a:lstStyle/>
          <a:p>
            <a:pPr algn="ctr" indent="0" marL="0">
              <a:buNone/>
            </a:pPr>
            <a:r>
              <a:rPr lang="en-US" sz="1200" dirty="0">
                <a:solidFill>
                  <a:srgbClr val="5B6676"/>
                </a:solidFill>
                <a:latin typeface="Calibri" pitchFamily="34" charset="0"/>
                <a:ea typeface="Calibri" pitchFamily="34" charset="-122"/>
                <a:cs typeface="Calibri" pitchFamily="34" charset="-120"/>
              </a:rPr>
              <a:t>C = 32</a:t>
            </a:r>
            <a:endParaRPr lang="en-US" sz="1200" dirty="0"/>
          </a:p>
          <a:p>
            <a:pPr algn="ctr" indent="0" marL="0">
              <a:buNone/>
            </a:pPr>
            <a:r>
              <a:rPr lang="en-US" sz="1800" b="1" dirty="0">
                <a:solidFill>
                  <a:srgbClr val="0B1F3A"/>
                </a:solidFill>
                <a:latin typeface="Cambria" pitchFamily="34" charset="0"/>
                <a:ea typeface="Cambria" pitchFamily="34" charset="-122"/>
                <a:cs typeface="Cambria" pitchFamily="34" charset="-120"/>
              </a:rPr>
              <a:t>204.00 ms</a:t>
            </a:r>
            <a:endParaRPr lang="en-US" sz="1200" dirty="0"/>
          </a:p>
          <a:p>
            <a:pPr algn="ctr" indent="0" marL="0">
              <a:buNone/>
            </a:pPr>
            <a:r>
              <a:rPr lang="en-US" sz="1200" dirty="0">
                <a:solidFill>
                  <a:srgbClr val="5B6676"/>
                </a:solidFill>
                <a:latin typeface="Calibri" pitchFamily="34" charset="0"/>
                <a:ea typeface="Calibri" pitchFamily="34" charset="-122"/>
                <a:cs typeface="Calibri" pitchFamily="34" charset="-120"/>
              </a:rPr>
              <a:t>≈ 6,860 req/s</a:t>
            </a:r>
            <a:endParaRPr lang="en-US" sz="1200" dirty="0"/>
          </a:p>
        </p:txBody>
      </p:sp>
      <p:sp>
        <p:nvSpPr>
          <p:cNvPr id="20" name="Shape 18"/>
          <p:cNvSpPr/>
          <p:nvPr/>
        </p:nvSpPr>
        <p:spPr>
          <a:xfrm>
            <a:off x="7498080" y="2926080"/>
            <a:ext cx="1188720" cy="1371600"/>
          </a:xfrm>
          <a:prstGeom prst="roundRect">
            <a:avLst>
              <a:gd name="adj" fmla="val 6154"/>
            </a:avLst>
          </a:prstGeom>
          <a:solidFill>
            <a:srgbClr val="FBE4E1"/>
          </a:solidFill>
          <a:ln w="6350">
            <a:solidFill>
              <a:srgbClr val="FBE4E1"/>
            </a:solidFill>
            <a:prstDash val="solid"/>
          </a:ln>
        </p:spPr>
      </p:sp>
      <p:sp>
        <p:nvSpPr>
          <p:cNvPr id="21" name="Text 19"/>
          <p:cNvSpPr txBox="1"/>
          <p:nvPr/>
        </p:nvSpPr>
        <p:spPr>
          <a:xfrm>
            <a:off x="7498080" y="2971800"/>
            <a:ext cx="1188720" cy="1280160"/>
          </a:xfrm>
          <a:prstGeom prst="rect">
            <a:avLst/>
          </a:prstGeom>
          <a:noFill/>
          <a:ln/>
        </p:spPr>
        <p:txBody>
          <a:bodyPr wrap="square" lIns="0" tIns="0" rIns="0" bIns="0" rtlCol="0" anchor="ctr"/>
          <a:lstStyle/>
          <a:p>
            <a:pPr algn="ctr" indent="0" marL="0">
              <a:buNone/>
            </a:pPr>
            <a:r>
              <a:rPr lang="en-US" sz="1200" dirty="0">
                <a:solidFill>
                  <a:srgbClr val="5B6676"/>
                </a:solidFill>
                <a:latin typeface="Calibri" pitchFamily="34" charset="0"/>
                <a:ea typeface="Calibri" pitchFamily="34" charset="-122"/>
                <a:cs typeface="Calibri" pitchFamily="34" charset="-120"/>
              </a:rPr>
              <a:t>C = 64</a:t>
            </a:r>
            <a:endParaRPr lang="en-US" sz="1200" dirty="0"/>
          </a:p>
          <a:p>
            <a:pPr algn="ctr" indent="0" marL="0">
              <a:buNone/>
            </a:pPr>
            <a:r>
              <a:rPr lang="en-US" sz="1800" b="1" dirty="0">
                <a:solidFill>
                  <a:srgbClr val="0B1F3A"/>
                </a:solidFill>
                <a:latin typeface="Cambria" pitchFamily="34" charset="0"/>
                <a:ea typeface="Cambria" pitchFamily="34" charset="-122"/>
                <a:cs typeface="Cambria" pitchFamily="34" charset="-120"/>
              </a:rPr>
              <a:t>440.33 ms</a:t>
            </a:r>
            <a:endParaRPr lang="en-US" sz="1200" dirty="0"/>
          </a:p>
          <a:p>
            <a:pPr algn="ctr" indent="0" marL="0">
              <a:buNone/>
            </a:pPr>
            <a:r>
              <a:rPr lang="en-US" sz="1200" dirty="0">
                <a:solidFill>
                  <a:srgbClr val="5B6676"/>
                </a:solidFill>
                <a:latin typeface="Calibri" pitchFamily="34" charset="0"/>
                <a:ea typeface="Calibri" pitchFamily="34" charset="-122"/>
                <a:cs typeface="Calibri" pitchFamily="34" charset="-120"/>
              </a:rPr>
              <a:t>≈ 6,829 req/s</a:t>
            </a:r>
            <a:endParaRPr lang="en-US" sz="1200" dirty="0"/>
          </a:p>
        </p:txBody>
      </p:sp>
      <p:sp>
        <p:nvSpPr>
          <p:cNvPr id="22" name="Text 20"/>
          <p:cNvSpPr txBox="1"/>
          <p:nvPr/>
        </p:nvSpPr>
        <p:spPr>
          <a:xfrm>
            <a:off x="4937760" y="4343400"/>
            <a:ext cx="3749040" cy="274320"/>
          </a:xfrm>
          <a:prstGeom prst="rect">
            <a:avLst/>
          </a:prstGeom>
          <a:noFill/>
          <a:ln/>
        </p:spPr>
        <p:txBody>
          <a:bodyPr wrap="square" lIns="0" tIns="0" rIns="0" bIns="0" rtlCol="0" anchor="ctr"/>
          <a:lstStyle/>
          <a:p>
            <a:pPr indent="0" marL="0">
              <a:buNone/>
            </a:pPr>
            <a:r>
              <a:rPr lang="en-US" sz="1200" i="1" dirty="0">
                <a:solidFill>
                  <a:srgbClr val="1F2937"/>
                </a:solidFill>
                <a:latin typeface="Calibri" pitchFamily="34" charset="0"/>
                <a:ea typeface="Calibri" pitchFamily="34" charset="-122"/>
                <a:cs typeface="Calibri" pitchFamily="34" charset="-120"/>
              </a:rPr>
              <a:t>Throughput stays flat while the tail grows.</a:t>
            </a:r>
            <a:endParaRPr lang="en-US" sz="1200" dirty="0"/>
          </a:p>
        </p:txBody>
      </p:sp>
      <p:sp>
        <p:nvSpPr>
          <p:cNvPr id="23" name="Text 21"/>
          <p:cNvSpPr txBox="1"/>
          <p:nvPr/>
        </p:nvSpPr>
        <p:spPr>
          <a:xfrm>
            <a:off x="457200" y="4800600"/>
            <a:ext cx="7680960" cy="228600"/>
          </a:xfrm>
          <a:prstGeom prst="rect">
            <a:avLst/>
          </a:prstGeom>
          <a:noFill/>
          <a:ln/>
        </p:spPr>
        <p:txBody>
          <a:bodyPr wrap="square" lIns="0" tIns="0" rIns="0" bIns="0" rtlCol="0" anchor="ctr"/>
          <a:lstStyle/>
          <a:p>
            <a:pPr indent="0" marL="0">
              <a:buNone/>
            </a:pPr>
            <a:r>
              <a:rPr lang="en-US" sz="1000" dirty="0">
                <a:solidFill>
                  <a:srgbClr val="5B6676"/>
                </a:solidFill>
                <a:latin typeface="Calibri" pitchFamily="34" charset="0"/>
                <a:ea typeface="Calibri" pitchFamily="34" charset="-122"/>
                <a:cs typeface="Calibri" pitchFamily="34" charset="-120"/>
              </a:rPr>
              <a:t>Source: Final Report §3.2, 5.3, 5.4. Baseline = our own server, QLAAC off; no other server benchmarked.</a:t>
            </a:r>
            <a:endParaRPr lang="en-US" sz="1000" dirty="0"/>
          </a:p>
        </p:txBody>
      </p:sp>
      <p:sp>
        <p:nvSpPr>
          <p:cNvPr id="24" name="Text 22"/>
          <p:cNvSpPr txBox="1"/>
          <p:nvPr/>
        </p:nvSpPr>
        <p:spPr>
          <a:xfrm>
            <a:off x="8229600" y="4800600"/>
            <a:ext cx="457200" cy="228600"/>
          </a:xfrm>
          <a:prstGeom prst="rect">
            <a:avLst/>
          </a:prstGeom>
          <a:noFill/>
          <a:ln/>
        </p:spPr>
        <p:txBody>
          <a:bodyPr wrap="square" lIns="0" tIns="0" rIns="0" bIns="0" rtlCol="0" anchor="ctr"/>
          <a:lstStyle/>
          <a:p>
            <a:pPr algn="r" indent="0" marL="0">
              <a:buNone/>
            </a:pPr>
            <a:r>
              <a:rPr lang="en-US" sz="1000" dirty="0">
                <a:solidFill>
                  <a:srgbClr val="5B6676"/>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8229600" cy="548640"/>
          </a:xfrm>
          <a:prstGeom prst="rect">
            <a:avLst/>
          </a:prstGeom>
          <a:noFill/>
          <a:ln/>
        </p:spPr>
        <p:txBody>
          <a:bodyPr wrap="square" lIns="0" tIns="0" rIns="0" bIns="0" rtlCol="0" anchor="ctr"/>
          <a:lstStyle/>
          <a:p>
            <a:pPr indent="0" marL="0">
              <a:buNone/>
            </a:pPr>
            <a:r>
              <a:rPr lang="en-US" sz="2800" b="1" dirty="0">
                <a:solidFill>
                  <a:srgbClr val="0B1F3A"/>
                </a:solidFill>
                <a:latin typeface="Cambria" pitchFamily="34" charset="0"/>
                <a:ea typeface="Cambria" pitchFamily="34" charset="-122"/>
                <a:cs typeface="Cambria" pitchFamily="34" charset="-120"/>
              </a:rPr>
              <a:t>Proposed novelty: QLAAC</a:t>
            </a:r>
            <a:endParaRPr lang="en-US" sz="2800" dirty="0"/>
          </a:p>
        </p:txBody>
      </p:sp>
      <p:sp>
        <p:nvSpPr>
          <p:cNvPr id="3" name="Text 1"/>
          <p:cNvSpPr txBox="1"/>
          <p:nvPr/>
        </p:nvSpPr>
        <p:spPr>
          <a:xfrm>
            <a:off x="457200" y="804672"/>
            <a:ext cx="8229600" cy="274320"/>
          </a:xfrm>
          <a:prstGeom prst="rect">
            <a:avLst/>
          </a:prstGeom>
          <a:noFill/>
          <a:ln/>
        </p:spPr>
        <p:txBody>
          <a:bodyPr wrap="square" lIns="0" tIns="0" rIns="0" bIns="0" rtlCol="0" anchor="ctr"/>
          <a:lstStyle/>
          <a:p>
            <a:pPr indent="0" marL="0">
              <a:buNone/>
            </a:pPr>
            <a:r>
              <a:rPr lang="en-US" sz="1400" dirty="0">
                <a:solidFill>
                  <a:srgbClr val="5B6676"/>
                </a:solidFill>
                <a:latin typeface="Calibri" pitchFamily="34" charset="0"/>
                <a:ea typeface="Calibri" pitchFamily="34" charset="-122"/>
                <a:cs typeface="Calibri" pitchFamily="34" charset="-120"/>
              </a:rPr>
              <a:t>Queue-and-Latency-Aware Admission Control, an in-server feedback controller</a:t>
            </a:r>
            <a:endParaRPr lang="en-US" sz="1400" dirty="0"/>
          </a:p>
        </p:txBody>
      </p:sp>
      <p:sp>
        <p:nvSpPr>
          <p:cNvPr id="4" name="Text 2"/>
          <p:cNvSpPr txBox="1"/>
          <p:nvPr/>
        </p:nvSpPr>
        <p:spPr>
          <a:xfrm>
            <a:off x="457200" y="1234440"/>
            <a:ext cx="1737360" cy="868680"/>
          </a:xfrm>
          <a:prstGeom prst="roundRect">
            <a:avLst>
              <a:gd name="adj" fmla="val 8421"/>
            </a:avLst>
          </a:prstGeom>
          <a:solidFill>
            <a:srgbClr val="0B1F3A"/>
          </a:solidFill>
          <a:ln w="15875">
            <a:solidFill>
              <a:srgbClr val="0B1F3A"/>
            </a:solidFill>
          </a:ln>
        </p:spPr>
        <p:txBody>
          <a:bodyPr wrap="square" lIns="635" tIns="635" rIns="635" bIns="635" rtlCol="0" anchor="ctr"/>
          <a:lstStyle/>
          <a:p>
            <a:pPr algn="ctr" indent="0" marL="0">
              <a:buNone/>
            </a:pPr>
            <a:endParaRPr lang="en-US" sz="1200" dirty="0"/>
          </a:p>
        </p:txBody>
      </p:sp>
      <p:sp>
        <p:nvSpPr>
          <p:cNvPr id="5" name="Text 3"/>
          <p:cNvSpPr txBox="1"/>
          <p:nvPr/>
        </p:nvSpPr>
        <p:spPr>
          <a:xfrm>
            <a:off x="502920" y="1252728"/>
            <a:ext cx="1645920" cy="8229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Runtime metrics</a:t>
            </a:r>
            <a:endParaRPr lang="en-US" sz="1300" dirty="0"/>
          </a:p>
          <a:p>
            <a:pPr algn="ctr" indent="0" marL="0">
              <a:buNone/>
            </a:pPr>
            <a:r>
              <a:rPr lang="en-US" sz="1100" dirty="0">
                <a:solidFill>
                  <a:srgbClr val="DCE6F2"/>
                </a:solidFill>
                <a:latin typeface="Calibri" pitchFamily="34" charset="0"/>
                <a:ea typeface="Calibri" pitchFamily="34" charset="-122"/>
                <a:cs typeface="Calibri" pitchFamily="34" charset="-120"/>
              </a:rPr>
              <a:t>worker utilisation, queue occupancy, recent p95</a:t>
            </a:r>
            <a:endParaRPr lang="en-US" sz="1300" dirty="0"/>
          </a:p>
        </p:txBody>
      </p:sp>
      <p:sp>
        <p:nvSpPr>
          <p:cNvPr id="6" name="Shape 4"/>
          <p:cNvSpPr/>
          <p:nvPr/>
        </p:nvSpPr>
        <p:spPr>
          <a:xfrm>
            <a:off x="2194560" y="1664208"/>
            <a:ext cx="365760" cy="0"/>
          </a:xfrm>
          <a:prstGeom prst="line">
            <a:avLst/>
          </a:prstGeom>
          <a:noFill/>
          <a:ln w="22225">
            <a:solidFill>
              <a:srgbClr val="16325C"/>
            </a:solidFill>
            <a:prstDash val="solid"/>
            <a:tailEnd type="triangle"/>
          </a:ln>
        </p:spPr>
      </p:sp>
      <p:sp>
        <p:nvSpPr>
          <p:cNvPr id="7" name="Text 5"/>
          <p:cNvSpPr txBox="1"/>
          <p:nvPr/>
        </p:nvSpPr>
        <p:spPr>
          <a:xfrm>
            <a:off x="2560320" y="1234440"/>
            <a:ext cx="1737360" cy="868680"/>
          </a:xfrm>
          <a:prstGeom prst="roundRect">
            <a:avLst>
              <a:gd name="adj" fmla="val 8421"/>
            </a:avLst>
          </a:prstGeom>
          <a:solidFill>
            <a:srgbClr val="0E9AA7"/>
          </a:solidFill>
          <a:ln w="15875">
            <a:solidFill>
              <a:srgbClr val="0E9AA7"/>
            </a:solidFill>
          </a:ln>
        </p:spPr>
        <p:txBody>
          <a:bodyPr wrap="square" lIns="635" tIns="635" rIns="635" bIns="635" rtlCol="0" anchor="ctr"/>
          <a:lstStyle/>
          <a:p>
            <a:pPr algn="ctr" indent="0" marL="0">
              <a:buNone/>
            </a:pPr>
            <a:endParaRPr lang="en-US" sz="1200" dirty="0"/>
          </a:p>
        </p:txBody>
      </p:sp>
      <p:sp>
        <p:nvSpPr>
          <p:cNvPr id="8" name="Text 6"/>
          <p:cNvSpPr txBox="1"/>
          <p:nvPr/>
        </p:nvSpPr>
        <p:spPr>
          <a:xfrm>
            <a:off x="2606040" y="1252728"/>
            <a:ext cx="1645920" cy="8229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QLAAC state</a:t>
            </a:r>
            <a:endParaRPr lang="en-US" sz="1300" dirty="0"/>
          </a:p>
          <a:p>
            <a:pPr algn="ctr" indent="0" marL="0">
              <a:buNone/>
            </a:pPr>
            <a:r>
              <a:rPr lang="en-US" sz="1100" dirty="0">
                <a:solidFill>
                  <a:srgbClr val="DCE6F2"/>
                </a:solidFill>
                <a:latin typeface="Calibri" pitchFamily="34" charset="0"/>
                <a:ea typeface="Calibri" pitchFamily="34" charset="-122"/>
                <a:cs typeface="Calibri" pitchFamily="34" charset="-120"/>
              </a:rPr>
              <a:t>NORMAL / CAUTION / OVERLOAD</a:t>
            </a:r>
            <a:endParaRPr lang="en-US" sz="1300" dirty="0"/>
          </a:p>
        </p:txBody>
      </p:sp>
      <p:sp>
        <p:nvSpPr>
          <p:cNvPr id="9" name="Shape 7"/>
          <p:cNvSpPr/>
          <p:nvPr/>
        </p:nvSpPr>
        <p:spPr>
          <a:xfrm>
            <a:off x="4297680" y="1664208"/>
            <a:ext cx="365760" cy="0"/>
          </a:xfrm>
          <a:prstGeom prst="line">
            <a:avLst/>
          </a:prstGeom>
          <a:noFill/>
          <a:ln w="22225">
            <a:solidFill>
              <a:srgbClr val="16325C"/>
            </a:solidFill>
            <a:prstDash val="solid"/>
            <a:tailEnd type="triangle"/>
          </a:ln>
        </p:spPr>
      </p:sp>
      <p:sp>
        <p:nvSpPr>
          <p:cNvPr id="10" name="Text 8"/>
          <p:cNvSpPr txBox="1"/>
          <p:nvPr/>
        </p:nvSpPr>
        <p:spPr>
          <a:xfrm>
            <a:off x="4663440" y="1234440"/>
            <a:ext cx="1737360" cy="868680"/>
          </a:xfrm>
          <a:prstGeom prst="roundRect">
            <a:avLst>
              <a:gd name="adj" fmla="val 8421"/>
            </a:avLst>
          </a:prstGeom>
          <a:solidFill>
            <a:srgbClr val="0B1F3A"/>
          </a:solidFill>
          <a:ln w="15875">
            <a:solidFill>
              <a:srgbClr val="0B1F3A"/>
            </a:solidFill>
          </a:ln>
        </p:spPr>
        <p:txBody>
          <a:bodyPr wrap="square" lIns="635" tIns="635" rIns="635" bIns="635" rtlCol="0" anchor="ctr"/>
          <a:lstStyle/>
          <a:p>
            <a:pPr algn="ctr" indent="0" marL="0">
              <a:buNone/>
            </a:pPr>
            <a:endParaRPr lang="en-US" sz="1200" dirty="0"/>
          </a:p>
        </p:txBody>
      </p:sp>
      <p:sp>
        <p:nvSpPr>
          <p:cNvPr id="11" name="Text 9"/>
          <p:cNvSpPr txBox="1"/>
          <p:nvPr/>
        </p:nvSpPr>
        <p:spPr>
          <a:xfrm>
            <a:off x="4709160" y="1252728"/>
            <a:ext cx="1645920" cy="8229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Connection action</a:t>
            </a:r>
            <a:endParaRPr lang="en-US" sz="1300" dirty="0"/>
          </a:p>
          <a:p>
            <a:pPr algn="ctr" indent="0" marL="0">
              <a:buNone/>
            </a:pPr>
            <a:r>
              <a:rPr lang="en-US" sz="1100" dirty="0">
                <a:solidFill>
                  <a:srgbClr val="DCE6F2"/>
                </a:solidFill>
                <a:latin typeface="Calibri" pitchFamily="34" charset="0"/>
                <a:ea typeface="Calibri" pitchFamily="34" charset="-122"/>
                <a:cs typeface="Calibri" pitchFamily="34" charset="-120"/>
              </a:rPr>
              <a:t>keep-alive shortening or 503 at accept</a:t>
            </a:r>
            <a:endParaRPr lang="en-US" sz="1300" dirty="0"/>
          </a:p>
        </p:txBody>
      </p:sp>
      <p:sp>
        <p:nvSpPr>
          <p:cNvPr id="12" name="Shape 10"/>
          <p:cNvSpPr/>
          <p:nvPr/>
        </p:nvSpPr>
        <p:spPr>
          <a:xfrm>
            <a:off x="6400800" y="1664208"/>
            <a:ext cx="365760" cy="0"/>
          </a:xfrm>
          <a:prstGeom prst="line">
            <a:avLst/>
          </a:prstGeom>
          <a:noFill/>
          <a:ln w="22225">
            <a:solidFill>
              <a:srgbClr val="16325C"/>
            </a:solidFill>
            <a:prstDash val="solid"/>
            <a:tailEnd type="triangle"/>
          </a:ln>
        </p:spPr>
      </p:sp>
      <p:sp>
        <p:nvSpPr>
          <p:cNvPr id="13" name="Text 11"/>
          <p:cNvSpPr txBox="1"/>
          <p:nvPr/>
        </p:nvSpPr>
        <p:spPr>
          <a:xfrm>
            <a:off x="6766560" y="1234440"/>
            <a:ext cx="1737360" cy="868680"/>
          </a:xfrm>
          <a:prstGeom prst="roundRect">
            <a:avLst>
              <a:gd name="adj" fmla="val 8421"/>
            </a:avLst>
          </a:prstGeom>
          <a:solidFill>
            <a:srgbClr val="0B1F3A"/>
          </a:solidFill>
          <a:ln w="15875">
            <a:solidFill>
              <a:srgbClr val="0B1F3A"/>
            </a:solidFill>
          </a:ln>
        </p:spPr>
        <p:txBody>
          <a:bodyPr wrap="square" lIns="635" tIns="635" rIns="635" bIns="635" rtlCol="0" anchor="ctr"/>
          <a:lstStyle/>
          <a:p>
            <a:pPr algn="ctr" indent="0" marL="0">
              <a:buNone/>
            </a:pPr>
            <a:endParaRPr lang="en-US" sz="1200" dirty="0"/>
          </a:p>
        </p:txBody>
      </p:sp>
      <p:sp>
        <p:nvSpPr>
          <p:cNvPr id="14" name="Text 12"/>
          <p:cNvSpPr txBox="1"/>
          <p:nvPr/>
        </p:nvSpPr>
        <p:spPr>
          <a:xfrm>
            <a:off x="6812280" y="1252728"/>
            <a:ext cx="1645920" cy="8229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Measured performance</a:t>
            </a:r>
            <a:endParaRPr lang="en-US" sz="1300" dirty="0"/>
          </a:p>
          <a:p>
            <a:pPr algn="ctr" indent="0" marL="0">
              <a:buNone/>
            </a:pPr>
            <a:r>
              <a:rPr lang="en-US" sz="1100" dirty="0">
                <a:solidFill>
                  <a:srgbClr val="DCE6F2"/>
                </a:solidFill>
                <a:latin typeface="Calibri" pitchFamily="34" charset="0"/>
                <a:ea typeface="Calibri" pitchFamily="34" charset="-122"/>
                <a:cs typeface="Calibri" pitchFamily="34" charset="-120"/>
              </a:rPr>
              <a:t>throughput, p99, 503 rate</a:t>
            </a:r>
            <a:endParaRPr lang="en-US" sz="1300" dirty="0"/>
          </a:p>
        </p:txBody>
      </p:sp>
      <p:sp>
        <p:nvSpPr>
          <p:cNvPr id="15" name="Shape 13"/>
          <p:cNvSpPr/>
          <p:nvPr/>
        </p:nvSpPr>
        <p:spPr>
          <a:xfrm>
            <a:off x="457200" y="2377440"/>
            <a:ext cx="2468880" cy="1508760"/>
          </a:xfrm>
          <a:prstGeom prst="roundRect">
            <a:avLst>
              <a:gd name="adj" fmla="val 4848"/>
            </a:avLst>
          </a:prstGeom>
          <a:solidFill>
            <a:srgbClr val="E3F3EA"/>
          </a:solidFill>
          <a:ln w="6350">
            <a:solidFill>
              <a:srgbClr val="E3F3EA"/>
            </a:solidFill>
            <a:prstDash val="solid"/>
          </a:ln>
        </p:spPr>
      </p:sp>
      <p:sp>
        <p:nvSpPr>
          <p:cNvPr id="16" name="Text 14"/>
          <p:cNvSpPr txBox="1"/>
          <p:nvPr/>
        </p:nvSpPr>
        <p:spPr>
          <a:xfrm>
            <a:off x="594360" y="2423160"/>
            <a:ext cx="2194560" cy="365760"/>
          </a:xfrm>
          <a:prstGeom prst="rect">
            <a:avLst/>
          </a:prstGeom>
          <a:noFill/>
          <a:ln/>
        </p:spPr>
        <p:txBody>
          <a:bodyPr wrap="square" lIns="0" tIns="0" rIns="0" bIns="0" rtlCol="0" anchor="ctr"/>
          <a:lstStyle/>
          <a:p>
            <a:pPr indent="0" marL="0">
              <a:buNone/>
            </a:pPr>
            <a:r>
              <a:rPr lang="en-US" sz="1800" b="1" dirty="0">
                <a:solidFill>
                  <a:srgbClr val="2E8B57"/>
                </a:solidFill>
                <a:latin typeface="Cambria" pitchFamily="34" charset="0"/>
                <a:ea typeface="Cambria" pitchFamily="34" charset="-122"/>
                <a:cs typeface="Cambria" pitchFamily="34" charset="-120"/>
              </a:rPr>
              <a:t>NORMAL</a:t>
            </a:r>
            <a:endParaRPr lang="en-US" sz="1800" dirty="0"/>
          </a:p>
        </p:txBody>
      </p:sp>
      <p:sp>
        <p:nvSpPr>
          <p:cNvPr id="17" name="Text 15"/>
          <p:cNvSpPr txBox="1"/>
          <p:nvPr/>
        </p:nvSpPr>
        <p:spPr>
          <a:xfrm>
            <a:off x="594360" y="2788920"/>
            <a:ext cx="2240280" cy="1051560"/>
          </a:xfrm>
          <a:prstGeom prst="rect">
            <a:avLst/>
          </a:prstGeom>
          <a:noFill/>
          <a:ln/>
        </p:spPr>
        <p:txBody>
          <a:bodyPr wrap="square" lIns="0" tIns="0" rIns="0" bIns="0" rtlCol="0" anchor="t"/>
          <a:lstStyle/>
          <a:p>
            <a:pPr indent="0" marL="0">
              <a:buNone/>
            </a:pPr>
            <a:r>
              <a:rPr lang="en-US" sz="1200" dirty="0">
                <a:solidFill>
                  <a:srgbClr val="1F2937"/>
                </a:solidFill>
                <a:latin typeface="Calibri" pitchFamily="34" charset="0"/>
                <a:ea typeface="Calibri" pitchFamily="34" charset="-122"/>
                <a:cs typeface="Calibri" pitchFamily="34" charset="-120"/>
              </a:rPr>
              <a:t>Ordinary processing.</a:t>
            </a:r>
            <a:endParaRPr lang="en-US" sz="1200" dirty="0"/>
          </a:p>
          <a:p>
            <a:pPr indent="0" marL="0">
              <a:buNone/>
            </a:pPr>
            <a:r>
              <a:rPr lang="en-US" sz="1200" dirty="0">
                <a:solidFill>
                  <a:srgbClr val="1F2937"/>
                </a:solidFill>
                <a:latin typeface="Calibri" pitchFamily="34" charset="0"/>
                <a:ea typeface="Calibri" pitchFamily="34" charset="-122"/>
                <a:cs typeface="Calibri" pitchFamily="34" charset="-120"/>
              </a:rPr>
              <a:t>Keep-alive 5 s / 100 requests</a:t>
            </a:r>
            <a:endParaRPr lang="en-US" sz="1200" dirty="0"/>
          </a:p>
        </p:txBody>
      </p:sp>
      <p:sp>
        <p:nvSpPr>
          <p:cNvPr id="18" name="Shape 16"/>
          <p:cNvSpPr/>
          <p:nvPr/>
        </p:nvSpPr>
        <p:spPr>
          <a:xfrm>
            <a:off x="2926080" y="2834640"/>
            <a:ext cx="365760" cy="0"/>
          </a:xfrm>
          <a:prstGeom prst="line">
            <a:avLst/>
          </a:prstGeom>
          <a:noFill/>
          <a:ln w="22225">
            <a:solidFill>
              <a:srgbClr val="1F2937"/>
            </a:solidFill>
            <a:prstDash val="solid"/>
            <a:tailEnd type="triangle"/>
          </a:ln>
        </p:spPr>
      </p:sp>
      <p:sp>
        <p:nvSpPr>
          <p:cNvPr id="19" name="Shape 17"/>
          <p:cNvSpPr/>
          <p:nvPr/>
        </p:nvSpPr>
        <p:spPr>
          <a:xfrm flipH="1">
            <a:off x="2926080" y="3383280"/>
            <a:ext cx="365760" cy="0"/>
          </a:xfrm>
          <a:prstGeom prst="line">
            <a:avLst/>
          </a:prstGeom>
          <a:noFill/>
          <a:ln w="22225">
            <a:solidFill>
              <a:srgbClr val="5B6676"/>
            </a:solidFill>
            <a:prstDash val="dash"/>
            <a:tailEnd type="triangle"/>
          </a:ln>
        </p:spPr>
      </p:sp>
      <p:sp>
        <p:nvSpPr>
          <p:cNvPr id="20" name="Shape 18"/>
          <p:cNvSpPr/>
          <p:nvPr/>
        </p:nvSpPr>
        <p:spPr>
          <a:xfrm>
            <a:off x="3291840" y="2377440"/>
            <a:ext cx="2468880" cy="1508760"/>
          </a:xfrm>
          <a:prstGeom prst="roundRect">
            <a:avLst>
              <a:gd name="adj" fmla="val 4848"/>
            </a:avLst>
          </a:prstGeom>
          <a:solidFill>
            <a:srgbClr val="FCF1D9"/>
          </a:solidFill>
          <a:ln w="6350">
            <a:solidFill>
              <a:srgbClr val="FCF1D9"/>
            </a:solidFill>
            <a:prstDash val="solid"/>
          </a:ln>
        </p:spPr>
      </p:sp>
      <p:sp>
        <p:nvSpPr>
          <p:cNvPr id="21" name="Text 19"/>
          <p:cNvSpPr txBox="1"/>
          <p:nvPr/>
        </p:nvSpPr>
        <p:spPr>
          <a:xfrm>
            <a:off x="3429000" y="2423160"/>
            <a:ext cx="2194560" cy="365760"/>
          </a:xfrm>
          <a:prstGeom prst="rect">
            <a:avLst/>
          </a:prstGeom>
          <a:noFill/>
          <a:ln/>
        </p:spPr>
        <p:txBody>
          <a:bodyPr wrap="square" lIns="0" tIns="0" rIns="0" bIns="0" rtlCol="0" anchor="ctr"/>
          <a:lstStyle/>
          <a:p>
            <a:pPr indent="0" marL="0">
              <a:buNone/>
            </a:pPr>
            <a:r>
              <a:rPr lang="en-US" sz="1800" b="1" dirty="0">
                <a:solidFill>
                  <a:srgbClr val="D99A1E"/>
                </a:solidFill>
                <a:latin typeface="Cambria" pitchFamily="34" charset="0"/>
                <a:ea typeface="Cambria" pitchFamily="34" charset="-122"/>
                <a:cs typeface="Cambria" pitchFamily="34" charset="-120"/>
              </a:rPr>
              <a:t>CAUTION</a:t>
            </a:r>
            <a:endParaRPr lang="en-US" sz="1800" dirty="0"/>
          </a:p>
        </p:txBody>
      </p:sp>
      <p:sp>
        <p:nvSpPr>
          <p:cNvPr id="22" name="Text 20"/>
          <p:cNvSpPr txBox="1"/>
          <p:nvPr/>
        </p:nvSpPr>
        <p:spPr>
          <a:xfrm>
            <a:off x="3429000" y="2788920"/>
            <a:ext cx="2240280" cy="1051560"/>
          </a:xfrm>
          <a:prstGeom prst="rect">
            <a:avLst/>
          </a:prstGeom>
          <a:noFill/>
          <a:ln/>
        </p:spPr>
        <p:txBody>
          <a:bodyPr wrap="square" lIns="0" tIns="0" rIns="0" bIns="0" rtlCol="0" anchor="t"/>
          <a:lstStyle/>
          <a:p>
            <a:pPr indent="0" marL="0">
              <a:buNone/>
            </a:pPr>
            <a:r>
              <a:rPr lang="en-US" sz="1200" dirty="0">
                <a:solidFill>
                  <a:srgbClr val="1F2937"/>
                </a:solidFill>
                <a:latin typeface="Calibri" pitchFamily="34" charset="0"/>
                <a:ea typeface="Calibri" pitchFamily="34" charset="-122"/>
                <a:cs typeface="Calibri" pitchFamily="34" charset="-120"/>
              </a:rPr>
              <a:t>Restrict persistent reuse:</a:t>
            </a:r>
            <a:endParaRPr lang="en-US" sz="1200" dirty="0"/>
          </a:p>
          <a:p>
            <a:pPr indent="0" marL="0">
              <a:buNone/>
            </a:pPr>
            <a:r>
              <a:rPr lang="en-US" sz="1200" dirty="0">
                <a:solidFill>
                  <a:srgbClr val="1F2937"/>
                </a:solidFill>
                <a:latin typeface="Calibri" pitchFamily="34" charset="0"/>
                <a:ea typeface="Calibri" pitchFamily="34" charset="-122"/>
                <a:cs typeface="Calibri" pitchFamily="34" charset="-120"/>
              </a:rPr>
              <a:t>keep-alive 1 s / 1 request,</a:t>
            </a:r>
            <a:endParaRPr lang="en-US" sz="1200" dirty="0"/>
          </a:p>
          <a:p>
            <a:pPr indent="0" marL="0">
              <a:buNone/>
            </a:pPr>
            <a:r>
              <a:rPr lang="en-US" sz="1200" dirty="0">
                <a:solidFill>
                  <a:srgbClr val="1F2937"/>
                </a:solidFill>
                <a:latin typeface="Calibri" pitchFamily="34" charset="0"/>
                <a:ea typeface="Calibri" pitchFamily="34" charset="-122"/>
                <a:cs typeface="Calibri" pitchFamily="34" charset="-120"/>
              </a:rPr>
              <a:t>so connections rotate through workers</a:t>
            </a:r>
            <a:endParaRPr lang="en-US" sz="1200" dirty="0"/>
          </a:p>
        </p:txBody>
      </p:sp>
      <p:sp>
        <p:nvSpPr>
          <p:cNvPr id="23" name="Shape 21"/>
          <p:cNvSpPr/>
          <p:nvPr/>
        </p:nvSpPr>
        <p:spPr>
          <a:xfrm>
            <a:off x="5760720" y="2834640"/>
            <a:ext cx="365760" cy="0"/>
          </a:xfrm>
          <a:prstGeom prst="line">
            <a:avLst/>
          </a:prstGeom>
          <a:noFill/>
          <a:ln w="22225">
            <a:solidFill>
              <a:srgbClr val="1F2937"/>
            </a:solidFill>
            <a:prstDash val="solid"/>
            <a:tailEnd type="triangle"/>
          </a:ln>
        </p:spPr>
      </p:sp>
      <p:sp>
        <p:nvSpPr>
          <p:cNvPr id="24" name="Shape 22"/>
          <p:cNvSpPr/>
          <p:nvPr/>
        </p:nvSpPr>
        <p:spPr>
          <a:xfrm flipH="1">
            <a:off x="5760720" y="3383280"/>
            <a:ext cx="365760" cy="0"/>
          </a:xfrm>
          <a:prstGeom prst="line">
            <a:avLst/>
          </a:prstGeom>
          <a:noFill/>
          <a:ln w="22225">
            <a:solidFill>
              <a:srgbClr val="5B6676"/>
            </a:solidFill>
            <a:prstDash val="dash"/>
            <a:tailEnd type="triangle"/>
          </a:ln>
        </p:spPr>
      </p:sp>
      <p:sp>
        <p:nvSpPr>
          <p:cNvPr id="25" name="Shape 23"/>
          <p:cNvSpPr/>
          <p:nvPr/>
        </p:nvSpPr>
        <p:spPr>
          <a:xfrm>
            <a:off x="6126480" y="2377440"/>
            <a:ext cx="2468880" cy="1508760"/>
          </a:xfrm>
          <a:prstGeom prst="roundRect">
            <a:avLst>
              <a:gd name="adj" fmla="val 4848"/>
            </a:avLst>
          </a:prstGeom>
          <a:solidFill>
            <a:srgbClr val="FBE4E1"/>
          </a:solidFill>
          <a:ln w="6350">
            <a:solidFill>
              <a:srgbClr val="FBE4E1"/>
            </a:solidFill>
            <a:prstDash val="solid"/>
          </a:ln>
        </p:spPr>
      </p:sp>
      <p:sp>
        <p:nvSpPr>
          <p:cNvPr id="26" name="Text 24"/>
          <p:cNvSpPr txBox="1"/>
          <p:nvPr/>
        </p:nvSpPr>
        <p:spPr>
          <a:xfrm>
            <a:off x="6263640" y="2423160"/>
            <a:ext cx="2194560" cy="365760"/>
          </a:xfrm>
          <a:prstGeom prst="rect">
            <a:avLst/>
          </a:prstGeom>
          <a:noFill/>
          <a:ln/>
        </p:spPr>
        <p:txBody>
          <a:bodyPr wrap="square" lIns="0" tIns="0" rIns="0" bIns="0" rtlCol="0" anchor="ctr"/>
          <a:lstStyle/>
          <a:p>
            <a:pPr indent="0" marL="0">
              <a:buNone/>
            </a:pPr>
            <a:r>
              <a:rPr lang="en-US" sz="1800" b="1" dirty="0">
                <a:solidFill>
                  <a:srgbClr val="C8453B"/>
                </a:solidFill>
                <a:latin typeface="Cambria" pitchFamily="34" charset="0"/>
                <a:ea typeface="Cambria" pitchFamily="34" charset="-122"/>
                <a:cs typeface="Cambria" pitchFamily="34" charset="-120"/>
              </a:rPr>
              <a:t>OVERLOAD</a:t>
            </a:r>
            <a:endParaRPr lang="en-US" sz="1800" dirty="0"/>
          </a:p>
        </p:txBody>
      </p:sp>
      <p:sp>
        <p:nvSpPr>
          <p:cNvPr id="27" name="Text 25"/>
          <p:cNvSpPr txBox="1"/>
          <p:nvPr/>
        </p:nvSpPr>
        <p:spPr>
          <a:xfrm>
            <a:off x="6263640" y="2788920"/>
            <a:ext cx="2240280" cy="1051560"/>
          </a:xfrm>
          <a:prstGeom prst="rect">
            <a:avLst/>
          </a:prstGeom>
          <a:noFill/>
          <a:ln/>
        </p:spPr>
        <p:txBody>
          <a:bodyPr wrap="square" lIns="0" tIns="0" rIns="0" bIns="0" rtlCol="0" anchor="t"/>
          <a:lstStyle/>
          <a:p>
            <a:pPr indent="0" marL="0">
              <a:buNone/>
            </a:pPr>
            <a:r>
              <a:rPr lang="en-US" sz="1200" dirty="0">
                <a:solidFill>
                  <a:srgbClr val="1F2937"/>
                </a:solidFill>
                <a:latin typeface="Calibri" pitchFamily="34" charset="0"/>
                <a:ea typeface="Calibri" pitchFamily="34" charset="-122"/>
                <a:cs typeface="Calibri" pitchFamily="34" charset="-120"/>
              </a:rPr>
              <a:t>Reject new connections with</a:t>
            </a:r>
            <a:endParaRPr lang="en-US" sz="1200" dirty="0"/>
          </a:p>
          <a:p>
            <a:pPr indent="0" marL="0">
              <a:buNone/>
            </a:pPr>
            <a:r>
              <a:rPr lang="en-US" sz="1200" dirty="0">
                <a:solidFill>
                  <a:srgbClr val="1F2937"/>
                </a:solidFill>
                <a:latin typeface="Calibri" pitchFamily="34" charset="0"/>
                <a:ea typeface="Calibri" pitchFamily="34" charset="-122"/>
                <a:cs typeface="Calibri" pitchFamily="34" charset="-120"/>
              </a:rPr>
              <a:t>503 + Retry-After: 5</a:t>
            </a:r>
            <a:endParaRPr lang="en-US" sz="1200" dirty="0"/>
          </a:p>
          <a:p>
            <a:pPr indent="0" marL="0">
              <a:buNone/>
            </a:pPr>
            <a:r>
              <a:rPr lang="en-US" sz="1200" dirty="0">
                <a:solidFill>
                  <a:srgbClr val="1F2937"/>
                </a:solidFill>
                <a:latin typeface="Calibri" pitchFamily="34" charset="0"/>
                <a:ea typeface="Calibri" pitchFamily="34" charset="-122"/>
                <a:cs typeface="Calibri" pitchFamily="34" charset="-120"/>
              </a:rPr>
              <a:t>(accept-time admission control)</a:t>
            </a:r>
            <a:endParaRPr lang="en-US" sz="1200" dirty="0"/>
          </a:p>
        </p:txBody>
      </p:sp>
      <p:sp>
        <p:nvSpPr>
          <p:cNvPr id="28" name="Text 26"/>
          <p:cNvSpPr txBox="1"/>
          <p:nvPr/>
        </p:nvSpPr>
        <p:spPr>
          <a:xfrm>
            <a:off x="457200" y="3977640"/>
            <a:ext cx="8229600" cy="274320"/>
          </a:xfrm>
          <a:prstGeom prst="rect">
            <a:avLst/>
          </a:prstGeom>
          <a:noFill/>
          <a:ln/>
        </p:spPr>
        <p:txBody>
          <a:bodyPr wrap="square" lIns="0" tIns="0" rIns="0" bIns="0" rtlCol="0" anchor="ctr"/>
          <a:lstStyle/>
          <a:p>
            <a:pPr algn="ctr" indent="0" marL="0">
              <a:buNone/>
            </a:pPr>
            <a:r>
              <a:rPr lang="en-US" sz="1200" dirty="0">
                <a:solidFill>
                  <a:srgbClr val="1F2937"/>
                </a:solidFill>
                <a:latin typeface="Calibri" pitchFamily="34" charset="0"/>
                <a:ea typeface="Calibri" pitchFamily="34" charset="-122"/>
                <a:cs typeface="Calibri" pitchFamily="34" charset="-120"/>
              </a:rPr>
              <a:t>Escalate immediately in one 1-second window  ·  Recover one step after 5 consecutive healthy windows (hysteresis)</a:t>
            </a:r>
            <a:endParaRPr lang="en-US" sz="1200" dirty="0"/>
          </a:p>
        </p:txBody>
      </p:sp>
      <p:sp>
        <p:nvSpPr>
          <p:cNvPr id="29" name="Text 27"/>
          <p:cNvSpPr txBox="1"/>
          <p:nvPr/>
        </p:nvSpPr>
        <p:spPr>
          <a:xfrm>
            <a:off x="457200" y="4297680"/>
            <a:ext cx="8229600" cy="457200"/>
          </a:xfrm>
          <a:prstGeom prst="rect">
            <a:avLst/>
          </a:prstGeom>
          <a:noFill/>
          <a:ln/>
        </p:spPr>
        <p:txBody>
          <a:bodyPr wrap="square" lIns="0" tIns="0" rIns="0" bIns="0" rtlCol="0" anchor="ctr"/>
          <a:lstStyle/>
          <a:p>
            <a:pPr algn="ctr" indent="0" marL="0">
              <a:buNone/>
            </a:pPr>
            <a:r>
              <a:rPr lang="en-US" sz="1200" i="1" dirty="0">
                <a:solidFill>
                  <a:srgbClr val="5B6676"/>
                </a:solidFill>
                <a:latin typeface="Calibri" pitchFamily="34" charset="0"/>
                <a:ea typeface="Calibri" pitchFamily="34" charset="-122"/>
                <a:cs typeface="Calibri" pitchFamily="34" charset="-120"/>
              </a:rPr>
              <a:t>Novelty: an in-server controller composing known ideas (feedback admission control, delay-based signals). Not a new standard or algorithm class; the trade-off is what we evaluate.</a:t>
            </a:r>
            <a:endParaRPr lang="en-US" sz="1200" dirty="0"/>
          </a:p>
        </p:txBody>
      </p:sp>
      <p:sp>
        <p:nvSpPr>
          <p:cNvPr id="30" name="Text 28"/>
          <p:cNvSpPr txBox="1"/>
          <p:nvPr/>
        </p:nvSpPr>
        <p:spPr>
          <a:xfrm>
            <a:off x="457200" y="4800600"/>
            <a:ext cx="7680960" cy="228600"/>
          </a:xfrm>
          <a:prstGeom prst="rect">
            <a:avLst/>
          </a:prstGeom>
          <a:noFill/>
          <a:ln/>
        </p:spPr>
        <p:txBody>
          <a:bodyPr wrap="square" lIns="0" tIns="0" rIns="0" bIns="0" rtlCol="0" anchor="ctr"/>
          <a:lstStyle/>
          <a:p>
            <a:pPr indent="0" marL="0">
              <a:buNone/>
            </a:pPr>
            <a:r>
              <a:rPr lang="en-US" sz="1000" dirty="0">
                <a:solidFill>
                  <a:srgbClr val="5B6676"/>
                </a:solidFill>
                <a:latin typeface="Calibri" pitchFamily="34" charset="0"/>
                <a:ea typeface="Calibri" pitchFamily="34" charset="-122"/>
                <a:cs typeface="Calibri" pitchFamily="34" charset="-120"/>
              </a:rPr>
              <a:t>Source: CN_Project_Final_Report (BCSE308P), Sections 3.3, 3.4 (Fig. 3.2, Table 3.1)</a:t>
            </a:r>
            <a:endParaRPr lang="en-US" sz="1000" dirty="0"/>
          </a:p>
        </p:txBody>
      </p:sp>
      <p:sp>
        <p:nvSpPr>
          <p:cNvPr id="31" name="Text 29"/>
          <p:cNvSpPr txBox="1"/>
          <p:nvPr/>
        </p:nvSpPr>
        <p:spPr>
          <a:xfrm>
            <a:off x="8229600" y="4800600"/>
            <a:ext cx="457200" cy="228600"/>
          </a:xfrm>
          <a:prstGeom prst="rect">
            <a:avLst/>
          </a:prstGeom>
          <a:noFill/>
          <a:ln/>
        </p:spPr>
        <p:txBody>
          <a:bodyPr wrap="square" lIns="0" tIns="0" rIns="0" bIns="0" rtlCol="0" anchor="ctr"/>
          <a:lstStyle/>
          <a:p>
            <a:pPr algn="r" indent="0" marL="0">
              <a:buNone/>
            </a:pPr>
            <a:r>
              <a:rPr lang="en-US" sz="1000" dirty="0">
                <a:solidFill>
                  <a:srgbClr val="5B6676"/>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8229600" cy="548640"/>
          </a:xfrm>
          <a:prstGeom prst="rect">
            <a:avLst/>
          </a:prstGeom>
          <a:noFill/>
          <a:ln/>
        </p:spPr>
        <p:txBody>
          <a:bodyPr wrap="square" lIns="0" tIns="0" rIns="0" bIns="0" rtlCol="0" anchor="ctr"/>
          <a:lstStyle/>
          <a:p>
            <a:pPr indent="0" marL="0">
              <a:buNone/>
            </a:pPr>
            <a:r>
              <a:rPr lang="en-US" sz="2800" b="1" dirty="0">
                <a:solidFill>
                  <a:srgbClr val="0B1F3A"/>
                </a:solidFill>
                <a:latin typeface="Cambria" pitchFamily="34" charset="0"/>
                <a:ea typeface="Cambria" pitchFamily="34" charset="-122"/>
                <a:cs typeface="Cambria" pitchFamily="34" charset="-120"/>
              </a:rPr>
              <a:t>Architecture</a:t>
            </a:r>
            <a:endParaRPr lang="en-US" sz="2800" dirty="0"/>
          </a:p>
        </p:txBody>
      </p:sp>
      <p:sp>
        <p:nvSpPr>
          <p:cNvPr id="3" name="Text 1"/>
          <p:cNvSpPr txBox="1"/>
          <p:nvPr/>
        </p:nvSpPr>
        <p:spPr>
          <a:xfrm>
            <a:off x="457200" y="1097280"/>
            <a:ext cx="1737360" cy="822960"/>
          </a:xfrm>
          <a:prstGeom prst="roundRect">
            <a:avLst>
              <a:gd name="adj" fmla="val 8889"/>
            </a:avLst>
          </a:prstGeom>
          <a:solidFill>
            <a:srgbClr val="FFFFFF"/>
          </a:solidFill>
          <a:ln w="15875">
            <a:solidFill>
              <a:srgbClr val="16325C"/>
            </a:solidFill>
          </a:ln>
        </p:spPr>
        <p:txBody>
          <a:bodyPr wrap="square" lIns="635" tIns="635" rIns="635" bIns="635" rtlCol="0" anchor="ctr"/>
          <a:lstStyle/>
          <a:p>
            <a:pPr algn="ctr" indent="0" marL="0">
              <a:buNone/>
            </a:pPr>
            <a:r>
              <a:rPr lang="en-US" sz="1200" dirty="0">
                <a:solidFill>
                  <a:srgbClr val="1F2937"/>
                </a:solidFill>
                <a:latin typeface="Calibri" pitchFamily="34" charset="0"/>
                <a:ea typeface="Calibri" pitchFamily="34" charset="-122"/>
                <a:cs typeface="Calibri" pitchFamily="34" charset="-120"/>
              </a:rPr>
              <a:t>TCP clients</a:t>
            </a:r>
            <a:endParaRPr lang="en-US" sz="1200" dirty="0"/>
          </a:p>
          <a:p>
            <a:pPr algn="ctr" indent="0" marL="0">
              <a:buNone/>
            </a:pPr>
            <a:r>
              <a:rPr lang="en-US" sz="1200" dirty="0">
                <a:solidFill>
                  <a:srgbClr val="1F2937"/>
                </a:solidFill>
                <a:latin typeface="Calibri" pitchFamily="34" charset="0"/>
                <a:ea typeface="Calibri" pitchFamily="34" charset="-122"/>
                <a:cs typeface="Calibri" pitchFamily="34" charset="-120"/>
              </a:rPr>
              <a:t>(C concurrent)</a:t>
            </a:r>
            <a:endParaRPr lang="en-US" sz="1200" dirty="0"/>
          </a:p>
        </p:txBody>
      </p:sp>
      <p:sp>
        <p:nvSpPr>
          <p:cNvPr id="4" name="Text 2"/>
          <p:cNvSpPr txBox="1"/>
          <p:nvPr/>
        </p:nvSpPr>
        <p:spPr>
          <a:xfrm>
            <a:off x="2560320" y="1097280"/>
            <a:ext cx="1737360" cy="822960"/>
          </a:xfrm>
          <a:prstGeom prst="roundRect">
            <a:avLst>
              <a:gd name="adj" fmla="val 8889"/>
            </a:avLst>
          </a:prstGeom>
          <a:solidFill>
            <a:srgbClr val="FBE4E1"/>
          </a:solidFill>
          <a:ln w="15875">
            <a:solidFill>
              <a:srgbClr val="C8453B"/>
            </a:solidFill>
          </a:ln>
        </p:spPr>
        <p:txBody>
          <a:bodyPr wrap="square" lIns="635" tIns="635" rIns="635" bIns="635" rtlCol="0" anchor="ctr"/>
          <a:lstStyle/>
          <a:p>
            <a:pPr algn="ctr" indent="0" marL="0">
              <a:buNone/>
            </a:pPr>
            <a:r>
              <a:rPr lang="en-US" sz="1200" dirty="0">
                <a:solidFill>
                  <a:srgbClr val="1F2937"/>
                </a:solidFill>
                <a:latin typeface="Calibri" pitchFamily="34" charset="0"/>
                <a:ea typeface="Calibri" pitchFamily="34" charset="-122"/>
                <a:cs typeface="Calibri" pitchFamily="34" charset="-120"/>
              </a:rPr>
              <a:t>Listener / acceptor</a:t>
            </a:r>
            <a:endParaRPr lang="en-US" sz="1200" dirty="0"/>
          </a:p>
          <a:p>
            <a:pPr algn="ctr" indent="0" marL="0">
              <a:buNone/>
            </a:pPr>
            <a:r>
              <a:rPr lang="en-US" sz="1200" dirty="0">
                <a:solidFill>
                  <a:srgbClr val="1F2937"/>
                </a:solidFill>
                <a:latin typeface="Calibri" pitchFamily="34" charset="0"/>
                <a:ea typeface="Calibri" pitchFamily="34" charset="-122"/>
                <a:cs typeface="Calibri" pitchFamily="34" charset="-120"/>
              </a:rPr>
              <a:t>poll + accept</a:t>
            </a:r>
            <a:endParaRPr lang="en-US" sz="1200" dirty="0"/>
          </a:p>
          <a:p>
            <a:pPr algn="ctr" indent="0" marL="0">
              <a:buNone/>
            </a:pPr>
            <a:r>
              <a:rPr lang="en-US" sz="1200" dirty="0">
                <a:solidFill>
                  <a:srgbClr val="1F2937"/>
                </a:solidFill>
                <a:latin typeface="Calibri" pitchFamily="34" charset="0"/>
                <a:ea typeface="Calibri" pitchFamily="34" charset="-122"/>
                <a:cs typeface="Calibri" pitchFamily="34" charset="-120"/>
              </a:rPr>
              <a:t>QLAAC admission gate</a:t>
            </a:r>
            <a:endParaRPr lang="en-US" sz="1200" dirty="0"/>
          </a:p>
        </p:txBody>
      </p:sp>
      <p:sp>
        <p:nvSpPr>
          <p:cNvPr id="5" name="Text 3"/>
          <p:cNvSpPr txBox="1"/>
          <p:nvPr/>
        </p:nvSpPr>
        <p:spPr>
          <a:xfrm>
            <a:off x="4663440" y="1097280"/>
            <a:ext cx="1737360" cy="822960"/>
          </a:xfrm>
          <a:prstGeom prst="roundRect">
            <a:avLst>
              <a:gd name="adj" fmla="val 8889"/>
            </a:avLst>
          </a:prstGeom>
          <a:solidFill>
            <a:srgbClr val="FFFFFF"/>
          </a:solidFill>
          <a:ln w="15875">
            <a:solidFill>
              <a:srgbClr val="16325C"/>
            </a:solidFill>
          </a:ln>
        </p:spPr>
        <p:txBody>
          <a:bodyPr wrap="square" lIns="635" tIns="635" rIns="635" bIns="635" rtlCol="0" anchor="ctr"/>
          <a:lstStyle/>
          <a:p>
            <a:pPr algn="ctr" indent="0" marL="0">
              <a:buNone/>
            </a:pPr>
            <a:r>
              <a:rPr lang="en-US" sz="1200" dirty="0">
                <a:solidFill>
                  <a:srgbClr val="1F2937"/>
                </a:solidFill>
                <a:latin typeface="Calibri" pitchFamily="34" charset="0"/>
                <a:ea typeface="Calibri" pitchFamily="34" charset="-122"/>
                <a:cs typeface="Calibri" pitchFamily="34" charset="-120"/>
              </a:rPr>
              <a:t>Bounded FIFO queue</a:t>
            </a:r>
            <a:endParaRPr lang="en-US" sz="1200" dirty="0"/>
          </a:p>
          <a:p>
            <a:pPr algn="ctr" indent="0" marL="0">
              <a:buNone/>
            </a:pPr>
            <a:r>
              <a:rPr lang="en-US" sz="1200" dirty="0">
                <a:solidFill>
                  <a:srgbClr val="1F2937"/>
                </a:solidFill>
                <a:latin typeface="Calibri" pitchFamily="34" charset="0"/>
                <a:ea typeface="Calibri" pitchFamily="34" charset="-122"/>
                <a:cs typeface="Calibri" pitchFamily="34" charset="-120"/>
              </a:rPr>
              <a:t>capacity 64</a:t>
            </a:r>
            <a:endParaRPr lang="en-US" sz="1200" dirty="0"/>
          </a:p>
          <a:p>
            <a:pPr algn="ctr" indent="0" marL="0">
              <a:buNone/>
            </a:pPr>
            <a:r>
              <a:rPr lang="en-US" sz="1200" dirty="0">
                <a:solidFill>
                  <a:srgbClr val="1F2937"/>
                </a:solidFill>
                <a:latin typeface="Calibri" pitchFamily="34" charset="0"/>
                <a:ea typeface="Calibri" pitchFamily="34" charset="-122"/>
                <a:cs typeface="Calibri" pitchFamily="34" charset="-120"/>
              </a:rPr>
              <a:t>mutex + condvars</a:t>
            </a:r>
            <a:endParaRPr lang="en-US" sz="1200" dirty="0"/>
          </a:p>
        </p:txBody>
      </p:sp>
      <p:sp>
        <p:nvSpPr>
          <p:cNvPr id="6" name="Text 4"/>
          <p:cNvSpPr txBox="1"/>
          <p:nvPr/>
        </p:nvSpPr>
        <p:spPr>
          <a:xfrm>
            <a:off x="6766560" y="1097280"/>
            <a:ext cx="1737360" cy="822960"/>
          </a:xfrm>
          <a:prstGeom prst="roundRect">
            <a:avLst>
              <a:gd name="adj" fmla="val 8889"/>
            </a:avLst>
          </a:prstGeom>
          <a:solidFill>
            <a:srgbClr val="DDF2F4"/>
          </a:solidFill>
          <a:ln w="15875">
            <a:solidFill>
              <a:srgbClr val="0E9AA7"/>
            </a:solidFill>
          </a:ln>
        </p:spPr>
        <p:txBody>
          <a:bodyPr wrap="square" lIns="635" tIns="635" rIns="635" bIns="635" rtlCol="0" anchor="ctr"/>
          <a:lstStyle/>
          <a:p>
            <a:pPr algn="ctr" indent="0" marL="0">
              <a:buNone/>
            </a:pPr>
            <a:r>
              <a:rPr lang="en-US" sz="1200" dirty="0">
                <a:solidFill>
                  <a:srgbClr val="1F2937"/>
                </a:solidFill>
                <a:latin typeface="Calibri" pitchFamily="34" charset="0"/>
                <a:ea typeface="Calibri" pitchFamily="34" charset="-122"/>
                <a:cs typeface="Calibri" pitchFamily="34" charset="-120"/>
              </a:rPr>
              <a:t>Worker pool</a:t>
            </a:r>
            <a:endParaRPr lang="en-US" sz="1200" dirty="0"/>
          </a:p>
          <a:p>
            <a:pPr algn="ctr" indent="0" marL="0">
              <a:buNone/>
            </a:pPr>
            <a:r>
              <a:rPr lang="en-US" sz="1200" dirty="0">
                <a:solidFill>
                  <a:srgbClr val="1F2937"/>
                </a:solidFill>
                <a:latin typeface="Calibri" pitchFamily="34" charset="0"/>
                <a:ea typeface="Calibri" pitchFamily="34" charset="-122"/>
                <a:cs typeface="Calibri" pitchFamily="34" charset="-120"/>
              </a:rPr>
              <a:t>4 pthreads</a:t>
            </a:r>
            <a:endParaRPr lang="en-US" sz="1200" dirty="0"/>
          </a:p>
        </p:txBody>
      </p:sp>
      <p:sp>
        <p:nvSpPr>
          <p:cNvPr id="7" name="Shape 5"/>
          <p:cNvSpPr/>
          <p:nvPr/>
        </p:nvSpPr>
        <p:spPr>
          <a:xfrm>
            <a:off x="2194560" y="1508760"/>
            <a:ext cx="365760" cy="0"/>
          </a:xfrm>
          <a:prstGeom prst="line">
            <a:avLst/>
          </a:prstGeom>
          <a:noFill/>
          <a:ln w="22225">
            <a:solidFill>
              <a:srgbClr val="16325C"/>
            </a:solidFill>
            <a:prstDash val="solid"/>
            <a:tailEnd type="triangle"/>
          </a:ln>
        </p:spPr>
      </p:sp>
      <p:sp>
        <p:nvSpPr>
          <p:cNvPr id="8" name="Shape 6"/>
          <p:cNvSpPr/>
          <p:nvPr/>
        </p:nvSpPr>
        <p:spPr>
          <a:xfrm>
            <a:off x="4297680" y="1508760"/>
            <a:ext cx="365760" cy="0"/>
          </a:xfrm>
          <a:prstGeom prst="line">
            <a:avLst/>
          </a:prstGeom>
          <a:noFill/>
          <a:ln w="22225">
            <a:solidFill>
              <a:srgbClr val="16325C"/>
            </a:solidFill>
            <a:prstDash val="solid"/>
            <a:tailEnd type="triangle"/>
          </a:ln>
        </p:spPr>
      </p:sp>
      <p:sp>
        <p:nvSpPr>
          <p:cNvPr id="9" name="Shape 7"/>
          <p:cNvSpPr/>
          <p:nvPr/>
        </p:nvSpPr>
        <p:spPr>
          <a:xfrm>
            <a:off x="6400800" y="1508760"/>
            <a:ext cx="365760" cy="0"/>
          </a:xfrm>
          <a:prstGeom prst="line">
            <a:avLst/>
          </a:prstGeom>
          <a:noFill/>
          <a:ln w="22225">
            <a:solidFill>
              <a:srgbClr val="16325C"/>
            </a:solidFill>
            <a:prstDash val="solid"/>
            <a:tailEnd type="triangle"/>
          </a:ln>
        </p:spPr>
      </p:sp>
      <p:sp>
        <p:nvSpPr>
          <p:cNvPr id="10" name="Text 8"/>
          <p:cNvSpPr txBox="1"/>
          <p:nvPr/>
        </p:nvSpPr>
        <p:spPr>
          <a:xfrm>
            <a:off x="6766560" y="2468880"/>
            <a:ext cx="1737360" cy="822960"/>
          </a:xfrm>
          <a:prstGeom prst="roundRect">
            <a:avLst>
              <a:gd name="adj" fmla="val 8889"/>
            </a:avLst>
          </a:prstGeom>
          <a:solidFill>
            <a:srgbClr val="FFFFFF"/>
          </a:solidFill>
          <a:ln w="15875">
            <a:solidFill>
              <a:srgbClr val="16325C"/>
            </a:solidFill>
          </a:ln>
        </p:spPr>
        <p:txBody>
          <a:bodyPr wrap="square" lIns="635" tIns="635" rIns="635" bIns="635" rtlCol="0" anchor="ctr"/>
          <a:lstStyle/>
          <a:p>
            <a:pPr algn="ctr" indent="0" marL="0">
              <a:buNone/>
            </a:pPr>
            <a:r>
              <a:rPr lang="en-US" sz="1200" dirty="0">
                <a:solidFill>
                  <a:srgbClr val="1F2937"/>
                </a:solidFill>
                <a:latin typeface="Calibri" pitchFamily="34" charset="0"/>
                <a:ea typeface="Calibri" pitchFamily="34" charset="-122"/>
                <a:cs typeface="Calibri" pitchFamily="34" charset="-120"/>
              </a:rPr>
              <a:t>Streaming HTTP/1.1</a:t>
            </a:r>
            <a:endParaRPr lang="en-US" sz="1200" dirty="0"/>
          </a:p>
          <a:p>
            <a:pPr algn="ctr" indent="0" marL="0">
              <a:buNone/>
            </a:pPr>
            <a:r>
              <a:rPr lang="en-US" sz="1200" dirty="0">
                <a:solidFill>
                  <a:srgbClr val="1F2937"/>
                </a:solidFill>
                <a:latin typeface="Calibri" pitchFamily="34" charset="0"/>
                <a:ea typeface="Calibri" pitchFamily="34" charset="-122"/>
                <a:cs typeface="Calibri" pitchFamily="34" charset="-120"/>
              </a:rPr>
              <a:t>parser</a:t>
            </a:r>
            <a:endParaRPr lang="en-US" sz="1200" dirty="0"/>
          </a:p>
        </p:txBody>
      </p:sp>
      <p:sp>
        <p:nvSpPr>
          <p:cNvPr id="11" name="Shape 9"/>
          <p:cNvSpPr/>
          <p:nvPr/>
        </p:nvSpPr>
        <p:spPr>
          <a:xfrm>
            <a:off x="7635240" y="1920240"/>
            <a:ext cx="0" cy="548640"/>
          </a:xfrm>
          <a:prstGeom prst="line">
            <a:avLst/>
          </a:prstGeom>
          <a:noFill/>
          <a:ln w="22225">
            <a:solidFill>
              <a:srgbClr val="16325C"/>
            </a:solidFill>
            <a:prstDash val="solid"/>
            <a:tailEnd type="triangle"/>
          </a:ln>
        </p:spPr>
      </p:sp>
      <p:sp>
        <p:nvSpPr>
          <p:cNvPr id="12" name="Text 10"/>
          <p:cNvSpPr txBox="1"/>
          <p:nvPr/>
        </p:nvSpPr>
        <p:spPr>
          <a:xfrm>
            <a:off x="4663440" y="2468880"/>
            <a:ext cx="1737360" cy="822960"/>
          </a:xfrm>
          <a:prstGeom prst="roundRect">
            <a:avLst>
              <a:gd name="adj" fmla="val 8889"/>
            </a:avLst>
          </a:prstGeom>
          <a:solidFill>
            <a:srgbClr val="FFFFFF"/>
          </a:solidFill>
          <a:ln w="15875">
            <a:solidFill>
              <a:srgbClr val="16325C"/>
            </a:solidFill>
          </a:ln>
        </p:spPr>
        <p:txBody>
          <a:bodyPr wrap="square" lIns="635" tIns="635" rIns="635" bIns="635" rtlCol="0" anchor="ctr"/>
          <a:lstStyle/>
          <a:p>
            <a:pPr algn="ctr" indent="0" marL="0">
              <a:buNone/>
            </a:pPr>
            <a:r>
              <a:rPr lang="en-US" sz="1200" dirty="0">
                <a:solidFill>
                  <a:srgbClr val="1F2937"/>
                </a:solidFill>
                <a:latin typeface="Calibri" pitchFamily="34" charset="0"/>
                <a:ea typeface="Calibri" pitchFamily="34" charset="-122"/>
                <a:cs typeface="Calibri" pitchFamily="34" charset="-120"/>
              </a:rPr>
              <a:t>Router + handlers</a:t>
            </a:r>
            <a:endParaRPr lang="en-US" sz="1200" dirty="0"/>
          </a:p>
          <a:p>
            <a:pPr algn="ctr" indent="0" marL="0">
              <a:buNone/>
            </a:pPr>
            <a:r>
              <a:rPr lang="en-US" sz="1200" dirty="0">
                <a:solidFill>
                  <a:srgbClr val="1F2937"/>
                </a:solidFill>
                <a:latin typeface="Calibri" pitchFamily="34" charset="0"/>
                <a:ea typeface="Calibri" pitchFamily="34" charset="-122"/>
                <a:cs typeface="Calibri" pitchFamily="34" charset="-120"/>
              </a:rPr>
              <a:t>/health /metrics /api/echo</a:t>
            </a:r>
            <a:endParaRPr lang="en-US" sz="1200" dirty="0"/>
          </a:p>
          <a:p>
            <a:pPr algn="ctr" indent="0" marL="0">
              <a:buNone/>
            </a:pPr>
            <a:r>
              <a:rPr lang="en-US" sz="1200" dirty="0">
                <a:solidFill>
                  <a:srgbClr val="1F2937"/>
                </a:solidFill>
                <a:latin typeface="Calibri" pitchFamily="34" charset="0"/>
                <a:ea typeface="Calibri" pitchFamily="34" charset="-122"/>
                <a:cs typeface="Calibri" pitchFamily="34" charset="-120"/>
              </a:rPr>
              <a:t>static files (sendfile)</a:t>
            </a:r>
            <a:endParaRPr lang="en-US" sz="1200" dirty="0"/>
          </a:p>
        </p:txBody>
      </p:sp>
      <p:sp>
        <p:nvSpPr>
          <p:cNvPr id="13" name="Shape 11"/>
          <p:cNvSpPr/>
          <p:nvPr/>
        </p:nvSpPr>
        <p:spPr>
          <a:xfrm flipH="1">
            <a:off x="6400800" y="2880360"/>
            <a:ext cx="365760" cy="0"/>
          </a:xfrm>
          <a:prstGeom prst="line">
            <a:avLst/>
          </a:prstGeom>
          <a:noFill/>
          <a:ln w="22225">
            <a:solidFill>
              <a:srgbClr val="16325C"/>
            </a:solidFill>
            <a:prstDash val="solid"/>
            <a:tailEnd type="triangle"/>
          </a:ln>
        </p:spPr>
      </p:sp>
      <p:sp>
        <p:nvSpPr>
          <p:cNvPr id="14" name="Text 12"/>
          <p:cNvSpPr txBox="1"/>
          <p:nvPr/>
        </p:nvSpPr>
        <p:spPr>
          <a:xfrm>
            <a:off x="457200" y="2468880"/>
            <a:ext cx="1737360" cy="822960"/>
          </a:xfrm>
          <a:prstGeom prst="roundRect">
            <a:avLst>
              <a:gd name="adj" fmla="val 8889"/>
            </a:avLst>
          </a:prstGeom>
          <a:solidFill>
            <a:srgbClr val="FFFFFF"/>
          </a:solidFill>
          <a:ln w="15875">
            <a:solidFill>
              <a:srgbClr val="16325C"/>
            </a:solidFill>
          </a:ln>
        </p:spPr>
        <p:txBody>
          <a:bodyPr wrap="square" lIns="635" tIns="635" rIns="635" bIns="635" rtlCol="0" anchor="ctr"/>
          <a:lstStyle/>
          <a:p>
            <a:pPr algn="ctr" indent="0" marL="0">
              <a:buNone/>
            </a:pPr>
            <a:r>
              <a:rPr lang="en-US" sz="1200" dirty="0">
                <a:solidFill>
                  <a:srgbClr val="1F2937"/>
                </a:solidFill>
                <a:latin typeface="Calibri" pitchFamily="34" charset="0"/>
                <a:ea typeface="Calibri" pitchFamily="34" charset="-122"/>
                <a:cs typeface="Calibri" pitchFamily="34" charset="-120"/>
              </a:rPr>
              <a:t>Client receives</a:t>
            </a:r>
            <a:endParaRPr lang="en-US" sz="1200" dirty="0"/>
          </a:p>
          <a:p>
            <a:pPr algn="ctr" indent="0" marL="0">
              <a:buNone/>
            </a:pPr>
            <a:r>
              <a:rPr lang="en-US" sz="1200" dirty="0">
                <a:solidFill>
                  <a:srgbClr val="1F2937"/>
                </a:solidFill>
                <a:latin typeface="Calibri" pitchFamily="34" charset="0"/>
                <a:ea typeface="Calibri" pitchFamily="34" charset="-122"/>
                <a:cs typeface="Calibri" pitchFamily="34" charset="-120"/>
              </a:rPr>
              <a:t>2xx / 4xx / 503</a:t>
            </a:r>
            <a:endParaRPr lang="en-US" sz="1200" dirty="0"/>
          </a:p>
        </p:txBody>
      </p:sp>
      <p:sp>
        <p:nvSpPr>
          <p:cNvPr id="15" name="Shape 13"/>
          <p:cNvSpPr/>
          <p:nvPr/>
        </p:nvSpPr>
        <p:spPr>
          <a:xfrm flipH="1">
            <a:off x="2194560" y="3063240"/>
            <a:ext cx="2468880" cy="0"/>
          </a:xfrm>
          <a:prstGeom prst="line">
            <a:avLst/>
          </a:prstGeom>
          <a:noFill/>
          <a:ln w="22225">
            <a:solidFill>
              <a:srgbClr val="16325C"/>
            </a:solidFill>
            <a:prstDash val="solid"/>
            <a:tailEnd type="triangle"/>
          </a:ln>
        </p:spPr>
      </p:sp>
      <p:sp>
        <p:nvSpPr>
          <p:cNvPr id="16" name="Shape 14"/>
          <p:cNvSpPr/>
          <p:nvPr/>
        </p:nvSpPr>
        <p:spPr>
          <a:xfrm flipH="1">
            <a:off x="1920240" y="1920240"/>
            <a:ext cx="914400" cy="548640"/>
          </a:xfrm>
          <a:prstGeom prst="line">
            <a:avLst/>
          </a:prstGeom>
          <a:noFill/>
          <a:ln w="19050">
            <a:solidFill>
              <a:srgbClr val="C8453B"/>
            </a:solidFill>
            <a:prstDash val="dash"/>
            <a:tailEnd type="triangle"/>
          </a:ln>
        </p:spPr>
      </p:sp>
      <p:sp>
        <p:nvSpPr>
          <p:cNvPr id="17" name="Text 15"/>
          <p:cNvSpPr txBox="1"/>
          <p:nvPr/>
        </p:nvSpPr>
        <p:spPr>
          <a:xfrm>
            <a:off x="457200" y="1920240"/>
            <a:ext cx="1737360" cy="457200"/>
          </a:xfrm>
          <a:prstGeom prst="rect">
            <a:avLst/>
          </a:prstGeom>
          <a:noFill/>
          <a:ln/>
        </p:spPr>
        <p:txBody>
          <a:bodyPr wrap="square" lIns="0" tIns="0" rIns="0" bIns="0" rtlCol="0" anchor="ctr"/>
          <a:lstStyle/>
          <a:p>
            <a:pPr algn="l" indent="0" marL="0">
              <a:buNone/>
            </a:pPr>
            <a:r>
              <a:rPr lang="en-US" sz="1000" dirty="0">
                <a:solidFill>
                  <a:srgbClr val="C8453B"/>
                </a:solidFill>
                <a:latin typeface="Calibri" pitchFamily="34" charset="0"/>
                <a:ea typeface="Calibri" pitchFamily="34" charset="-122"/>
                <a:cs typeface="Calibri" pitchFamily="34" charset="-120"/>
              </a:rPr>
              <a:t>503 (OVERLOAD / queue full)</a:t>
            </a:r>
            <a:endParaRPr lang="en-US" sz="1000" dirty="0"/>
          </a:p>
        </p:txBody>
      </p:sp>
      <p:sp>
        <p:nvSpPr>
          <p:cNvPr id="18" name="Text 16"/>
          <p:cNvSpPr txBox="1"/>
          <p:nvPr/>
        </p:nvSpPr>
        <p:spPr>
          <a:xfrm>
            <a:off x="4663440" y="3657600"/>
            <a:ext cx="1737360" cy="731520"/>
          </a:xfrm>
          <a:prstGeom prst="roundRect">
            <a:avLst>
              <a:gd name="adj" fmla="val 10000"/>
            </a:avLst>
          </a:prstGeom>
          <a:solidFill>
            <a:srgbClr val="E3F3EA"/>
          </a:solidFill>
          <a:ln w="15875">
            <a:solidFill>
              <a:srgbClr val="2E8B57"/>
            </a:solidFill>
          </a:ln>
        </p:spPr>
        <p:txBody>
          <a:bodyPr wrap="square" lIns="635" tIns="635" rIns="635" bIns="635" rtlCol="0" anchor="ctr"/>
          <a:lstStyle/>
          <a:p>
            <a:pPr algn="ctr" indent="0" marL="0">
              <a:buNone/>
            </a:pPr>
            <a:r>
              <a:rPr lang="en-US" sz="1200" dirty="0">
                <a:solidFill>
                  <a:srgbClr val="1F2937"/>
                </a:solidFill>
                <a:latin typeface="Calibri" pitchFamily="34" charset="0"/>
                <a:ea typeface="Calibri" pitchFamily="34" charset="-122"/>
                <a:cs typeface="Calibri" pitchFamily="34" charset="-120"/>
              </a:rPr>
              <a:t>Metrics collector</a:t>
            </a:r>
            <a:endParaRPr lang="en-US" sz="1200" dirty="0"/>
          </a:p>
          <a:p>
            <a:pPr algn="ctr" indent="0" marL="0">
              <a:buNone/>
            </a:pPr>
            <a:r>
              <a:rPr lang="en-US" sz="1200" dirty="0">
                <a:solidFill>
                  <a:srgbClr val="1F2937"/>
                </a:solidFill>
                <a:latin typeface="Calibri" pitchFamily="34" charset="0"/>
                <a:ea typeface="Calibri" pitchFamily="34" charset="-122"/>
                <a:cs typeface="Calibri" pitchFamily="34" charset="-120"/>
              </a:rPr>
              <a:t>counters, latency, p95</a:t>
            </a:r>
            <a:endParaRPr lang="en-US" sz="1200" dirty="0"/>
          </a:p>
        </p:txBody>
      </p:sp>
      <p:sp>
        <p:nvSpPr>
          <p:cNvPr id="19" name="Text 17"/>
          <p:cNvSpPr txBox="1"/>
          <p:nvPr/>
        </p:nvSpPr>
        <p:spPr>
          <a:xfrm>
            <a:off x="2560320" y="3657600"/>
            <a:ext cx="1737360" cy="731520"/>
          </a:xfrm>
          <a:prstGeom prst="roundRect">
            <a:avLst>
              <a:gd name="adj" fmla="val 10000"/>
            </a:avLst>
          </a:prstGeom>
          <a:solidFill>
            <a:srgbClr val="FBE4E1"/>
          </a:solidFill>
          <a:ln w="15875">
            <a:solidFill>
              <a:srgbClr val="C8453B"/>
            </a:solidFill>
          </a:ln>
        </p:spPr>
        <p:txBody>
          <a:bodyPr wrap="square" lIns="635" tIns="635" rIns="635" bIns="635" rtlCol="0" anchor="ctr"/>
          <a:lstStyle/>
          <a:p>
            <a:pPr algn="ctr" indent="0" marL="0">
              <a:buNone/>
            </a:pPr>
            <a:r>
              <a:rPr lang="en-US" sz="1200" dirty="0">
                <a:solidFill>
                  <a:srgbClr val="1F2937"/>
                </a:solidFill>
                <a:latin typeface="Calibri" pitchFamily="34" charset="0"/>
                <a:ea typeface="Calibri" pitchFamily="34" charset="-122"/>
                <a:cs typeface="Calibri" pitchFamily="34" charset="-120"/>
              </a:rPr>
              <a:t>Sampler thread +</a:t>
            </a:r>
            <a:endParaRPr lang="en-US" sz="1200" dirty="0"/>
          </a:p>
          <a:p>
            <a:pPr algn="ctr" indent="0" marL="0">
              <a:buNone/>
            </a:pPr>
            <a:r>
              <a:rPr lang="en-US" sz="1200" dirty="0">
                <a:solidFill>
                  <a:srgbClr val="1F2937"/>
                </a:solidFill>
                <a:latin typeface="Calibri" pitchFamily="34" charset="0"/>
                <a:ea typeface="Calibri" pitchFamily="34" charset="-122"/>
                <a:cs typeface="Calibri" pitchFamily="34" charset="-120"/>
              </a:rPr>
              <a:t>QLAAC controller (1 s)</a:t>
            </a:r>
            <a:endParaRPr lang="en-US" sz="1200" dirty="0"/>
          </a:p>
        </p:txBody>
      </p:sp>
      <p:sp>
        <p:nvSpPr>
          <p:cNvPr id="20" name="Text 18"/>
          <p:cNvSpPr txBox="1"/>
          <p:nvPr/>
        </p:nvSpPr>
        <p:spPr>
          <a:xfrm>
            <a:off x="6766560" y="3657600"/>
            <a:ext cx="1737360" cy="731520"/>
          </a:xfrm>
          <a:prstGeom prst="roundRect">
            <a:avLst>
              <a:gd name="adj" fmla="val 10000"/>
            </a:avLst>
          </a:prstGeom>
          <a:solidFill>
            <a:srgbClr val="E3F3EA"/>
          </a:solidFill>
          <a:ln w="15875">
            <a:solidFill>
              <a:srgbClr val="2E8B57"/>
            </a:solidFill>
          </a:ln>
        </p:spPr>
        <p:txBody>
          <a:bodyPr wrap="square" lIns="635" tIns="635" rIns="635" bIns="635" rtlCol="0" anchor="ctr"/>
          <a:lstStyle/>
          <a:p>
            <a:pPr algn="ctr" indent="0" marL="0">
              <a:buNone/>
            </a:pPr>
            <a:r>
              <a:rPr lang="en-US" sz="1200" dirty="0">
                <a:solidFill>
                  <a:srgbClr val="1F2937"/>
                </a:solidFill>
                <a:latin typeface="Calibri" pitchFamily="34" charset="0"/>
                <a:ea typeface="Calibri" pitchFamily="34" charset="-122"/>
                <a:cs typeface="Calibri" pitchFamily="34" charset="-120"/>
              </a:rPr>
              <a:t>/metrics JSON +</a:t>
            </a:r>
            <a:endParaRPr lang="en-US" sz="1200" dirty="0"/>
          </a:p>
          <a:p>
            <a:pPr algn="ctr" indent="0" marL="0">
              <a:buNone/>
            </a:pPr>
            <a:r>
              <a:rPr lang="en-US" sz="1200" dirty="0">
                <a:solidFill>
                  <a:srgbClr val="1F2937"/>
                </a:solidFill>
                <a:latin typeface="Calibri" pitchFamily="34" charset="0"/>
                <a:ea typeface="Calibri" pitchFamily="34" charset="-122"/>
                <a:cs typeface="Calibri" pitchFamily="34" charset="-120"/>
              </a:rPr>
              <a:t>live dashboard</a:t>
            </a:r>
            <a:endParaRPr lang="en-US" sz="1200" dirty="0"/>
          </a:p>
        </p:txBody>
      </p:sp>
      <p:sp>
        <p:nvSpPr>
          <p:cNvPr id="21" name="Shape 19"/>
          <p:cNvSpPr/>
          <p:nvPr/>
        </p:nvSpPr>
        <p:spPr>
          <a:xfrm>
            <a:off x="5532120" y="3291840"/>
            <a:ext cx="0" cy="365760"/>
          </a:xfrm>
          <a:prstGeom prst="line">
            <a:avLst/>
          </a:prstGeom>
          <a:noFill/>
          <a:ln w="19050">
            <a:solidFill>
              <a:srgbClr val="2E8B57"/>
            </a:solidFill>
            <a:prstDash val="dash"/>
            <a:tailEnd type="triangle"/>
          </a:ln>
        </p:spPr>
      </p:sp>
      <p:sp>
        <p:nvSpPr>
          <p:cNvPr id="22" name="Shape 20"/>
          <p:cNvSpPr/>
          <p:nvPr/>
        </p:nvSpPr>
        <p:spPr>
          <a:xfrm flipH="1">
            <a:off x="4297680" y="4023360"/>
            <a:ext cx="365760" cy="0"/>
          </a:xfrm>
          <a:prstGeom prst="line">
            <a:avLst/>
          </a:prstGeom>
          <a:noFill/>
          <a:ln w="19050">
            <a:solidFill>
              <a:srgbClr val="2E8B57"/>
            </a:solidFill>
            <a:prstDash val="dash"/>
            <a:tailEnd type="triangle"/>
          </a:ln>
        </p:spPr>
      </p:sp>
      <p:sp>
        <p:nvSpPr>
          <p:cNvPr id="23" name="Shape 21"/>
          <p:cNvSpPr/>
          <p:nvPr/>
        </p:nvSpPr>
        <p:spPr>
          <a:xfrm>
            <a:off x="6400800" y="4023360"/>
            <a:ext cx="365760" cy="0"/>
          </a:xfrm>
          <a:prstGeom prst="line">
            <a:avLst/>
          </a:prstGeom>
          <a:noFill/>
          <a:ln w="19050">
            <a:solidFill>
              <a:srgbClr val="2E8B57"/>
            </a:solidFill>
            <a:prstDash val="dash"/>
            <a:tailEnd type="triangle"/>
          </a:ln>
        </p:spPr>
      </p:sp>
      <p:sp>
        <p:nvSpPr>
          <p:cNvPr id="24" name="Shape 22"/>
          <p:cNvSpPr/>
          <p:nvPr/>
        </p:nvSpPr>
        <p:spPr>
          <a:xfrm flipV="1">
            <a:off x="3794760" y="1920240"/>
            <a:ext cx="0" cy="1737360"/>
          </a:xfrm>
          <a:prstGeom prst="line">
            <a:avLst/>
          </a:prstGeom>
          <a:noFill/>
          <a:ln w="22225">
            <a:solidFill>
              <a:srgbClr val="C8453B"/>
            </a:solidFill>
            <a:prstDash val="dash"/>
            <a:tailEnd type="triangle"/>
          </a:ln>
        </p:spPr>
      </p:sp>
      <p:sp>
        <p:nvSpPr>
          <p:cNvPr id="25" name="Text 23"/>
          <p:cNvSpPr txBox="1"/>
          <p:nvPr/>
        </p:nvSpPr>
        <p:spPr>
          <a:xfrm>
            <a:off x="3886200" y="3429000"/>
            <a:ext cx="457200" cy="228600"/>
          </a:xfrm>
          <a:prstGeom prst="rect">
            <a:avLst/>
          </a:prstGeom>
          <a:noFill/>
          <a:ln/>
        </p:spPr>
        <p:txBody>
          <a:bodyPr wrap="square" lIns="0" tIns="0" rIns="0" bIns="0" rtlCol="0" anchor="ctr"/>
          <a:lstStyle/>
          <a:p>
            <a:pPr indent="0" marL="0">
              <a:buNone/>
            </a:pPr>
            <a:r>
              <a:rPr lang="en-US" sz="1000" dirty="0">
                <a:solidFill>
                  <a:srgbClr val="C8453B"/>
                </a:solidFill>
                <a:latin typeface="Calibri" pitchFamily="34" charset="0"/>
                <a:ea typeface="Calibri" pitchFamily="34" charset="-122"/>
                <a:cs typeface="Calibri" pitchFamily="34" charset="-120"/>
              </a:rPr>
              <a:t>state</a:t>
            </a:r>
            <a:endParaRPr lang="en-US" sz="1000" dirty="0"/>
          </a:p>
        </p:txBody>
      </p:sp>
      <p:sp>
        <p:nvSpPr>
          <p:cNvPr id="26" name="Text 24"/>
          <p:cNvSpPr txBox="1"/>
          <p:nvPr/>
        </p:nvSpPr>
        <p:spPr>
          <a:xfrm>
            <a:off x="457200" y="4526280"/>
            <a:ext cx="4572000" cy="228600"/>
          </a:xfrm>
          <a:prstGeom prst="rect">
            <a:avLst/>
          </a:prstGeom>
          <a:noFill/>
          <a:ln/>
        </p:spPr>
        <p:txBody>
          <a:bodyPr wrap="square" lIns="0" tIns="0" rIns="0" bIns="0" rtlCol="0" anchor="ctr"/>
          <a:lstStyle/>
          <a:p>
            <a:pPr indent="0" marL="0">
              <a:buNone/>
            </a:pPr>
            <a:r>
              <a:rPr lang="en-US" sz="1100" dirty="0">
                <a:solidFill>
                  <a:srgbClr val="1F2937"/>
                </a:solidFill>
                <a:latin typeface="Calibri" pitchFamily="34" charset="0"/>
                <a:ea typeface="Calibri" pitchFamily="34" charset="-122"/>
                <a:cs typeface="Calibri" pitchFamily="34" charset="-120"/>
              </a:rPr>
              <a:t>Solid: request path   ·   Dashed: feedback and rejection paths</a:t>
            </a:r>
            <a:endParaRPr lang="en-US" sz="1100" dirty="0"/>
          </a:p>
        </p:txBody>
      </p:sp>
      <p:sp>
        <p:nvSpPr>
          <p:cNvPr id="27" name="Text 25"/>
          <p:cNvSpPr txBox="1"/>
          <p:nvPr/>
        </p:nvSpPr>
        <p:spPr>
          <a:xfrm>
            <a:off x="457200" y="4800600"/>
            <a:ext cx="7680960" cy="228600"/>
          </a:xfrm>
          <a:prstGeom prst="rect">
            <a:avLst/>
          </a:prstGeom>
          <a:noFill/>
          <a:ln/>
        </p:spPr>
        <p:txBody>
          <a:bodyPr wrap="square" lIns="0" tIns="0" rIns="0" bIns="0" rtlCol="0" anchor="ctr"/>
          <a:lstStyle/>
          <a:p>
            <a:pPr indent="0" marL="0">
              <a:buNone/>
            </a:pPr>
            <a:r>
              <a:rPr lang="en-US" sz="1000" dirty="0">
                <a:solidFill>
                  <a:srgbClr val="5B6676"/>
                </a:solidFill>
                <a:latin typeface="Calibri" pitchFamily="34" charset="0"/>
                <a:ea typeface="Calibri" pitchFamily="34" charset="-122"/>
                <a:cs typeface="Calibri" pitchFamily="34" charset="-120"/>
              </a:rPr>
              <a:t>Source: CN_Project_Final_Report (BCSE308P), Section 3.1 (Fig. 3.1), 4.3</a:t>
            </a:r>
            <a:endParaRPr lang="en-US" sz="1000" dirty="0"/>
          </a:p>
        </p:txBody>
      </p:sp>
      <p:sp>
        <p:nvSpPr>
          <p:cNvPr id="28" name="Text 26"/>
          <p:cNvSpPr txBox="1"/>
          <p:nvPr/>
        </p:nvSpPr>
        <p:spPr>
          <a:xfrm>
            <a:off x="8229600" y="4800600"/>
            <a:ext cx="457200" cy="228600"/>
          </a:xfrm>
          <a:prstGeom prst="rect">
            <a:avLst/>
          </a:prstGeom>
          <a:noFill/>
          <a:ln/>
        </p:spPr>
        <p:txBody>
          <a:bodyPr wrap="square" lIns="0" tIns="0" rIns="0" bIns="0" rtlCol="0" anchor="ctr"/>
          <a:lstStyle/>
          <a:p>
            <a:pPr algn="r" indent="0" marL="0">
              <a:buNone/>
            </a:pPr>
            <a:r>
              <a:rPr lang="en-US" sz="1000" dirty="0">
                <a:solidFill>
                  <a:srgbClr val="5B6676"/>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8229600" cy="548640"/>
          </a:xfrm>
          <a:prstGeom prst="rect">
            <a:avLst/>
          </a:prstGeom>
          <a:noFill/>
          <a:ln/>
        </p:spPr>
        <p:txBody>
          <a:bodyPr wrap="square" lIns="0" tIns="0" rIns="0" bIns="0" rtlCol="0" anchor="ctr"/>
          <a:lstStyle/>
          <a:p>
            <a:pPr indent="0" marL="0">
              <a:buNone/>
            </a:pPr>
            <a:r>
              <a:rPr lang="en-US" sz="2800" b="1" dirty="0">
                <a:solidFill>
                  <a:srgbClr val="0B1F3A"/>
                </a:solidFill>
                <a:latin typeface="Cambria" pitchFamily="34" charset="0"/>
                <a:ea typeface="Cambria" pitchFamily="34" charset="-122"/>
                <a:cs typeface="Cambria" pitchFamily="34" charset="-120"/>
              </a:rPr>
              <a:t>Implementation setup</a:t>
            </a:r>
            <a:endParaRPr lang="en-US" sz="2800" dirty="0"/>
          </a:p>
        </p:txBody>
      </p:sp>
      <p:sp>
        <p:nvSpPr>
          <p:cNvPr id="3" name="Shape 1"/>
          <p:cNvSpPr/>
          <p:nvPr/>
        </p:nvSpPr>
        <p:spPr>
          <a:xfrm>
            <a:off x="457200" y="1005840"/>
            <a:ext cx="2651760" cy="1051560"/>
          </a:xfrm>
          <a:prstGeom prst="roundRect">
            <a:avLst>
              <a:gd name="adj" fmla="val 6957"/>
            </a:avLst>
          </a:prstGeom>
          <a:solidFill>
            <a:srgbClr val="F3F6F9"/>
          </a:solidFill>
          <a:ln w="6350">
            <a:solidFill>
              <a:srgbClr val="F3F6F9"/>
            </a:solidFill>
            <a:prstDash val="solid"/>
          </a:ln>
        </p:spPr>
      </p:sp>
      <p:sp>
        <p:nvSpPr>
          <p:cNvPr id="4" name="Text 2"/>
          <p:cNvSpPr txBox="1"/>
          <p:nvPr/>
        </p:nvSpPr>
        <p:spPr>
          <a:xfrm>
            <a:off x="566928" y="1051560"/>
            <a:ext cx="2468880" cy="960120"/>
          </a:xfrm>
          <a:prstGeom prst="rect">
            <a:avLst/>
          </a:prstGeom>
          <a:noFill/>
          <a:ln/>
        </p:spPr>
        <p:txBody>
          <a:bodyPr wrap="square" lIns="0" tIns="0" rIns="0" bIns="0" rtlCol="0" anchor="ctr"/>
          <a:lstStyle/>
          <a:p>
            <a:pPr indent="0" marL="0">
              <a:buNone/>
            </a:pPr>
            <a:r>
              <a:rPr lang="en-US" sz="1400" b="1" dirty="0">
                <a:solidFill>
                  <a:srgbClr val="0E9AA7"/>
                </a:solidFill>
                <a:latin typeface="Calibri" pitchFamily="34" charset="0"/>
                <a:ea typeface="Calibri" pitchFamily="34" charset="-122"/>
                <a:cs typeface="Calibri" pitchFamily="34" charset="-120"/>
              </a:rPr>
              <a:t>Language / OS</a:t>
            </a:r>
            <a:endParaRPr lang="en-US" sz="1400" dirty="0"/>
          </a:p>
          <a:p>
            <a:pPr indent="0" marL="0">
              <a:buNone/>
            </a:pPr>
            <a:r>
              <a:rPr lang="en-US" sz="1200" dirty="0">
                <a:solidFill>
                  <a:srgbClr val="1F2937"/>
                </a:solidFill>
                <a:latin typeface="Calibri" pitchFamily="34" charset="0"/>
                <a:ea typeface="Calibri" pitchFamily="34" charset="-122"/>
                <a:cs typeface="Calibri" pitchFamily="34" charset="-120"/>
              </a:rPr>
              <a:t>C17, POSIX.1-2008</a:t>
            </a:r>
            <a:endParaRPr lang="en-US" sz="1400" dirty="0"/>
          </a:p>
          <a:p>
            <a:pPr indent="0" marL="0">
              <a:buNone/>
            </a:pPr>
            <a:r>
              <a:rPr lang="en-US" sz="1200" dirty="0">
                <a:solidFill>
                  <a:srgbClr val="1F2937"/>
                </a:solidFill>
                <a:latin typeface="Calibri" pitchFamily="34" charset="0"/>
                <a:ea typeface="Calibri" pitchFamily="34" charset="-122"/>
                <a:cs typeface="Calibri" pitchFamily="34" charset="-120"/>
              </a:rPr>
              <a:t>Linux raw TCP sockets, libc only</a:t>
            </a:r>
            <a:endParaRPr lang="en-US" sz="1400" dirty="0"/>
          </a:p>
        </p:txBody>
      </p:sp>
      <p:sp>
        <p:nvSpPr>
          <p:cNvPr id="5" name="Shape 3"/>
          <p:cNvSpPr/>
          <p:nvPr/>
        </p:nvSpPr>
        <p:spPr>
          <a:xfrm>
            <a:off x="3291840" y="1005840"/>
            <a:ext cx="2651760" cy="1051560"/>
          </a:xfrm>
          <a:prstGeom prst="roundRect">
            <a:avLst>
              <a:gd name="adj" fmla="val 6957"/>
            </a:avLst>
          </a:prstGeom>
          <a:solidFill>
            <a:srgbClr val="F3F6F9"/>
          </a:solidFill>
          <a:ln w="6350">
            <a:solidFill>
              <a:srgbClr val="F3F6F9"/>
            </a:solidFill>
            <a:prstDash val="solid"/>
          </a:ln>
        </p:spPr>
      </p:sp>
      <p:sp>
        <p:nvSpPr>
          <p:cNvPr id="6" name="Text 4"/>
          <p:cNvSpPr txBox="1"/>
          <p:nvPr/>
        </p:nvSpPr>
        <p:spPr>
          <a:xfrm>
            <a:off x="3401568" y="1051560"/>
            <a:ext cx="2468880" cy="960120"/>
          </a:xfrm>
          <a:prstGeom prst="rect">
            <a:avLst/>
          </a:prstGeom>
          <a:noFill/>
          <a:ln/>
        </p:spPr>
        <p:txBody>
          <a:bodyPr wrap="square" lIns="0" tIns="0" rIns="0" bIns="0" rtlCol="0" anchor="ctr"/>
          <a:lstStyle/>
          <a:p>
            <a:pPr indent="0" marL="0">
              <a:buNone/>
            </a:pPr>
            <a:r>
              <a:rPr lang="en-US" sz="1400" b="1" dirty="0">
                <a:solidFill>
                  <a:srgbClr val="0E9AA7"/>
                </a:solidFill>
                <a:latin typeface="Calibri" pitchFamily="34" charset="0"/>
                <a:ea typeface="Calibri" pitchFamily="34" charset="-122"/>
                <a:cs typeface="Calibri" pitchFamily="34" charset="-120"/>
              </a:rPr>
              <a:t>Concurrency</a:t>
            </a:r>
            <a:endParaRPr lang="en-US" sz="1400" dirty="0"/>
          </a:p>
          <a:p>
            <a:pPr indent="0" marL="0">
              <a:buNone/>
            </a:pPr>
            <a:r>
              <a:rPr lang="en-US" sz="1200" dirty="0">
                <a:solidFill>
                  <a:srgbClr val="1F2937"/>
                </a:solidFill>
                <a:latin typeface="Calibri" pitchFamily="34" charset="0"/>
                <a:ea typeface="Calibri" pitchFamily="34" charset="-122"/>
                <a:cs typeface="Calibri" pitchFamily="34" charset="-120"/>
              </a:rPr>
              <a:t>pthreads: fixed 4-worker pool,</a:t>
            </a:r>
            <a:endParaRPr lang="en-US" sz="1400" dirty="0"/>
          </a:p>
          <a:p>
            <a:pPr indent="0" marL="0">
              <a:buNone/>
            </a:pPr>
            <a:r>
              <a:rPr lang="en-US" sz="1200" dirty="0">
                <a:solidFill>
                  <a:srgbClr val="1F2937"/>
                </a:solidFill>
                <a:latin typeface="Calibri" pitchFamily="34" charset="0"/>
                <a:ea typeface="Calibri" pitchFamily="34" charset="-122"/>
                <a:cs typeface="Calibri" pitchFamily="34" charset="-120"/>
              </a:rPr>
              <a:t>bounded FIFO queue, listen backlog 128</a:t>
            </a:r>
            <a:endParaRPr lang="en-US" sz="1400" dirty="0"/>
          </a:p>
        </p:txBody>
      </p:sp>
      <p:sp>
        <p:nvSpPr>
          <p:cNvPr id="7" name="Shape 5"/>
          <p:cNvSpPr/>
          <p:nvPr/>
        </p:nvSpPr>
        <p:spPr>
          <a:xfrm>
            <a:off x="6126480" y="1005840"/>
            <a:ext cx="2651760" cy="1051560"/>
          </a:xfrm>
          <a:prstGeom prst="roundRect">
            <a:avLst>
              <a:gd name="adj" fmla="val 6957"/>
            </a:avLst>
          </a:prstGeom>
          <a:solidFill>
            <a:srgbClr val="F3F6F9"/>
          </a:solidFill>
          <a:ln w="6350">
            <a:solidFill>
              <a:srgbClr val="F3F6F9"/>
            </a:solidFill>
            <a:prstDash val="solid"/>
          </a:ln>
        </p:spPr>
      </p:sp>
      <p:sp>
        <p:nvSpPr>
          <p:cNvPr id="8" name="Text 6"/>
          <p:cNvSpPr txBox="1"/>
          <p:nvPr/>
        </p:nvSpPr>
        <p:spPr>
          <a:xfrm>
            <a:off x="6236208" y="1051560"/>
            <a:ext cx="2468880" cy="960120"/>
          </a:xfrm>
          <a:prstGeom prst="rect">
            <a:avLst/>
          </a:prstGeom>
          <a:noFill/>
          <a:ln/>
        </p:spPr>
        <p:txBody>
          <a:bodyPr wrap="square" lIns="0" tIns="0" rIns="0" bIns="0" rtlCol="0" anchor="ctr"/>
          <a:lstStyle/>
          <a:p>
            <a:pPr indent="0" marL="0">
              <a:buNone/>
            </a:pPr>
            <a:r>
              <a:rPr lang="en-US" sz="1400" b="1" dirty="0">
                <a:solidFill>
                  <a:srgbClr val="0E9AA7"/>
                </a:solidFill>
                <a:latin typeface="Calibri" pitchFamily="34" charset="0"/>
                <a:ea typeface="Calibri" pitchFamily="34" charset="-122"/>
                <a:cs typeface="Calibri" pitchFamily="34" charset="-120"/>
              </a:rPr>
              <a:t>HTTP/1.1 subset</a:t>
            </a:r>
            <a:endParaRPr lang="en-US" sz="1400" dirty="0"/>
          </a:p>
          <a:p>
            <a:pPr indent="0" marL="0">
              <a:buNone/>
            </a:pPr>
            <a:r>
              <a:rPr lang="en-US" sz="1200" dirty="0">
                <a:solidFill>
                  <a:srgbClr val="1F2937"/>
                </a:solidFill>
                <a:latin typeface="Calibri" pitchFamily="34" charset="0"/>
                <a:ea typeface="Calibri" pitchFamily="34" charset="-122"/>
                <a:cs typeface="Calibri" pitchFamily="34" charset="-120"/>
              </a:rPr>
              <a:t>GET, HEAD, POST; keep-alive;</a:t>
            </a:r>
            <a:endParaRPr lang="en-US" sz="1400" dirty="0"/>
          </a:p>
          <a:p>
            <a:pPr indent="0" marL="0">
              <a:buNone/>
            </a:pPr>
            <a:r>
              <a:rPr lang="en-US" sz="1200" dirty="0">
                <a:solidFill>
                  <a:srgbClr val="1F2937"/>
                </a:solidFill>
                <a:latin typeface="Calibri" pitchFamily="34" charset="0"/>
                <a:ea typeface="Calibri" pitchFamily="34" charset="-122"/>
                <a:cs typeface="Calibri" pitchFamily="34" charset="-120"/>
              </a:rPr>
              <a:t>Content-Length bodies up to 10 MiB</a:t>
            </a:r>
            <a:endParaRPr lang="en-US" sz="1400" dirty="0"/>
          </a:p>
        </p:txBody>
      </p:sp>
      <p:sp>
        <p:nvSpPr>
          <p:cNvPr id="9" name="Shape 7"/>
          <p:cNvSpPr/>
          <p:nvPr/>
        </p:nvSpPr>
        <p:spPr>
          <a:xfrm>
            <a:off x="457200" y="2194560"/>
            <a:ext cx="2651760" cy="1051560"/>
          </a:xfrm>
          <a:prstGeom prst="roundRect">
            <a:avLst>
              <a:gd name="adj" fmla="val 6957"/>
            </a:avLst>
          </a:prstGeom>
          <a:solidFill>
            <a:srgbClr val="F3F6F9"/>
          </a:solidFill>
          <a:ln w="6350">
            <a:solidFill>
              <a:srgbClr val="F3F6F9"/>
            </a:solidFill>
            <a:prstDash val="solid"/>
          </a:ln>
        </p:spPr>
      </p:sp>
      <p:sp>
        <p:nvSpPr>
          <p:cNvPr id="10" name="Text 8"/>
          <p:cNvSpPr txBox="1"/>
          <p:nvPr/>
        </p:nvSpPr>
        <p:spPr>
          <a:xfrm>
            <a:off x="566928" y="2240280"/>
            <a:ext cx="2468880" cy="960120"/>
          </a:xfrm>
          <a:prstGeom prst="rect">
            <a:avLst/>
          </a:prstGeom>
          <a:noFill/>
          <a:ln/>
        </p:spPr>
        <p:txBody>
          <a:bodyPr wrap="square" lIns="0" tIns="0" rIns="0" bIns="0" rtlCol="0" anchor="ctr"/>
          <a:lstStyle/>
          <a:p>
            <a:pPr indent="0" marL="0">
              <a:buNone/>
            </a:pPr>
            <a:r>
              <a:rPr lang="en-US" sz="1400" b="1" dirty="0">
                <a:solidFill>
                  <a:srgbClr val="0E9AA7"/>
                </a:solidFill>
                <a:latin typeface="Calibri" pitchFamily="34" charset="0"/>
                <a:ea typeface="Calibri" pitchFamily="34" charset="-122"/>
                <a:cs typeface="Calibri" pitchFamily="34" charset="-120"/>
              </a:rPr>
              <a:t>Routing / files</a:t>
            </a:r>
            <a:endParaRPr lang="en-US" sz="1400" dirty="0"/>
          </a:p>
          <a:p>
            <a:pPr indent="0" marL="0">
              <a:buNone/>
            </a:pPr>
            <a:r>
              <a:rPr lang="en-US" sz="1200" dirty="0">
                <a:solidFill>
                  <a:srgbClr val="1F2937"/>
                </a:solidFill>
                <a:latin typeface="Calibri" pitchFamily="34" charset="0"/>
                <a:ea typeface="Calibri" pitchFamily="34" charset="-122"/>
                <a:cs typeface="Calibri" pitchFamily="34" charset="-120"/>
              </a:rPr>
              <a:t>/health, /metrics, /api/echo (POST),</a:t>
            </a:r>
            <a:endParaRPr lang="en-US" sz="1400" dirty="0"/>
          </a:p>
          <a:p>
            <a:pPr indent="0" marL="0">
              <a:buNone/>
            </a:pPr>
            <a:r>
              <a:rPr lang="en-US" sz="1200" dirty="0">
                <a:solidFill>
                  <a:srgbClr val="1F2937"/>
                </a:solidFill>
                <a:latin typeface="Calibri" pitchFamily="34" charset="0"/>
                <a:ea typeface="Calibri" pitchFamily="34" charset="-122"/>
                <a:cs typeface="Calibri" pitchFamily="34" charset="-120"/>
              </a:rPr>
              <a:t>static files via sendfile(2)</a:t>
            </a:r>
            <a:endParaRPr lang="en-US" sz="1400" dirty="0"/>
          </a:p>
        </p:txBody>
      </p:sp>
      <p:sp>
        <p:nvSpPr>
          <p:cNvPr id="11" name="Shape 9"/>
          <p:cNvSpPr/>
          <p:nvPr/>
        </p:nvSpPr>
        <p:spPr>
          <a:xfrm>
            <a:off x="3291840" y="2194560"/>
            <a:ext cx="2651760" cy="1051560"/>
          </a:xfrm>
          <a:prstGeom prst="roundRect">
            <a:avLst>
              <a:gd name="adj" fmla="val 6957"/>
            </a:avLst>
          </a:prstGeom>
          <a:solidFill>
            <a:srgbClr val="F3F6F9"/>
          </a:solidFill>
          <a:ln w="6350">
            <a:solidFill>
              <a:srgbClr val="F3F6F9"/>
            </a:solidFill>
            <a:prstDash val="solid"/>
          </a:ln>
        </p:spPr>
      </p:sp>
      <p:sp>
        <p:nvSpPr>
          <p:cNvPr id="12" name="Text 10"/>
          <p:cNvSpPr txBox="1"/>
          <p:nvPr/>
        </p:nvSpPr>
        <p:spPr>
          <a:xfrm>
            <a:off x="3401568" y="2240280"/>
            <a:ext cx="2468880" cy="960120"/>
          </a:xfrm>
          <a:prstGeom prst="rect">
            <a:avLst/>
          </a:prstGeom>
          <a:noFill/>
          <a:ln/>
        </p:spPr>
        <p:txBody>
          <a:bodyPr wrap="square" lIns="0" tIns="0" rIns="0" bIns="0" rtlCol="0" anchor="ctr"/>
          <a:lstStyle/>
          <a:p>
            <a:pPr indent="0" marL="0">
              <a:buNone/>
            </a:pPr>
            <a:r>
              <a:rPr lang="en-US" sz="1400" b="1" dirty="0">
                <a:solidFill>
                  <a:srgbClr val="0E9AA7"/>
                </a:solidFill>
                <a:latin typeface="Calibri" pitchFamily="34" charset="0"/>
                <a:ea typeface="Calibri" pitchFamily="34" charset="-122"/>
                <a:cs typeface="Calibri" pitchFamily="34" charset="-120"/>
              </a:rPr>
              <a:t>Observability</a:t>
            </a:r>
            <a:endParaRPr lang="en-US" sz="1400" dirty="0"/>
          </a:p>
          <a:p>
            <a:pPr indent="0" marL="0">
              <a:buNone/>
            </a:pPr>
            <a:r>
              <a:rPr lang="en-US" sz="1200" dirty="0">
                <a:solidFill>
                  <a:srgbClr val="1F2937"/>
                </a:solidFill>
                <a:latin typeface="Calibri" pitchFamily="34" charset="0"/>
                <a:ea typeface="Calibri" pitchFamily="34" charset="-122"/>
                <a:cs typeface="Calibri" pitchFamily="34" charset="-120"/>
              </a:rPr>
              <a:t>Counters, latency reservoir,</a:t>
            </a:r>
            <a:endParaRPr lang="en-US" sz="1400" dirty="0"/>
          </a:p>
          <a:p>
            <a:pPr indent="0" marL="0">
              <a:buNone/>
            </a:pPr>
            <a:r>
              <a:rPr lang="en-US" sz="1200" dirty="0">
                <a:solidFill>
                  <a:srgbClr val="1F2937"/>
                </a:solidFill>
                <a:latin typeface="Calibri" pitchFamily="34" charset="0"/>
                <a:ea typeface="Calibri" pitchFamily="34" charset="-122"/>
                <a:cs typeface="Calibri" pitchFamily="34" charset="-120"/>
              </a:rPr>
              <a:t>/metrics JSON, live dashboard</a:t>
            </a:r>
            <a:endParaRPr lang="en-US" sz="1400" dirty="0"/>
          </a:p>
        </p:txBody>
      </p:sp>
      <p:sp>
        <p:nvSpPr>
          <p:cNvPr id="13" name="Shape 11"/>
          <p:cNvSpPr/>
          <p:nvPr/>
        </p:nvSpPr>
        <p:spPr>
          <a:xfrm>
            <a:off x="6126480" y="2194560"/>
            <a:ext cx="2651760" cy="1051560"/>
          </a:xfrm>
          <a:prstGeom prst="roundRect">
            <a:avLst>
              <a:gd name="adj" fmla="val 6957"/>
            </a:avLst>
          </a:prstGeom>
          <a:solidFill>
            <a:srgbClr val="F3F6F9"/>
          </a:solidFill>
          <a:ln w="6350">
            <a:solidFill>
              <a:srgbClr val="F3F6F9"/>
            </a:solidFill>
            <a:prstDash val="solid"/>
          </a:ln>
        </p:spPr>
      </p:sp>
      <p:sp>
        <p:nvSpPr>
          <p:cNvPr id="14" name="Text 12"/>
          <p:cNvSpPr txBox="1"/>
          <p:nvPr/>
        </p:nvSpPr>
        <p:spPr>
          <a:xfrm>
            <a:off x="6236208" y="2240280"/>
            <a:ext cx="2468880" cy="960120"/>
          </a:xfrm>
          <a:prstGeom prst="rect">
            <a:avLst/>
          </a:prstGeom>
          <a:noFill/>
          <a:ln/>
        </p:spPr>
        <p:txBody>
          <a:bodyPr wrap="square" lIns="0" tIns="0" rIns="0" bIns="0" rtlCol="0" anchor="ctr"/>
          <a:lstStyle/>
          <a:p>
            <a:pPr indent="0" marL="0">
              <a:buNone/>
            </a:pPr>
            <a:r>
              <a:rPr lang="en-US" sz="1400" b="1" dirty="0">
                <a:solidFill>
                  <a:srgbClr val="0E9AA7"/>
                </a:solidFill>
                <a:latin typeface="Calibri" pitchFamily="34" charset="0"/>
                <a:ea typeface="Calibri" pitchFamily="34" charset="-122"/>
                <a:cs typeface="Calibri" pitchFamily="34" charset="-120"/>
              </a:rPr>
              <a:t>Verification</a:t>
            </a:r>
            <a:endParaRPr lang="en-US" sz="1400" dirty="0"/>
          </a:p>
          <a:p>
            <a:pPr indent="0" marL="0">
              <a:buNone/>
            </a:pPr>
            <a:r>
              <a:rPr lang="en-US" sz="1200" dirty="0">
                <a:solidFill>
                  <a:srgbClr val="1F2937"/>
                </a:solidFill>
                <a:latin typeface="Calibri" pitchFamily="34" charset="0"/>
                <a:ea typeface="Calibri" pitchFamily="34" charset="-122"/>
                <a:cs typeface="Calibri" pitchFamily="34" charset="-120"/>
              </a:rPr>
              <a:t>72 automated tests (37 C + 35 Python)</a:t>
            </a:r>
            <a:endParaRPr lang="en-US" sz="1400" dirty="0"/>
          </a:p>
          <a:p>
            <a:pPr indent="0" marL="0">
              <a:buNone/>
            </a:pPr>
            <a:r>
              <a:rPr lang="en-US" sz="1200" dirty="0">
                <a:solidFill>
                  <a:srgbClr val="1F2937"/>
                </a:solidFill>
                <a:latin typeface="Calibri" pitchFamily="34" charset="0"/>
                <a:ea typeface="Calibri" pitchFamily="34" charset="-122"/>
                <a:cs typeface="Calibri" pitchFamily="34" charset="-120"/>
              </a:rPr>
              <a:t>Python benchmark harness</a:t>
            </a:r>
            <a:endParaRPr lang="en-US" sz="1400" dirty="0"/>
          </a:p>
        </p:txBody>
      </p:sp>
      <p:sp>
        <p:nvSpPr>
          <p:cNvPr id="15" name="Shape 13"/>
          <p:cNvSpPr/>
          <p:nvPr/>
        </p:nvSpPr>
        <p:spPr>
          <a:xfrm>
            <a:off x="457200" y="3474720"/>
            <a:ext cx="4023360" cy="1188720"/>
          </a:xfrm>
          <a:prstGeom prst="roundRect">
            <a:avLst>
              <a:gd name="adj" fmla="val 6154"/>
            </a:avLst>
          </a:prstGeom>
          <a:solidFill>
            <a:srgbClr val="E3F3EA"/>
          </a:solidFill>
          <a:ln w="6350">
            <a:solidFill>
              <a:srgbClr val="E3F3EA"/>
            </a:solidFill>
            <a:prstDash val="solid"/>
          </a:ln>
        </p:spPr>
      </p:sp>
      <p:sp>
        <p:nvSpPr>
          <p:cNvPr id="16" name="Shape 14"/>
          <p:cNvSpPr/>
          <p:nvPr/>
        </p:nvSpPr>
        <p:spPr>
          <a:xfrm>
            <a:off x="4663440" y="3474720"/>
            <a:ext cx="4023360" cy="1188720"/>
          </a:xfrm>
          <a:prstGeom prst="roundRect">
            <a:avLst>
              <a:gd name="adj" fmla="val 6154"/>
            </a:avLst>
          </a:prstGeom>
          <a:solidFill>
            <a:srgbClr val="FCF1D9"/>
          </a:solidFill>
          <a:ln w="6350">
            <a:solidFill>
              <a:srgbClr val="FCF1D9"/>
            </a:solidFill>
            <a:prstDash val="solid"/>
          </a:ln>
        </p:spPr>
      </p:sp>
      <p:sp>
        <p:nvSpPr>
          <p:cNvPr id="17" name="Text 15"/>
          <p:cNvSpPr txBox="1"/>
          <p:nvPr/>
        </p:nvSpPr>
        <p:spPr>
          <a:xfrm>
            <a:off x="566928" y="3520440"/>
            <a:ext cx="3840480" cy="1097280"/>
          </a:xfrm>
          <a:prstGeom prst="rect">
            <a:avLst/>
          </a:prstGeom>
          <a:noFill/>
          <a:ln/>
        </p:spPr>
        <p:txBody>
          <a:bodyPr wrap="square" lIns="0" tIns="0" rIns="0" bIns="0" rtlCol="0" anchor="ctr"/>
          <a:lstStyle/>
          <a:p>
            <a:pPr indent="0" marL="0">
              <a:buNone/>
            </a:pPr>
            <a:r>
              <a:rPr lang="en-US" sz="1300" b="1" dirty="0">
                <a:solidFill>
                  <a:srgbClr val="2E8B57"/>
                </a:solidFill>
                <a:latin typeface="Calibri" pitchFamily="34" charset="0"/>
                <a:ea typeface="Calibri" pitchFamily="34" charset="-122"/>
                <a:cs typeface="Calibri" pitchFamily="34" charset="-120"/>
              </a:rPr>
              <a:t>Parser limits (implemented)</a:t>
            </a:r>
            <a:endParaRPr lang="en-US" sz="1300" dirty="0"/>
          </a:p>
          <a:p>
            <a:pPr indent="0" marL="0">
              <a:buNone/>
            </a:pPr>
            <a:r>
              <a:rPr lang="en-US" sz="1200" dirty="0">
                <a:solidFill>
                  <a:srgbClr val="1F2937"/>
                </a:solidFill>
                <a:latin typeface="Calibri" pitchFamily="34" charset="0"/>
                <a:ea typeface="Calibri" pitchFamily="34" charset="-122"/>
                <a:cs typeface="Calibri" pitchFamily="34" charset="-120"/>
              </a:rPr>
              <a:t>URI ≤ 2,047 B · ≤ 64 headers · name &lt; 128 B, value &lt; 2,048 B (else 431) · chunked → 501 · Expect: 100-continue → 417</a:t>
            </a:r>
            <a:endParaRPr lang="en-US" sz="1300" dirty="0"/>
          </a:p>
        </p:txBody>
      </p:sp>
      <p:sp>
        <p:nvSpPr>
          <p:cNvPr id="18" name="Text 16"/>
          <p:cNvSpPr txBox="1"/>
          <p:nvPr/>
        </p:nvSpPr>
        <p:spPr>
          <a:xfrm>
            <a:off x="4773168" y="3520440"/>
            <a:ext cx="3840480" cy="1097280"/>
          </a:xfrm>
          <a:prstGeom prst="rect">
            <a:avLst/>
          </a:prstGeom>
          <a:noFill/>
          <a:ln/>
        </p:spPr>
        <p:txBody>
          <a:bodyPr wrap="square" lIns="0" tIns="0" rIns="0" bIns="0" rtlCol="0" anchor="ctr"/>
          <a:lstStyle/>
          <a:p>
            <a:pPr indent="0" marL="0">
              <a:buNone/>
            </a:pPr>
            <a:r>
              <a:rPr lang="en-US" sz="1300" b="1" dirty="0">
                <a:solidFill>
                  <a:srgbClr val="9A5B00"/>
                </a:solidFill>
                <a:latin typeface="Calibri" pitchFamily="34" charset="0"/>
                <a:ea typeface="Calibri" pitchFamily="34" charset="-122"/>
                <a:cs typeface="Calibri" pitchFamily="34" charset="-120"/>
              </a:rPr>
              <a:t>Not implemented / future</a:t>
            </a:r>
            <a:endParaRPr lang="en-US" sz="1300" dirty="0"/>
          </a:p>
          <a:p>
            <a:pPr indent="0" marL="0">
              <a:buNone/>
            </a:pPr>
            <a:r>
              <a:rPr lang="en-US" sz="1200" dirty="0">
                <a:solidFill>
                  <a:srgbClr val="1F2937"/>
                </a:solidFill>
                <a:latin typeface="Calibri" pitchFamily="34" charset="0"/>
                <a:ea typeface="Calibri" pitchFamily="34" charset="-122"/>
                <a:cs typeface="Calibri" pitchFamily="34" charset="-120"/>
              </a:rPr>
              <a:t>TLS, HTTP/2, range requests, chunked bodies, compression, virtual hosts, epoll event loop. Full RFC 9112 compliance is not claimed.</a:t>
            </a:r>
            <a:endParaRPr lang="en-US" sz="1300" dirty="0"/>
          </a:p>
        </p:txBody>
      </p:sp>
      <p:sp>
        <p:nvSpPr>
          <p:cNvPr id="19" name="Text 17"/>
          <p:cNvSpPr txBox="1"/>
          <p:nvPr/>
        </p:nvSpPr>
        <p:spPr>
          <a:xfrm>
            <a:off x="457200" y="4800600"/>
            <a:ext cx="7680960" cy="228600"/>
          </a:xfrm>
          <a:prstGeom prst="rect">
            <a:avLst/>
          </a:prstGeom>
          <a:noFill/>
          <a:ln/>
        </p:spPr>
        <p:txBody>
          <a:bodyPr wrap="square" lIns="0" tIns="0" rIns="0" bIns="0" rtlCol="0" anchor="ctr"/>
          <a:lstStyle/>
          <a:p>
            <a:pPr indent="0" marL="0">
              <a:buNone/>
            </a:pPr>
            <a:r>
              <a:rPr lang="en-US" sz="1000" dirty="0">
                <a:solidFill>
                  <a:srgbClr val="5B6676"/>
                </a:solidFill>
                <a:latin typeface="Calibri" pitchFamily="34" charset="0"/>
                <a:ea typeface="Calibri" pitchFamily="34" charset="-122"/>
                <a:cs typeface="Calibri" pitchFamily="34" charset="-120"/>
              </a:rPr>
              <a:t>Source: CN_Project_Final_Report (BCSE308P), Sections 1.4, 4.1–4.3 (3,405 lines in src/, 12 files)</a:t>
            </a:r>
            <a:endParaRPr lang="en-US" sz="1000" dirty="0"/>
          </a:p>
        </p:txBody>
      </p:sp>
      <p:sp>
        <p:nvSpPr>
          <p:cNvPr id="20" name="Text 18"/>
          <p:cNvSpPr txBox="1"/>
          <p:nvPr/>
        </p:nvSpPr>
        <p:spPr>
          <a:xfrm>
            <a:off x="8229600" y="4800600"/>
            <a:ext cx="457200" cy="228600"/>
          </a:xfrm>
          <a:prstGeom prst="rect">
            <a:avLst/>
          </a:prstGeom>
          <a:noFill/>
          <a:ln/>
        </p:spPr>
        <p:txBody>
          <a:bodyPr wrap="square" lIns="0" tIns="0" rIns="0" bIns="0" rtlCol="0" anchor="ctr"/>
          <a:lstStyle/>
          <a:p>
            <a:pPr algn="r" indent="0" marL="0">
              <a:buNone/>
            </a:pPr>
            <a:r>
              <a:rPr lang="en-US" sz="1000" dirty="0">
                <a:solidFill>
                  <a:srgbClr val="5B6676"/>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8229600" cy="548640"/>
          </a:xfrm>
          <a:prstGeom prst="rect">
            <a:avLst/>
          </a:prstGeom>
          <a:noFill/>
          <a:ln/>
        </p:spPr>
        <p:txBody>
          <a:bodyPr wrap="square" lIns="0" tIns="0" rIns="0" bIns="0" rtlCol="0" anchor="ctr"/>
          <a:lstStyle/>
          <a:p>
            <a:pPr indent="0" marL="0">
              <a:buNone/>
            </a:pPr>
            <a:r>
              <a:rPr lang="en-US" sz="2800" b="1" dirty="0">
                <a:solidFill>
                  <a:srgbClr val="0B1F3A"/>
                </a:solidFill>
                <a:latin typeface="Cambria" pitchFamily="34" charset="0"/>
                <a:ea typeface="Cambria" pitchFamily="34" charset="-122"/>
                <a:cs typeface="Cambria" pitchFamily="34" charset="-120"/>
              </a:rPr>
              <a:t>Scenarios and metrics</a:t>
            </a:r>
            <a:endParaRPr lang="en-US" sz="28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57200" y="1005840"/>
          <a:ext cx="4114800" cy="914400"/>
        </p:xfrm>
        <a:graphic>
          <a:graphicData uri="http://schemas.openxmlformats.org/drawingml/2006/table">
            <a:tbl>
              <a:tblPr/>
              <a:tblGrid>
                <a:gridCol w="1051560"/>
                <a:gridCol w="3063240"/>
              </a:tblGrid>
              <a:tr h="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Setup</a:t>
                      </a:r>
                      <a:endParaRPr lang="en-US" sz="1200" dirty="0">
                        <a:latin typeface="Calibri" charset="0"/>
                        <a:ea typeface="Calibri" charset="0"/>
                        <a:cs typeface="Calibri" charset="0"/>
                      </a:endParaRPr>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0B1F3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Value</a:t>
                      </a:r>
                      <a:endParaRPr lang="en-US" sz="1200" dirty="0">
                        <a:latin typeface="Calibri" charset="0"/>
                        <a:ea typeface="Calibri" charset="0"/>
                        <a:cs typeface="Calibri" charset="0"/>
                      </a:endParaRPr>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0B1F3A"/>
                    </a:solidFill>
                  </a:tcPr>
                </a:tc>
              </a:tr>
              <a:tr h="0">
                <a:tc>
                  <a:txBody>
                    <a:bodyPr/>
                    <a:lstStyle/>
                    <a:p>
                      <a:pPr indent="0" marL="0">
                        <a:buNone/>
                      </a:pPr>
                      <a:r>
                        <a:rPr lang="en-US" sz="1200" b="1" dirty="0">
                          <a:solidFill>
                            <a:srgbClr val="1F2937"/>
                          </a:solidFill>
                          <a:latin typeface="Calibri" pitchFamily="34" charset="0"/>
                          <a:ea typeface="Calibri" pitchFamily="34" charset="-122"/>
                          <a:cs typeface="Calibri" pitchFamily="34" charset="-120"/>
                        </a:rPr>
                        <a:t>Concurrency</a:t>
                      </a:r>
                      <a:endParaRPr lang="en-US" sz="1200" dirty="0">
                        <a:latin typeface="Calibri" charset="0"/>
                        <a:ea typeface="Calibri" charset="0"/>
                        <a:cs typeface="Calibri" charset="0"/>
                      </a:endParaRPr>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2, 8, 32, 64 closed-loop clients</a:t>
                      </a:r>
                      <a:endParaRPr lang="en-US" sz="1200" dirty="0">
                        <a:latin typeface="Calibri" charset="0"/>
                        <a:ea typeface="Calibri" charset="0"/>
                        <a:cs typeface="Calibri" charset="0"/>
                      </a:endParaRPr>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tcPr>
                </a:tc>
              </a:tr>
              <a:tr h="0">
                <a:tc>
                  <a:txBody>
                    <a:bodyPr/>
                    <a:lstStyle/>
                    <a:p>
                      <a:pPr indent="0" marL="0">
                        <a:buNone/>
                      </a:pPr>
                      <a:r>
                        <a:rPr lang="en-US" sz="1200" b="1" dirty="0">
                          <a:solidFill>
                            <a:srgbClr val="1F2937"/>
                          </a:solidFill>
                          <a:latin typeface="Calibri" pitchFamily="34" charset="0"/>
                          <a:ea typeface="Calibri" pitchFamily="34" charset="-122"/>
                          <a:cs typeface="Calibri" pitchFamily="34" charset="-120"/>
                        </a:rPr>
                        <a:t>Trials</a:t>
                      </a:r>
                      <a:endParaRPr lang="en-US" sz="1200" dirty="0">
                        <a:latin typeface="Calibri" charset="0"/>
                        <a:ea typeface="Calibri" charset="0"/>
                        <a:cs typeface="Calibri" charset="0"/>
                      </a:endParaRPr>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5 × 10-second trials per concurrency/policy condition; 20 trials per policy across four concurrency levels.</a:t>
                      </a:r>
                      <a:endParaRPr lang="en-US" sz="1200" dirty="0">
                        <a:latin typeface="Calibri" charset="0"/>
                        <a:ea typeface="Calibri" charset="0"/>
                        <a:cs typeface="Calibri" charset="0"/>
                      </a:endParaRPr>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tcPr>
                </a:tc>
              </a:tr>
              <a:tr h="0">
                <a:tc>
                  <a:txBody>
                    <a:bodyPr/>
                    <a:lstStyle/>
                    <a:p>
                      <a:pPr indent="0" marL="0">
                        <a:buNone/>
                      </a:pPr>
                      <a:r>
                        <a:rPr lang="en-US" sz="1200" b="1" dirty="0">
                          <a:solidFill>
                            <a:srgbClr val="1F2937"/>
                          </a:solidFill>
                          <a:latin typeface="Calibri" pitchFamily="34" charset="0"/>
                          <a:ea typeface="Calibri" pitchFamily="34" charset="-122"/>
                          <a:cs typeface="Calibri" pitchFamily="34" charset="-120"/>
                        </a:rPr>
                        <a:t>Workload</a:t>
                      </a:r>
                      <a:endParaRPr lang="en-US" sz="1200" dirty="0">
                        <a:latin typeface="Calibri" charset="0"/>
                        <a:ea typeface="Calibri" charset="0"/>
                        <a:cs typeface="Calibri" charset="0"/>
                      </a:endParaRPr>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GET /health (89 B), up to 50 requests per keep-alive connection</a:t>
                      </a:r>
                      <a:endParaRPr lang="en-US" sz="1200" dirty="0">
                        <a:latin typeface="Calibri" charset="0"/>
                        <a:ea typeface="Calibri" charset="0"/>
                        <a:cs typeface="Calibri" charset="0"/>
                      </a:endParaRPr>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tcPr>
                </a:tc>
              </a:tr>
              <a:tr h="0">
                <a:tc>
                  <a:txBody>
                    <a:bodyPr/>
                    <a:lstStyle/>
                    <a:p>
                      <a:pPr indent="0" marL="0">
                        <a:buNone/>
                      </a:pPr>
                      <a:r>
                        <a:rPr lang="en-US" sz="1200" b="1" dirty="0">
                          <a:solidFill>
                            <a:srgbClr val="1F2937"/>
                          </a:solidFill>
                          <a:latin typeface="Calibri" pitchFamily="34" charset="0"/>
                          <a:ea typeface="Calibri" pitchFamily="34" charset="-122"/>
                          <a:cs typeface="Calibri" pitchFamily="34" charset="-120"/>
                        </a:rPr>
                        <a:t>Server</a:t>
                      </a:r>
                      <a:endParaRPr lang="en-US" sz="1200" dirty="0">
                        <a:latin typeface="Calibri" charset="0"/>
                        <a:ea typeface="Calibri" charset="0"/>
                        <a:cs typeface="Calibri" charset="0"/>
                      </a:endParaRPr>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4 workers, queue 64; QLAAC off vs on (-a)</a:t>
                      </a:r>
                      <a:endParaRPr lang="en-US" sz="1200" dirty="0">
                        <a:latin typeface="Calibri" charset="0"/>
                        <a:ea typeface="Calibri" charset="0"/>
                        <a:cs typeface="Calibri" charset="0"/>
                      </a:endParaRPr>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tcPr>
                </a:tc>
              </a:tr>
              <a:tr h="0">
                <a:tc>
                  <a:txBody>
                    <a:bodyPr/>
                    <a:lstStyle/>
                    <a:p>
                      <a:pPr indent="0" marL="0">
                        <a:buNone/>
                      </a:pPr>
                      <a:r>
                        <a:rPr lang="en-US" sz="1200" b="1" dirty="0">
                          <a:solidFill>
                            <a:srgbClr val="1F2937"/>
                          </a:solidFill>
                          <a:latin typeface="Calibri" pitchFamily="34" charset="0"/>
                          <a:ea typeface="Calibri" pitchFamily="34" charset="-122"/>
                          <a:cs typeface="Calibri" pitchFamily="34" charset="-120"/>
                        </a:rPr>
                        <a:t>Environment</a:t>
                      </a:r>
                      <a:endParaRPr lang="en-US" sz="1200" dirty="0">
                        <a:latin typeface="Calibri" charset="0"/>
                        <a:ea typeface="Calibri" charset="0"/>
                        <a:cs typeface="Calibri" charset="0"/>
                      </a:endParaRPr>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Single host, loopback 127.0.0.1:8080, Python load generator</a:t>
                      </a:r>
                      <a:endParaRPr lang="en-US" sz="1200" dirty="0">
                        <a:latin typeface="Calibri" charset="0"/>
                        <a:ea typeface="Calibri" charset="0"/>
                        <a:cs typeface="Calibri" charset="0"/>
                      </a:endParaRPr>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tcPr>
                </a:tc>
              </a:tr>
              <a:tr h="0">
                <a:tc>
                  <a:txBody>
                    <a:bodyPr/>
                    <a:lstStyle/>
                    <a:p>
                      <a:pPr indent="0" marL="0">
                        <a:buNone/>
                      </a:pPr>
                      <a:r>
                        <a:rPr lang="en-US" sz="1200" b="1" dirty="0">
                          <a:solidFill>
                            <a:srgbClr val="1F2937"/>
                          </a:solidFill>
                          <a:latin typeface="Calibri" pitchFamily="34" charset="0"/>
                          <a:ea typeface="Calibri" pitchFamily="34" charset="-122"/>
                          <a:cs typeface="Calibri" pitchFamily="34" charset="-120"/>
                        </a:rPr>
                        <a:t>Reporting</a:t>
                      </a:r>
                      <a:endParaRPr lang="en-US" sz="1200" dirty="0">
                        <a:latin typeface="Calibri" charset="0"/>
                        <a:ea typeface="Calibri" charset="0"/>
                        <a:cs typeface="Calibri" charset="0"/>
                      </a:endParaRPr>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Mean ± sample SD (n−1) over the 5 trials</a:t>
                      </a:r>
                      <a:endParaRPr lang="en-US" sz="1200" dirty="0">
                        <a:latin typeface="Calibri" charset="0"/>
                        <a:ea typeface="Calibri" charset="0"/>
                        <a:cs typeface="Calibri" charset="0"/>
                      </a:endParaRPr>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tcPr>
                </a:tc>
              </a:tr>
            </a:tbl>
          </a:graphicData>
        </a:graphic>
      </p:graphicFrame>
      <p:sp>
        <p:nvSpPr>
          <p:cNvPr id="4" name="Shape 1"/>
          <p:cNvSpPr/>
          <p:nvPr/>
        </p:nvSpPr>
        <p:spPr>
          <a:xfrm>
            <a:off x="4754880" y="1005840"/>
            <a:ext cx="3931920" cy="2880360"/>
          </a:xfrm>
          <a:prstGeom prst="roundRect">
            <a:avLst>
              <a:gd name="adj" fmla="val 2540"/>
            </a:avLst>
          </a:prstGeom>
          <a:solidFill>
            <a:srgbClr val="F3F6F9"/>
          </a:solidFill>
          <a:ln w="6350">
            <a:solidFill>
              <a:srgbClr val="F3F6F9"/>
            </a:solidFill>
            <a:prstDash val="solid"/>
          </a:ln>
        </p:spPr>
      </p:sp>
      <p:sp>
        <p:nvSpPr>
          <p:cNvPr id="5" name="Text 2"/>
          <p:cNvSpPr txBox="1"/>
          <p:nvPr/>
        </p:nvSpPr>
        <p:spPr>
          <a:xfrm>
            <a:off x="4892040" y="1051560"/>
            <a:ext cx="3657600" cy="274320"/>
          </a:xfrm>
          <a:prstGeom prst="rect">
            <a:avLst/>
          </a:prstGeom>
          <a:noFill/>
          <a:ln/>
        </p:spPr>
        <p:txBody>
          <a:bodyPr wrap="square" lIns="0" tIns="0" rIns="0" bIns="0" rtlCol="0" anchor="ctr"/>
          <a:lstStyle/>
          <a:p>
            <a:pPr indent="0" marL="0">
              <a:buNone/>
            </a:pPr>
            <a:r>
              <a:rPr lang="en-US" sz="1400" b="1" dirty="0">
                <a:solidFill>
                  <a:srgbClr val="0E9AA7"/>
                </a:solidFill>
                <a:latin typeface="Calibri" pitchFamily="34" charset="0"/>
                <a:ea typeface="Calibri" pitchFamily="34" charset="-122"/>
                <a:cs typeface="Calibri" pitchFamily="34" charset="-120"/>
              </a:rPr>
              <a:t>Metrics</a:t>
            </a:r>
            <a:endParaRPr lang="en-US" sz="1400" dirty="0"/>
          </a:p>
        </p:txBody>
      </p:sp>
      <p:sp>
        <p:nvSpPr>
          <p:cNvPr id="6" name="Text 3"/>
          <p:cNvSpPr txBox="1"/>
          <p:nvPr/>
        </p:nvSpPr>
        <p:spPr>
          <a:xfrm>
            <a:off x="4892040" y="1371600"/>
            <a:ext cx="3657600" cy="246888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rgbClr val="1F2937"/>
                </a:solidFill>
                <a:latin typeface="Calibri" pitchFamily="34" charset="0"/>
                <a:ea typeface="Calibri" pitchFamily="34" charset="-122"/>
                <a:cs typeface="Calibri" pitchFamily="34" charset="-120"/>
              </a:rPr>
              <a:t>Successful throughput: 2xx responses per second</a:t>
            </a:r>
            <a:endParaRPr lang="en-US" sz="1500" dirty="0"/>
          </a:p>
          <a:p>
            <a:pPr marL="342900" indent="-342900">
              <a:spcAft>
                <a:spcPts val="600"/>
              </a:spcAft>
              <a:buSzPct val="100000"/>
              <a:buChar char="•"/>
            </a:pPr>
            <a:r>
              <a:rPr lang="en-US" sz="1500" dirty="0">
                <a:solidFill>
                  <a:srgbClr val="1F2937"/>
                </a:solidFill>
                <a:latin typeface="Calibri" pitchFamily="34" charset="0"/>
                <a:ea typeface="Calibri" pitchFamily="34" charset="-122"/>
                <a:cs typeface="Calibri" pitchFamily="34" charset="-120"/>
              </a:rPr>
              <a:t>p50 / p95 / p99 latency of 2xx responses (ms)</a:t>
            </a:r>
            <a:endParaRPr lang="en-US" sz="1500" dirty="0"/>
          </a:p>
          <a:p>
            <a:pPr marL="342900" indent="-342900">
              <a:spcAft>
                <a:spcPts val="600"/>
              </a:spcAft>
              <a:buSzPct val="100000"/>
              <a:buChar char="•"/>
            </a:pPr>
            <a:r>
              <a:rPr lang="en-US" sz="1500" dirty="0">
                <a:solidFill>
                  <a:srgbClr val="1F2937"/>
                </a:solidFill>
                <a:latin typeface="Calibri" pitchFamily="34" charset="0"/>
                <a:ea typeface="Calibri" pitchFamily="34" charset="-122"/>
                <a:cs typeface="Calibri" pitchFamily="34" charset="-120"/>
              </a:rPr>
              <a:t>HTTP 5xx / 503 count and shedding rate = 5xx ÷ (2xx + 5xx)</a:t>
            </a:r>
            <a:endParaRPr lang="en-US" sz="1500" dirty="0"/>
          </a:p>
          <a:p>
            <a:pPr marL="342900" indent="-342900">
              <a:spcAft>
                <a:spcPts val="600"/>
              </a:spcAft>
              <a:buSzPct val="100000"/>
              <a:buChar char="•"/>
            </a:pPr>
            <a:r>
              <a:rPr lang="en-US" sz="1500" dirty="0">
                <a:solidFill>
                  <a:srgbClr val="1F2937"/>
                </a:solidFill>
                <a:latin typeface="Calibri" pitchFamily="34" charset="0"/>
                <a:ea typeface="Calibri" pitchFamily="34" charset="-122"/>
                <a:cs typeface="Calibri" pitchFamily="34" charset="-120"/>
              </a:rPr>
              <a:t>Timeouts and transport errors counted separately</a:t>
            </a:r>
            <a:endParaRPr lang="en-US" sz="1500" dirty="0"/>
          </a:p>
        </p:txBody>
      </p:sp>
      <p:sp>
        <p:nvSpPr>
          <p:cNvPr id="7" name="Shape 4"/>
          <p:cNvSpPr/>
          <p:nvPr/>
        </p:nvSpPr>
        <p:spPr>
          <a:xfrm>
            <a:off x="457200" y="4023360"/>
            <a:ext cx="8229600" cy="685800"/>
          </a:xfrm>
          <a:prstGeom prst="roundRect">
            <a:avLst>
              <a:gd name="adj" fmla="val 10667"/>
            </a:avLst>
          </a:prstGeom>
          <a:solidFill>
            <a:srgbClr val="FCF1D9"/>
          </a:solidFill>
          <a:ln w="6350">
            <a:solidFill>
              <a:srgbClr val="FCF1D9"/>
            </a:solidFill>
            <a:prstDash val="solid"/>
          </a:ln>
        </p:spPr>
      </p:sp>
      <p:sp>
        <p:nvSpPr>
          <p:cNvPr id="8" name="Text 5"/>
          <p:cNvSpPr txBox="1"/>
          <p:nvPr/>
        </p:nvSpPr>
        <p:spPr>
          <a:xfrm>
            <a:off x="594360" y="4041648"/>
            <a:ext cx="7955280" cy="640080"/>
          </a:xfrm>
          <a:prstGeom prst="rect">
            <a:avLst/>
          </a:prstGeom>
          <a:noFill/>
          <a:ln/>
        </p:spPr>
        <p:txBody>
          <a:bodyPr wrap="square" lIns="0" tIns="0" rIns="0" bIns="0" rtlCol="0" anchor="ctr"/>
          <a:lstStyle/>
          <a:p>
            <a:pPr indent="0" marL="0">
              <a:buNone/>
            </a:pPr>
            <a:r>
              <a:rPr lang="en-US" sz="1300" dirty="0">
                <a:solidFill>
                  <a:srgbClr val="1F2937"/>
                </a:solidFill>
                <a:latin typeface="Calibri" pitchFamily="34" charset="0"/>
                <a:ea typeface="Calibri" pitchFamily="34" charset="-122"/>
                <a:cs typeface="Calibri" pitchFamily="34" charset="-120"/>
              </a:rPr>
              <a:t>503s and other failures are not counted as throughput. Latency percentiles describe admitted (2xx) requests only, so read them together with the shedding rate.</a:t>
            </a:r>
            <a:endParaRPr lang="en-US" sz="1300" dirty="0"/>
          </a:p>
        </p:txBody>
      </p:sp>
      <p:sp>
        <p:nvSpPr>
          <p:cNvPr id="9" name="Text 6"/>
          <p:cNvSpPr txBox="1"/>
          <p:nvPr/>
        </p:nvSpPr>
        <p:spPr>
          <a:xfrm>
            <a:off x="457200" y="4800600"/>
            <a:ext cx="7680960" cy="228600"/>
          </a:xfrm>
          <a:prstGeom prst="rect">
            <a:avLst/>
          </a:prstGeom>
          <a:noFill/>
          <a:ln/>
        </p:spPr>
        <p:txBody>
          <a:bodyPr wrap="square" lIns="0" tIns="0" rIns="0" bIns="0" rtlCol="0" anchor="ctr"/>
          <a:lstStyle/>
          <a:p>
            <a:pPr indent="0" marL="0">
              <a:buNone/>
            </a:pPr>
            <a:r>
              <a:rPr lang="en-US" sz="1000" dirty="0">
                <a:solidFill>
                  <a:srgbClr val="5B6676"/>
                </a:solidFill>
                <a:latin typeface="Calibri" pitchFamily="34" charset="0"/>
                <a:ea typeface="Calibri" pitchFamily="34" charset="-122"/>
                <a:cs typeface="Calibri" pitchFamily="34" charset="-120"/>
              </a:rPr>
              <a:t>Source: CN_Project_Final_Report (BCSE308P), Sections 4.2, 5.1, 5.2 (Tables 4.2, 5.1)</a:t>
            </a:r>
            <a:endParaRPr lang="en-US" sz="1000" dirty="0"/>
          </a:p>
        </p:txBody>
      </p:sp>
      <p:sp>
        <p:nvSpPr>
          <p:cNvPr id="10" name="Text 7"/>
          <p:cNvSpPr txBox="1"/>
          <p:nvPr/>
        </p:nvSpPr>
        <p:spPr>
          <a:xfrm>
            <a:off x="8229600" y="4800600"/>
            <a:ext cx="457200" cy="228600"/>
          </a:xfrm>
          <a:prstGeom prst="rect">
            <a:avLst/>
          </a:prstGeom>
          <a:noFill/>
          <a:ln/>
        </p:spPr>
        <p:txBody>
          <a:bodyPr wrap="square" lIns="0" tIns="0" rIns="0" bIns="0" rtlCol="0" anchor="ctr"/>
          <a:lstStyle/>
          <a:p>
            <a:pPr algn="r" indent="0" marL="0">
              <a:buNone/>
            </a:pPr>
            <a:r>
              <a:rPr lang="en-US" sz="1000" dirty="0">
                <a:solidFill>
                  <a:srgbClr val="5B6676"/>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8229600" cy="548640"/>
          </a:xfrm>
          <a:prstGeom prst="rect">
            <a:avLst/>
          </a:prstGeom>
          <a:noFill/>
          <a:ln/>
        </p:spPr>
        <p:txBody>
          <a:bodyPr wrap="square" lIns="0" tIns="0" rIns="0" bIns="0" rtlCol="0" anchor="ctr"/>
          <a:lstStyle/>
          <a:p>
            <a:pPr indent="0" marL="0">
              <a:buNone/>
            </a:pPr>
            <a:r>
              <a:rPr lang="en-US" sz="2800" b="1" dirty="0">
                <a:solidFill>
                  <a:srgbClr val="0B1F3A"/>
                </a:solidFill>
                <a:latin typeface="Cambria" pitchFamily="34" charset="0"/>
                <a:ea typeface="Cambria" pitchFamily="34" charset="-122"/>
                <a:cs typeface="Cambria" pitchFamily="34" charset="-120"/>
              </a:rPr>
              <a:t>Results: baseline vs QLAAC</a:t>
            </a:r>
            <a:endParaRPr lang="en-US" sz="2800" dirty="0"/>
          </a:p>
        </p:txBody>
      </p:sp>
      <p:graphicFrame>
        <p:nvGraphicFramePr>
          <p:cNvPr id="3" name="Chart 0" descr=""/>
          <p:cNvGraphicFramePr/>
          <p:nvPr/>
        </p:nvGraphicFramePr>
        <p:xfrm>
          <a:off x="365760" y="868680"/>
          <a:ext cx="4206240" cy="2514600"/>
        </p:xfrm>
        <a:graphic xmlns:a="http://schemas.openxmlformats.org/drawingml/2006/main">
          <a:graphicData uri="http://schemas.openxmlformats.org/drawingml/2006/chart">
            <c:chart xmlns:c="http://schemas.openxmlformats.org/drawingml/2006/chart" r:id="rId1"/>
          </a:graphicData>
        </a:graphic>
      </p:graphicFrame>
      <p:graphicFrame>
        <p:nvGraphicFramePr>
          <p:cNvPr id="4" name="Chart 1" descr=""/>
          <p:cNvGraphicFramePr/>
          <p:nvPr/>
        </p:nvGraphicFramePr>
        <p:xfrm>
          <a:off x="4572000" y="868680"/>
          <a:ext cx="4206240" cy="2514600"/>
        </p:xfrm>
        <a:graphic xmlns:a="http://schemas.openxmlformats.org/drawingml/2006/main">
          <a:graphicData uri="http://schemas.openxmlformats.org/drawingml/2006/chart">
            <c:chart xmlns:c="http://schemas.openxmlformats.org/drawingml/2006/chart" r:id="rId2"/>
          </a:graphicData>
        </a:graphic>
      </p:graphicFrame>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457200" y="3456432"/>
          <a:ext cx="4023360" cy="914400"/>
        </p:xfrm>
        <a:graphic>
          <a:graphicData uri="http://schemas.openxmlformats.org/drawingml/2006/table">
            <a:tbl>
              <a:tblPr/>
              <a:tblGrid>
                <a:gridCol w="914400"/>
                <a:gridCol w="822960"/>
                <a:gridCol w="731520"/>
                <a:gridCol w="777240"/>
                <a:gridCol w="777240"/>
              </a:tblGrid>
              <a:tr h="0">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Change</a:t>
                      </a:r>
                      <a:endParaRPr lang="en-US" sz="1100" dirty="0">
                        <a:latin typeface="Calibri" charset="0"/>
                        <a:ea typeface="Calibri" charset="0"/>
                        <a:cs typeface="Calibri" charset="0"/>
                      </a:endParaRPr>
                    </a:p>
                  </a:txBody>
                  <a:tcPr marL="36576" marR="36576" marT="36576" marB="36576"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0B1F3A"/>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C=2</a:t>
                      </a:r>
                      <a:endParaRPr lang="en-US" sz="1100" dirty="0">
                        <a:latin typeface="Calibri" charset="0"/>
                        <a:ea typeface="Calibri" charset="0"/>
                        <a:cs typeface="Calibri" charset="0"/>
                      </a:endParaRPr>
                    </a:p>
                  </a:txBody>
                  <a:tcPr marL="36576" marR="36576" marT="36576" marB="36576"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0B1F3A"/>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C=8</a:t>
                      </a:r>
                      <a:endParaRPr lang="en-US" sz="1100" dirty="0">
                        <a:latin typeface="Calibri" charset="0"/>
                        <a:ea typeface="Calibri" charset="0"/>
                        <a:cs typeface="Calibri" charset="0"/>
                      </a:endParaRPr>
                    </a:p>
                  </a:txBody>
                  <a:tcPr marL="36576" marR="36576" marT="36576" marB="36576"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0B1F3A"/>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C=32</a:t>
                      </a:r>
                      <a:endParaRPr lang="en-US" sz="1100" dirty="0">
                        <a:latin typeface="Calibri" charset="0"/>
                        <a:ea typeface="Calibri" charset="0"/>
                        <a:cs typeface="Calibri" charset="0"/>
                      </a:endParaRPr>
                    </a:p>
                  </a:txBody>
                  <a:tcPr marL="36576" marR="36576" marT="36576" marB="36576"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0B1F3A"/>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C=64</a:t>
                      </a:r>
                      <a:endParaRPr lang="en-US" sz="1100" dirty="0">
                        <a:latin typeface="Calibri" charset="0"/>
                        <a:ea typeface="Calibri" charset="0"/>
                        <a:cs typeface="Calibri" charset="0"/>
                      </a:endParaRPr>
                    </a:p>
                  </a:txBody>
                  <a:tcPr marL="36576" marR="36576" marT="36576" marB="36576"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0B1F3A"/>
                    </a:solidFill>
                  </a:tcPr>
                </a:tc>
              </a:tr>
              <a:tr h="0">
                <a:tc>
                  <a:txBody>
                    <a:bodyPr/>
                    <a:lstStyle/>
                    <a:p>
                      <a:pPr indent="0" marL="0">
                        <a:buNone/>
                      </a:pPr>
                      <a:r>
                        <a:rPr lang="en-US" sz="1100" b="1" dirty="0">
                          <a:solidFill>
                            <a:srgbClr val="1F2937"/>
                          </a:solidFill>
                          <a:latin typeface="Calibri" pitchFamily="34" charset="0"/>
                          <a:ea typeface="Calibri" pitchFamily="34" charset="-122"/>
                          <a:cs typeface="Calibri" pitchFamily="34" charset="-120"/>
                        </a:rPr>
                        <a:t>Throughput</a:t>
                      </a:r>
                      <a:endParaRPr lang="en-US" sz="1100" dirty="0">
                        <a:latin typeface="Calibri" charset="0"/>
                        <a:ea typeface="Calibri" charset="0"/>
                        <a:cs typeface="Calibri" charset="0"/>
                      </a:endParaRPr>
                    </a:p>
                  </a:txBody>
                  <a:tcPr marL="36576" marR="36576" marT="36576" marB="36576"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tcPr>
                </a:tc>
                <a:tc>
                  <a:txBody>
                    <a:bodyPr/>
                    <a:lstStyle/>
                    <a:p>
                      <a:pPr algn="ctr" indent="0" marL="0">
                        <a:buNone/>
                      </a:pPr>
                      <a:r>
                        <a:rPr lang="en-US" sz="1100" b="1" dirty="0">
                          <a:solidFill>
                            <a:srgbClr val="5B6676"/>
                          </a:solidFill>
                          <a:latin typeface="Calibri" pitchFamily="34" charset="0"/>
                          <a:ea typeface="Calibri" pitchFamily="34" charset="-122"/>
                          <a:cs typeface="Calibri" pitchFamily="34" charset="-120"/>
                        </a:rPr>
                        <a:t>+5.3% (n.s.)</a:t>
                      </a:r>
                      <a:endParaRPr lang="en-US" sz="1100" dirty="0">
                        <a:latin typeface="Calibri" charset="0"/>
                        <a:ea typeface="Calibri" charset="0"/>
                        <a:cs typeface="Calibri" charset="0"/>
                      </a:endParaRPr>
                    </a:p>
                  </a:txBody>
                  <a:tcPr marL="36576" marR="36576" marT="36576" marB="36576"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tcPr>
                </a:tc>
                <a:tc>
                  <a:txBody>
                    <a:bodyPr/>
                    <a:lstStyle/>
                    <a:p>
                      <a:pPr algn="ctr" indent="0" marL="0">
                        <a:buNone/>
                      </a:pPr>
                      <a:r>
                        <a:rPr lang="en-US" sz="1100" b="1" dirty="0">
                          <a:solidFill>
                            <a:srgbClr val="C8453B"/>
                          </a:solidFill>
                          <a:latin typeface="Calibri" pitchFamily="34" charset="0"/>
                          <a:ea typeface="Calibri" pitchFamily="34" charset="-122"/>
                          <a:cs typeface="Calibri" pitchFamily="34" charset="-120"/>
                        </a:rPr>
                        <a:t>−67.9%</a:t>
                      </a:r>
                      <a:endParaRPr lang="en-US" sz="1100" dirty="0">
                        <a:latin typeface="Calibri" charset="0"/>
                        <a:ea typeface="Calibri" charset="0"/>
                        <a:cs typeface="Calibri" charset="0"/>
                      </a:endParaRPr>
                    </a:p>
                  </a:txBody>
                  <a:tcPr marL="36576" marR="36576" marT="36576" marB="36576"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tcPr>
                </a:tc>
                <a:tc>
                  <a:txBody>
                    <a:bodyPr/>
                    <a:lstStyle/>
                    <a:p>
                      <a:pPr algn="ctr" indent="0" marL="0">
                        <a:buNone/>
                      </a:pPr>
                      <a:r>
                        <a:rPr lang="en-US" sz="1100" b="1" dirty="0">
                          <a:solidFill>
                            <a:srgbClr val="C8453B"/>
                          </a:solidFill>
                          <a:latin typeface="Calibri" pitchFamily="34" charset="0"/>
                          <a:ea typeface="Calibri" pitchFamily="34" charset="-122"/>
                          <a:cs typeface="Calibri" pitchFamily="34" charset="-120"/>
                        </a:rPr>
                        <a:t>−71.3%</a:t>
                      </a:r>
                      <a:endParaRPr lang="en-US" sz="1100" dirty="0">
                        <a:latin typeface="Calibri" charset="0"/>
                        <a:ea typeface="Calibri" charset="0"/>
                        <a:cs typeface="Calibri" charset="0"/>
                      </a:endParaRPr>
                    </a:p>
                  </a:txBody>
                  <a:tcPr marL="36576" marR="36576" marT="36576" marB="36576"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tcPr>
                </a:tc>
                <a:tc>
                  <a:txBody>
                    <a:bodyPr/>
                    <a:lstStyle/>
                    <a:p>
                      <a:pPr algn="ctr" indent="0" marL="0">
                        <a:buNone/>
                      </a:pPr>
                      <a:r>
                        <a:rPr lang="en-US" sz="1100" b="1" dirty="0">
                          <a:solidFill>
                            <a:srgbClr val="C8453B"/>
                          </a:solidFill>
                          <a:latin typeface="Calibri" pitchFamily="34" charset="0"/>
                          <a:ea typeface="Calibri" pitchFamily="34" charset="-122"/>
                          <a:cs typeface="Calibri" pitchFamily="34" charset="-120"/>
                        </a:rPr>
                        <a:t>−90.7%</a:t>
                      </a:r>
                      <a:endParaRPr lang="en-US" sz="1100" dirty="0">
                        <a:latin typeface="Calibri" charset="0"/>
                        <a:ea typeface="Calibri" charset="0"/>
                        <a:cs typeface="Calibri" charset="0"/>
                      </a:endParaRPr>
                    </a:p>
                  </a:txBody>
                  <a:tcPr marL="36576" marR="36576" marT="36576" marB="36576"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tcPr>
                </a:tc>
              </a:tr>
            </a:tbl>
          </a:graphicData>
        </a:graphic>
      </p:graphicFrame>
      <p:graphicFrame>
        <p:nvGraphicFramePr>
          <p:cNvPr id="17" name="Table 1"/>
          <p:cNvGraphicFramePr>
            <a:graphicFrameLocks noGrp="1"/>
          </p:cNvGraphicFramePr>
          <p:nvPr>
            <p:extLst>
              <p:ext uri="{D42A27DB-BD31-4B8C-83A1-F6EECF244321}">
                <p14:modId xmlns:p14="http://schemas.microsoft.com/office/powerpoint/2010/main" val="1579011935"/>
              </p:ext>
            </p:extLst>
          </p:nvPr>
        </p:nvGraphicFramePr>
        <p:xfrm>
          <a:off x="4663440" y="3456432"/>
          <a:ext cx="4023360" cy="914400"/>
        </p:xfrm>
        <a:graphic>
          <a:graphicData uri="http://schemas.openxmlformats.org/drawingml/2006/table">
            <a:tbl>
              <a:tblPr/>
              <a:tblGrid>
                <a:gridCol w="914400"/>
                <a:gridCol w="822960"/>
                <a:gridCol w="731520"/>
                <a:gridCol w="777240"/>
                <a:gridCol w="777240"/>
              </a:tblGrid>
              <a:tr h="0">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Change</a:t>
                      </a:r>
                      <a:endParaRPr lang="en-US" sz="1100" dirty="0">
                        <a:latin typeface="Calibri" charset="0"/>
                        <a:ea typeface="Calibri" charset="0"/>
                        <a:cs typeface="Calibri" charset="0"/>
                      </a:endParaRPr>
                    </a:p>
                  </a:txBody>
                  <a:tcPr marL="36576" marR="36576" marT="36576" marB="36576"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0B1F3A"/>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C=2</a:t>
                      </a:r>
                      <a:endParaRPr lang="en-US" sz="1100" dirty="0">
                        <a:latin typeface="Calibri" charset="0"/>
                        <a:ea typeface="Calibri" charset="0"/>
                        <a:cs typeface="Calibri" charset="0"/>
                      </a:endParaRPr>
                    </a:p>
                  </a:txBody>
                  <a:tcPr marL="36576" marR="36576" marT="36576" marB="36576"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0B1F3A"/>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C=8</a:t>
                      </a:r>
                      <a:endParaRPr lang="en-US" sz="1100" dirty="0">
                        <a:latin typeface="Calibri" charset="0"/>
                        <a:ea typeface="Calibri" charset="0"/>
                        <a:cs typeface="Calibri" charset="0"/>
                      </a:endParaRPr>
                    </a:p>
                  </a:txBody>
                  <a:tcPr marL="36576" marR="36576" marT="36576" marB="36576"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0B1F3A"/>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C=32</a:t>
                      </a:r>
                      <a:endParaRPr lang="en-US" sz="1100" dirty="0">
                        <a:latin typeface="Calibri" charset="0"/>
                        <a:ea typeface="Calibri" charset="0"/>
                        <a:cs typeface="Calibri" charset="0"/>
                      </a:endParaRPr>
                    </a:p>
                  </a:txBody>
                  <a:tcPr marL="36576" marR="36576" marT="36576" marB="36576"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0B1F3A"/>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C=64</a:t>
                      </a:r>
                      <a:endParaRPr lang="en-US" sz="1100" dirty="0">
                        <a:latin typeface="Calibri" charset="0"/>
                        <a:ea typeface="Calibri" charset="0"/>
                        <a:cs typeface="Calibri" charset="0"/>
                      </a:endParaRPr>
                    </a:p>
                  </a:txBody>
                  <a:tcPr marL="36576" marR="36576" marT="36576" marB="36576"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0B1F3A"/>
                    </a:solidFill>
                  </a:tcPr>
                </a:tc>
              </a:tr>
              <a:tr h="0">
                <a:tc>
                  <a:txBody>
                    <a:bodyPr/>
                    <a:lstStyle/>
                    <a:p>
                      <a:pPr indent="0" marL="0">
                        <a:buNone/>
                      </a:pPr>
                      <a:r>
                        <a:rPr lang="en-US" sz="1100" b="1" dirty="0">
                          <a:solidFill>
                            <a:srgbClr val="1F2937"/>
                          </a:solidFill>
                          <a:latin typeface="Calibri" pitchFamily="34" charset="0"/>
                          <a:ea typeface="Calibri" pitchFamily="34" charset="-122"/>
                          <a:cs typeface="Calibri" pitchFamily="34" charset="-120"/>
                        </a:rPr>
                        <a:t>p99</a:t>
                      </a:r>
                      <a:endParaRPr lang="en-US" sz="1100" dirty="0">
                        <a:latin typeface="Calibri" charset="0"/>
                        <a:ea typeface="Calibri" charset="0"/>
                        <a:cs typeface="Calibri" charset="0"/>
                      </a:endParaRPr>
                    </a:p>
                  </a:txBody>
                  <a:tcPr marL="36576" marR="36576" marT="36576" marB="36576"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tcPr>
                </a:tc>
                <a:tc>
                  <a:txBody>
                    <a:bodyPr/>
                    <a:lstStyle/>
                    <a:p>
                      <a:pPr algn="ctr" indent="0" marL="0">
                        <a:buNone/>
                      </a:pPr>
                      <a:r>
                        <a:rPr lang="en-US" sz="1100" b="1" dirty="0">
                          <a:solidFill>
                            <a:srgbClr val="5B6676"/>
                          </a:solidFill>
                          <a:latin typeface="Calibri" pitchFamily="34" charset="0"/>
                          <a:ea typeface="Calibri" pitchFamily="34" charset="-122"/>
                          <a:cs typeface="Calibri" pitchFamily="34" charset="-120"/>
                        </a:rPr>
                        <a:t>≈ same</a:t>
                      </a:r>
                      <a:endParaRPr lang="en-US" sz="1100" dirty="0">
                        <a:latin typeface="Calibri" charset="0"/>
                        <a:ea typeface="Calibri" charset="0"/>
                        <a:cs typeface="Calibri" charset="0"/>
                      </a:endParaRPr>
                    </a:p>
                  </a:txBody>
                  <a:tcPr marL="36576" marR="36576" marT="36576" marB="36576"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tcPr>
                </a:tc>
                <a:tc>
                  <a:txBody>
                    <a:bodyPr/>
                    <a:lstStyle/>
                    <a:p>
                      <a:pPr algn="ctr" indent="0" marL="0">
                        <a:buNone/>
                      </a:pPr>
                      <a:r>
                        <a:rPr lang="en-US" sz="1100" b="1" dirty="0">
                          <a:solidFill>
                            <a:srgbClr val="2E8B57"/>
                          </a:solidFill>
                          <a:latin typeface="Calibri" pitchFamily="34" charset="0"/>
                          <a:ea typeface="Calibri" pitchFamily="34" charset="-122"/>
                          <a:cs typeface="Calibri" pitchFamily="34" charset="-120"/>
                        </a:rPr>
                        <a:t>−87.8%</a:t>
                      </a:r>
                      <a:endParaRPr lang="en-US" sz="1100" dirty="0">
                        <a:latin typeface="Calibri" charset="0"/>
                        <a:ea typeface="Calibri" charset="0"/>
                        <a:cs typeface="Calibri" charset="0"/>
                      </a:endParaRPr>
                    </a:p>
                  </a:txBody>
                  <a:tcPr marL="36576" marR="36576" marT="36576" marB="36576"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tcPr>
                </a:tc>
                <a:tc>
                  <a:txBody>
                    <a:bodyPr/>
                    <a:lstStyle/>
                    <a:p>
                      <a:pPr algn="ctr" indent="0" marL="0">
                        <a:buNone/>
                      </a:pPr>
                      <a:r>
                        <a:rPr lang="en-US" sz="1100" b="1" dirty="0">
                          <a:solidFill>
                            <a:srgbClr val="2E8B57"/>
                          </a:solidFill>
                          <a:latin typeface="Calibri" pitchFamily="34" charset="0"/>
                          <a:ea typeface="Calibri" pitchFamily="34" charset="-122"/>
                          <a:cs typeface="Calibri" pitchFamily="34" charset="-120"/>
                        </a:rPr>
                        <a:t>−91.9%</a:t>
                      </a:r>
                      <a:endParaRPr lang="en-US" sz="1100" dirty="0">
                        <a:latin typeface="Calibri" charset="0"/>
                        <a:ea typeface="Calibri" charset="0"/>
                        <a:cs typeface="Calibri" charset="0"/>
                      </a:endParaRPr>
                    </a:p>
                  </a:txBody>
                  <a:tcPr marL="36576" marR="36576" marT="36576" marB="36576"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tcPr>
                </a:tc>
                <a:tc>
                  <a:txBody>
                    <a:bodyPr/>
                    <a:lstStyle/>
                    <a:p>
                      <a:pPr algn="ctr" indent="0" marL="0">
                        <a:buNone/>
                      </a:pPr>
                      <a:r>
                        <a:rPr lang="en-US" sz="1100" b="1" dirty="0">
                          <a:solidFill>
                            <a:srgbClr val="2E8B57"/>
                          </a:solidFill>
                          <a:latin typeface="Calibri" pitchFamily="34" charset="0"/>
                          <a:ea typeface="Calibri" pitchFamily="34" charset="-122"/>
                          <a:cs typeface="Calibri" pitchFamily="34" charset="-120"/>
                        </a:rPr>
                        <a:t>−63.4%*</a:t>
                      </a:r>
                      <a:endParaRPr lang="en-US" sz="1100" dirty="0">
                        <a:latin typeface="Calibri" charset="0"/>
                        <a:ea typeface="Calibri" charset="0"/>
                        <a:cs typeface="Calibri" charset="0"/>
                      </a:endParaRPr>
                    </a:p>
                  </a:txBody>
                  <a:tcPr marL="36576" marR="36576" marT="36576" marB="36576"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tcPr>
                </a:tc>
              </a:tr>
            </a:tbl>
          </a:graphicData>
        </a:graphic>
      </p:graphicFrame>
      <p:sp>
        <p:nvSpPr>
          <p:cNvPr id="7" name="Shape 1"/>
          <p:cNvSpPr/>
          <p:nvPr/>
        </p:nvSpPr>
        <p:spPr>
          <a:xfrm>
            <a:off x="457200" y="4114800"/>
            <a:ext cx="8229600" cy="566928"/>
          </a:xfrm>
          <a:prstGeom prst="roundRect">
            <a:avLst>
              <a:gd name="adj" fmla="val 12903"/>
            </a:avLst>
          </a:prstGeom>
          <a:solidFill>
            <a:srgbClr val="0B1F3A"/>
          </a:solidFill>
          <a:ln w="6350">
            <a:solidFill>
              <a:srgbClr val="0B1F3A"/>
            </a:solidFill>
            <a:prstDash val="solid"/>
          </a:ln>
        </p:spPr>
      </p:sp>
      <p:sp>
        <p:nvSpPr>
          <p:cNvPr id="8" name="Text 2"/>
          <p:cNvSpPr txBox="1"/>
          <p:nvPr/>
        </p:nvSpPr>
        <p:spPr>
          <a:xfrm>
            <a:off x="594360" y="4114800"/>
            <a:ext cx="7955280" cy="566928"/>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QLAAC substantially reduces p99 at higher concurrency, but at a considerable cost in successful throughput. At C = 64, 72.14% ± 5.15% of completed responses were 503.</a:t>
            </a:r>
            <a:endParaRPr lang="en-US" sz="1300" dirty="0"/>
          </a:p>
        </p:txBody>
      </p:sp>
      <p:sp>
        <p:nvSpPr>
          <p:cNvPr id="9" name="Text 3"/>
          <p:cNvSpPr txBox="1"/>
          <p:nvPr/>
        </p:nvSpPr>
        <p:spPr>
          <a:xfrm>
            <a:off x="457200" y="4800600"/>
            <a:ext cx="7680960" cy="228600"/>
          </a:xfrm>
          <a:prstGeom prst="rect">
            <a:avLst/>
          </a:prstGeom>
          <a:noFill/>
          <a:ln/>
        </p:spPr>
        <p:txBody>
          <a:bodyPr wrap="square" lIns="0" tIns="0" rIns="0" bIns="0" rtlCol="0" anchor="ctr"/>
          <a:lstStyle/>
          <a:p>
            <a:pPr indent="0" marL="0">
              <a:buNone/>
            </a:pPr>
            <a:r>
              <a:rPr lang="en-US" sz="1000" dirty="0">
                <a:solidFill>
                  <a:srgbClr val="5B6676"/>
                </a:solidFill>
                <a:latin typeface="Calibri" pitchFamily="34" charset="0"/>
                <a:ea typeface="Calibri" pitchFamily="34" charset="-122"/>
                <a:cs typeface="Calibri" pitchFamily="34" charset="-120"/>
              </a:rPr>
              <a:t>Source: Final Report Table 5.3 (mean, 5×10 s). *C=64 p99 = 161.18 ± 159.88 ms (high variability). n.s.: not significant.</a:t>
            </a:r>
            <a:endParaRPr lang="en-US" sz="1000" dirty="0"/>
          </a:p>
        </p:txBody>
      </p:sp>
      <p:sp>
        <p:nvSpPr>
          <p:cNvPr id="10" name="Text 4"/>
          <p:cNvSpPr txBox="1"/>
          <p:nvPr/>
        </p:nvSpPr>
        <p:spPr>
          <a:xfrm>
            <a:off x="8229600" y="4800600"/>
            <a:ext cx="457200" cy="228600"/>
          </a:xfrm>
          <a:prstGeom prst="rect">
            <a:avLst/>
          </a:prstGeom>
          <a:noFill/>
          <a:ln/>
        </p:spPr>
        <p:txBody>
          <a:bodyPr wrap="square" lIns="0" tIns="0" rIns="0" bIns="0" rtlCol="0" anchor="ctr"/>
          <a:lstStyle/>
          <a:p>
            <a:pPr algn="r" indent="0" marL="0">
              <a:buNone/>
            </a:pPr>
            <a:r>
              <a:rPr lang="en-US" sz="1000" dirty="0">
                <a:solidFill>
                  <a:srgbClr val="5B6676"/>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8229600" cy="548640"/>
          </a:xfrm>
          <a:prstGeom prst="rect">
            <a:avLst/>
          </a:prstGeom>
          <a:noFill/>
          <a:ln/>
        </p:spPr>
        <p:txBody>
          <a:bodyPr wrap="square" lIns="0" tIns="0" rIns="0" bIns="0" rtlCol="0" anchor="ctr"/>
          <a:lstStyle/>
          <a:p>
            <a:pPr indent="0" marL="0">
              <a:buNone/>
            </a:pPr>
            <a:r>
              <a:rPr lang="en-US" sz="2800" b="1" dirty="0">
                <a:solidFill>
                  <a:srgbClr val="0B1F3A"/>
                </a:solidFill>
                <a:latin typeface="Cambria" pitchFamily="34" charset="0"/>
                <a:ea typeface="Cambria" pitchFamily="34" charset="-122"/>
                <a:cs typeface="Cambria" pitchFamily="34" charset="-120"/>
              </a:rPr>
              <a:t>Analysis and limitations</a:t>
            </a:r>
            <a:endParaRPr lang="en-US" sz="2800" dirty="0"/>
          </a:p>
        </p:txBody>
      </p:sp>
      <p:sp>
        <p:nvSpPr>
          <p:cNvPr id="3" name="Text 1"/>
          <p:cNvSpPr txBox="1"/>
          <p:nvPr/>
        </p:nvSpPr>
        <p:spPr>
          <a:xfrm>
            <a:off x="457200" y="914400"/>
            <a:ext cx="4206240" cy="274320"/>
          </a:xfrm>
          <a:prstGeom prst="rect">
            <a:avLst/>
          </a:prstGeom>
          <a:noFill/>
          <a:ln/>
        </p:spPr>
        <p:txBody>
          <a:bodyPr wrap="square" lIns="0" tIns="0" rIns="0" bIns="0" rtlCol="0" anchor="ctr"/>
          <a:lstStyle/>
          <a:p>
            <a:pPr indent="0" marL="0">
              <a:buNone/>
            </a:pPr>
            <a:r>
              <a:rPr lang="en-US" sz="1500" b="1" dirty="0">
                <a:solidFill>
                  <a:srgbClr val="0E9AA7"/>
                </a:solidFill>
                <a:latin typeface="Calibri" pitchFamily="34" charset="0"/>
                <a:ea typeface="Calibri" pitchFamily="34" charset="-122"/>
                <a:cs typeface="Calibri" pitchFamily="34" charset="-120"/>
              </a:rPr>
              <a:t>Key observations</a:t>
            </a:r>
            <a:endParaRPr lang="en-US" sz="1500" dirty="0"/>
          </a:p>
        </p:txBody>
      </p:sp>
      <p:sp>
        <p:nvSpPr>
          <p:cNvPr id="4" name="Text 2"/>
          <p:cNvSpPr txBox="1"/>
          <p:nvPr/>
        </p:nvSpPr>
        <p:spPr>
          <a:xfrm>
            <a:off x="457200" y="1280160"/>
            <a:ext cx="868680" cy="384048"/>
          </a:xfrm>
          <a:prstGeom prst="roundRect">
            <a:avLst>
              <a:gd name="adj" fmla="val 19048"/>
            </a:avLst>
          </a:prstGeom>
          <a:solidFill>
            <a:srgbClr val="0B1F3A"/>
          </a:solidFill>
          <a:ln w="15875">
            <a:solidFill>
              <a:srgbClr val="0B1F3A"/>
            </a:solidFill>
          </a:ln>
        </p:spPr>
        <p:txBody>
          <a:bodyPr wrap="square" lIns="635" tIns="635" rIns="635" bIns="635"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 = 2</a:t>
            </a:r>
            <a:endParaRPr lang="en-US" sz="1200" dirty="0"/>
          </a:p>
        </p:txBody>
      </p:sp>
      <p:sp>
        <p:nvSpPr>
          <p:cNvPr id="5" name="Text 3"/>
          <p:cNvSpPr txBox="1"/>
          <p:nvPr/>
        </p:nvSpPr>
        <p:spPr>
          <a:xfrm>
            <a:off x="1417320" y="1234440"/>
            <a:ext cx="3291840" cy="54864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No meaningful difference: C ≤ workers, nothing waits</a:t>
            </a:r>
            <a:endParaRPr lang="en-US" sz="1300" dirty="0"/>
          </a:p>
        </p:txBody>
      </p:sp>
      <p:sp>
        <p:nvSpPr>
          <p:cNvPr id="6" name="Text 4"/>
          <p:cNvSpPr txBox="1"/>
          <p:nvPr/>
        </p:nvSpPr>
        <p:spPr>
          <a:xfrm>
            <a:off x="457200" y="1874520"/>
            <a:ext cx="868680" cy="384048"/>
          </a:xfrm>
          <a:prstGeom prst="roundRect">
            <a:avLst>
              <a:gd name="adj" fmla="val 19048"/>
            </a:avLst>
          </a:prstGeom>
          <a:solidFill>
            <a:srgbClr val="0B1F3A"/>
          </a:solidFill>
          <a:ln w="15875">
            <a:solidFill>
              <a:srgbClr val="0B1F3A"/>
            </a:solidFill>
          </a:ln>
        </p:spPr>
        <p:txBody>
          <a:bodyPr wrap="square" lIns="635" tIns="635" rIns="635" bIns="635"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 = 8, 32</a:t>
            </a:r>
            <a:endParaRPr lang="en-US" sz="1200" dirty="0"/>
          </a:p>
        </p:txBody>
      </p:sp>
      <p:sp>
        <p:nvSpPr>
          <p:cNvPr id="7" name="Text 5"/>
          <p:cNvSpPr txBox="1"/>
          <p:nvPr/>
        </p:nvSpPr>
        <p:spPr>
          <a:xfrm>
            <a:off x="1417320" y="1828800"/>
            <a:ext cx="3291840" cy="109728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p99 down 88–92%, throughput down 68–71%, no 503s. Worker saturation alone triggers CAUTION, so every request needs a new connection; p50 rises 0.54 → 1.55 ms and 0.52 → 10.46 ms</a:t>
            </a:r>
            <a:endParaRPr lang="en-US" sz="1300" dirty="0"/>
          </a:p>
        </p:txBody>
      </p:sp>
      <p:sp>
        <p:nvSpPr>
          <p:cNvPr id="8" name="Text 6"/>
          <p:cNvSpPr txBox="1"/>
          <p:nvPr/>
        </p:nvSpPr>
        <p:spPr>
          <a:xfrm>
            <a:off x="457200" y="2971800"/>
            <a:ext cx="868680" cy="384048"/>
          </a:xfrm>
          <a:prstGeom prst="roundRect">
            <a:avLst>
              <a:gd name="adj" fmla="val 19048"/>
            </a:avLst>
          </a:prstGeom>
          <a:solidFill>
            <a:srgbClr val="0B1F3A"/>
          </a:solidFill>
          <a:ln w="15875">
            <a:solidFill>
              <a:srgbClr val="0B1F3A"/>
            </a:solidFill>
          </a:ln>
        </p:spPr>
        <p:txBody>
          <a:bodyPr wrap="square" lIns="635" tIns="635" rIns="635" bIns="635"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 = 64</a:t>
            </a:r>
            <a:endParaRPr lang="en-US" sz="1200" dirty="0"/>
          </a:p>
        </p:txBody>
      </p:sp>
      <p:sp>
        <p:nvSpPr>
          <p:cNvPr id="9" name="Text 7"/>
          <p:cNvSpPr txBox="1"/>
          <p:nvPr/>
        </p:nvSpPr>
        <p:spPr>
          <a:xfrm>
            <a:off x="1417320" y="2926080"/>
            <a:ext cx="3291840" cy="64008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72.14% of completed responses are 503; p99 is unstable (161 ± 160 ms)</a:t>
            </a:r>
            <a:endParaRPr lang="en-US" sz="1300" dirty="0"/>
          </a:p>
        </p:txBody>
      </p:sp>
      <p:sp>
        <p:nvSpPr>
          <p:cNvPr id="10" name="Text 8"/>
          <p:cNvSpPr txBox="1"/>
          <p:nvPr/>
        </p:nvSpPr>
        <p:spPr>
          <a:xfrm>
            <a:off x="457200" y="3657600"/>
            <a:ext cx="868680" cy="384048"/>
          </a:xfrm>
          <a:prstGeom prst="roundRect">
            <a:avLst>
              <a:gd name="adj" fmla="val 19048"/>
            </a:avLst>
          </a:prstGeom>
          <a:solidFill>
            <a:srgbClr val="0B1F3A"/>
          </a:solidFill>
          <a:ln w="15875">
            <a:solidFill>
              <a:srgbClr val="0B1F3A"/>
            </a:solidFill>
          </a:ln>
        </p:spPr>
        <p:txBody>
          <a:bodyPr wrap="square" lIns="635" tIns="635" rIns="635" bIns="635"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Signal gap</a:t>
            </a:r>
            <a:endParaRPr lang="en-US" sz="1200" dirty="0"/>
          </a:p>
        </p:txBody>
      </p:sp>
      <p:sp>
        <p:nvSpPr>
          <p:cNvPr id="11" name="Text 9"/>
          <p:cNvSpPr txBox="1"/>
          <p:nvPr/>
        </p:nvSpPr>
        <p:spPr>
          <a:xfrm>
            <a:off x="1417320" y="3611880"/>
            <a:ext cx="3291840" cy="91440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Controller p95 starts after dequeue and misses queue wait (≈0.05–0.12 ms at transitions); queue and utilisation drove every transition</a:t>
            </a:r>
            <a:endParaRPr lang="en-US" sz="1300" dirty="0"/>
          </a:p>
        </p:txBody>
      </p:sp>
      <p:sp>
        <p:nvSpPr>
          <p:cNvPr id="12" name="Shape 10"/>
          <p:cNvSpPr/>
          <p:nvPr/>
        </p:nvSpPr>
        <p:spPr>
          <a:xfrm>
            <a:off x="4892040" y="914400"/>
            <a:ext cx="3794760" cy="3749040"/>
          </a:xfrm>
          <a:prstGeom prst="roundRect">
            <a:avLst>
              <a:gd name="adj" fmla="val 1951"/>
            </a:avLst>
          </a:prstGeom>
          <a:solidFill>
            <a:srgbClr val="FCF1D9"/>
          </a:solidFill>
          <a:ln w="6350">
            <a:solidFill>
              <a:srgbClr val="FCF1D9"/>
            </a:solidFill>
            <a:prstDash val="solid"/>
          </a:ln>
        </p:spPr>
      </p:sp>
      <p:sp>
        <p:nvSpPr>
          <p:cNvPr id="13" name="Text 11"/>
          <p:cNvSpPr txBox="1"/>
          <p:nvPr/>
        </p:nvSpPr>
        <p:spPr>
          <a:xfrm>
            <a:off x="5029200" y="960120"/>
            <a:ext cx="3566160" cy="274320"/>
          </a:xfrm>
          <a:prstGeom prst="rect">
            <a:avLst/>
          </a:prstGeom>
          <a:noFill/>
          <a:ln/>
        </p:spPr>
        <p:txBody>
          <a:bodyPr wrap="square" lIns="0" tIns="0" rIns="0" bIns="0" rtlCol="0" anchor="ctr"/>
          <a:lstStyle/>
          <a:p>
            <a:pPr indent="0" marL="0">
              <a:buNone/>
            </a:pPr>
            <a:r>
              <a:rPr lang="en-US" sz="1500" b="1" dirty="0">
                <a:solidFill>
                  <a:srgbClr val="9A5B00"/>
                </a:solidFill>
                <a:latin typeface="Calibri" pitchFamily="34" charset="0"/>
                <a:ea typeface="Calibri" pitchFamily="34" charset="-122"/>
                <a:cs typeface="Calibri" pitchFamily="34" charset="-120"/>
              </a:rPr>
              <a:t>Limitations</a:t>
            </a:r>
            <a:endParaRPr lang="en-US" sz="1500" dirty="0"/>
          </a:p>
        </p:txBody>
      </p:sp>
      <p:sp>
        <p:nvSpPr>
          <p:cNvPr id="14" name="Text 12"/>
          <p:cNvSpPr txBox="1"/>
          <p:nvPr/>
        </p:nvSpPr>
        <p:spPr>
          <a:xfrm>
            <a:off x="5029200" y="1325880"/>
            <a:ext cx="3566160" cy="329184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Single host, loopback, Python load generator</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One workload (GET /health); 4 levels × 5 trials</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Trials run consecutively without restart: QLAAC state can carry over, so SDs are repeated-trial, not independent</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No controller-state time series recorded</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Thresholds untuned; clients retry 503s at once</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Production generalisation not established</a:t>
            </a:r>
            <a:endParaRPr lang="en-US" sz="1400" dirty="0"/>
          </a:p>
        </p:txBody>
      </p:sp>
      <p:sp>
        <p:nvSpPr>
          <p:cNvPr id="15" name="Text 13"/>
          <p:cNvSpPr txBox="1"/>
          <p:nvPr/>
        </p:nvSpPr>
        <p:spPr>
          <a:xfrm>
            <a:off x="457200" y="4800600"/>
            <a:ext cx="7680960" cy="228600"/>
          </a:xfrm>
          <a:prstGeom prst="rect">
            <a:avLst/>
          </a:prstGeom>
          <a:noFill/>
          <a:ln/>
        </p:spPr>
        <p:txBody>
          <a:bodyPr wrap="square" lIns="0" tIns="0" rIns="0" bIns="0" rtlCol="0" anchor="ctr"/>
          <a:lstStyle/>
          <a:p>
            <a:pPr indent="0" marL="0">
              <a:buNone/>
            </a:pPr>
            <a:r>
              <a:rPr lang="en-US" sz="1000" dirty="0">
                <a:solidFill>
                  <a:srgbClr val="5B6676"/>
                </a:solidFill>
                <a:latin typeface="Calibri" pitchFamily="34" charset="0"/>
                <a:ea typeface="Calibri" pitchFamily="34" charset="-122"/>
                <a:cs typeface="Calibri" pitchFamily="34" charset="-120"/>
              </a:rPr>
              <a:t>Source: CN_Project_Final_Report (BCSE308P), Sections 4.2, 5.4, 5.5</a:t>
            </a:r>
            <a:endParaRPr lang="en-US" sz="1000" dirty="0"/>
          </a:p>
        </p:txBody>
      </p:sp>
      <p:sp>
        <p:nvSpPr>
          <p:cNvPr id="16" name="Text 14"/>
          <p:cNvSpPr txBox="1"/>
          <p:nvPr/>
        </p:nvSpPr>
        <p:spPr>
          <a:xfrm>
            <a:off x="8229600" y="4800600"/>
            <a:ext cx="457200" cy="228600"/>
          </a:xfrm>
          <a:prstGeom prst="rect">
            <a:avLst/>
          </a:prstGeom>
          <a:noFill/>
          <a:ln/>
        </p:spPr>
        <p:txBody>
          <a:bodyPr wrap="square" lIns="0" tIns="0" rIns="0" bIns="0" rtlCol="0" anchor="ctr"/>
          <a:lstStyle/>
          <a:p>
            <a:pPr algn="r" indent="0" marL="0">
              <a:buNone/>
            </a:pPr>
            <a:r>
              <a:rPr lang="en-US" sz="1000" dirty="0">
                <a:solidFill>
                  <a:srgbClr val="5B6676"/>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8229600" cy="548640"/>
          </a:xfrm>
          <a:prstGeom prst="rect">
            <a:avLst/>
          </a:prstGeom>
          <a:noFill/>
          <a:ln/>
        </p:spPr>
        <p:txBody>
          <a:bodyPr wrap="square" lIns="0" tIns="0" rIns="0" bIns="0" rtlCol="0" anchor="ctr"/>
          <a:lstStyle/>
          <a:p>
            <a:pPr indent="0" marL="0">
              <a:buNone/>
            </a:pPr>
            <a:r>
              <a:rPr lang="en-US" sz="2800" b="1" dirty="0">
                <a:solidFill>
                  <a:srgbClr val="0B1F3A"/>
                </a:solidFill>
                <a:latin typeface="Cambria" pitchFamily="34" charset="0"/>
                <a:ea typeface="Cambria" pitchFamily="34" charset="-122"/>
                <a:cs typeface="Cambria" pitchFamily="34" charset="-120"/>
              </a:rPr>
              <a:t>Conclusion, future work and references</a:t>
            </a:r>
            <a:endParaRPr lang="en-US" sz="2800" dirty="0"/>
          </a:p>
        </p:txBody>
      </p:sp>
      <p:sp>
        <p:nvSpPr>
          <p:cNvPr id="3" name="Shape 1"/>
          <p:cNvSpPr/>
          <p:nvPr/>
        </p:nvSpPr>
        <p:spPr>
          <a:xfrm>
            <a:off x="457200" y="914400"/>
            <a:ext cx="4023360" cy="2011680"/>
          </a:xfrm>
          <a:prstGeom prst="roundRect">
            <a:avLst>
              <a:gd name="adj" fmla="val 3636"/>
            </a:avLst>
          </a:prstGeom>
          <a:solidFill>
            <a:srgbClr val="F3F6F9"/>
          </a:solidFill>
          <a:ln w="6350">
            <a:solidFill>
              <a:srgbClr val="F3F6F9"/>
            </a:solidFill>
            <a:prstDash val="solid"/>
          </a:ln>
        </p:spPr>
      </p:sp>
      <p:sp>
        <p:nvSpPr>
          <p:cNvPr id="4" name="Shape 2"/>
          <p:cNvSpPr/>
          <p:nvPr/>
        </p:nvSpPr>
        <p:spPr>
          <a:xfrm>
            <a:off x="4663440" y="914400"/>
            <a:ext cx="4023360" cy="2011680"/>
          </a:xfrm>
          <a:prstGeom prst="roundRect">
            <a:avLst>
              <a:gd name="adj" fmla="val 3636"/>
            </a:avLst>
          </a:prstGeom>
          <a:solidFill>
            <a:srgbClr val="F3F6F9"/>
          </a:solidFill>
          <a:ln w="6350">
            <a:solidFill>
              <a:srgbClr val="F3F6F9"/>
            </a:solidFill>
            <a:prstDash val="solid"/>
          </a:ln>
        </p:spPr>
      </p:sp>
      <p:sp>
        <p:nvSpPr>
          <p:cNvPr id="5" name="Text 3"/>
          <p:cNvSpPr txBox="1"/>
          <p:nvPr/>
        </p:nvSpPr>
        <p:spPr>
          <a:xfrm>
            <a:off x="594360" y="960120"/>
            <a:ext cx="3749040" cy="274320"/>
          </a:xfrm>
          <a:prstGeom prst="rect">
            <a:avLst/>
          </a:prstGeom>
          <a:noFill/>
          <a:ln/>
        </p:spPr>
        <p:txBody>
          <a:bodyPr wrap="square" lIns="0" tIns="0" rIns="0" bIns="0" rtlCol="0" anchor="ctr"/>
          <a:lstStyle/>
          <a:p>
            <a:pPr indent="0" marL="0">
              <a:buNone/>
            </a:pPr>
            <a:r>
              <a:rPr lang="en-US" sz="1500" b="1" dirty="0">
                <a:solidFill>
                  <a:srgbClr val="0E9AA7"/>
                </a:solidFill>
                <a:latin typeface="Calibri" pitchFamily="34" charset="0"/>
                <a:ea typeface="Calibri" pitchFamily="34" charset="-122"/>
                <a:cs typeface="Calibri" pitchFamily="34" charset="-120"/>
              </a:rPr>
              <a:t>Conclusion</a:t>
            </a:r>
            <a:endParaRPr lang="en-US" sz="1500" dirty="0"/>
          </a:p>
        </p:txBody>
      </p:sp>
      <p:sp>
        <p:nvSpPr>
          <p:cNvPr id="6" name="Text 4"/>
          <p:cNvSpPr txBox="1"/>
          <p:nvPr/>
        </p:nvSpPr>
        <p:spPr>
          <a:xfrm>
            <a:off x="594360" y="1280160"/>
            <a:ext cx="3749040" cy="164592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1F2937"/>
                </a:solidFill>
                <a:latin typeface="Calibri" pitchFamily="34" charset="0"/>
                <a:ea typeface="Calibri" pitchFamily="34" charset="-122"/>
                <a:cs typeface="Calibri" pitchFamily="34" charset="-120"/>
              </a:rPr>
              <a:t>Built a multi-threaded HTTP/1.1 server on raw TCP sockets (C17, 72 tests)</a:t>
            </a:r>
            <a:endParaRPr lang="en-US" sz="1300" dirty="0"/>
          </a:p>
          <a:p>
            <a:pPr marL="342900" indent="-342900">
              <a:spcAft>
                <a:spcPts val="600"/>
              </a:spcAft>
              <a:buSzPct val="100000"/>
              <a:buChar char="•"/>
            </a:pPr>
            <a:r>
              <a:rPr lang="en-US" sz="1300" dirty="0">
                <a:solidFill>
                  <a:srgbClr val="1F2937"/>
                </a:solidFill>
                <a:latin typeface="Calibri" pitchFamily="34" charset="0"/>
                <a:ea typeface="Calibri" pitchFamily="34" charset="-122"/>
                <a:cs typeface="Calibri" pitchFamily="34" charset="-120"/>
              </a:rPr>
              <a:t>Added QLAAC and compared it with the same binary, controller off</a:t>
            </a:r>
            <a:endParaRPr lang="en-US" sz="1300" dirty="0"/>
          </a:p>
          <a:p>
            <a:pPr marL="342900" indent="-342900">
              <a:spcAft>
                <a:spcPts val="600"/>
              </a:spcAft>
              <a:buSzPct val="100000"/>
              <a:buChar char="•"/>
            </a:pPr>
            <a:r>
              <a:rPr lang="en-US" sz="1300" dirty="0">
                <a:solidFill>
                  <a:srgbClr val="1F2937"/>
                </a:solidFill>
                <a:latin typeface="Calibri" pitchFamily="34" charset="0"/>
                <a:ea typeface="Calibri" pitchFamily="34" charset="-122"/>
                <a:cs typeface="Calibri" pitchFamily="34" charset="-120"/>
              </a:rPr>
              <a:t>Measured trade-off: much lower p99 at C ≥ 8, but 68–91% less successful throughput</a:t>
            </a:r>
            <a:endParaRPr lang="en-US" sz="1300" dirty="0"/>
          </a:p>
        </p:txBody>
      </p:sp>
      <p:sp>
        <p:nvSpPr>
          <p:cNvPr id="7" name="Text 5"/>
          <p:cNvSpPr txBox="1"/>
          <p:nvPr/>
        </p:nvSpPr>
        <p:spPr>
          <a:xfrm>
            <a:off x="4800600" y="960120"/>
            <a:ext cx="3749040" cy="274320"/>
          </a:xfrm>
          <a:prstGeom prst="rect">
            <a:avLst/>
          </a:prstGeom>
          <a:noFill/>
          <a:ln/>
        </p:spPr>
        <p:txBody>
          <a:bodyPr wrap="square" lIns="0" tIns="0" rIns="0" bIns="0" rtlCol="0" anchor="ctr"/>
          <a:lstStyle/>
          <a:p>
            <a:pPr indent="0" marL="0">
              <a:buNone/>
            </a:pPr>
            <a:r>
              <a:rPr lang="en-US" sz="1500" b="1" dirty="0">
                <a:solidFill>
                  <a:srgbClr val="9A5B00"/>
                </a:solidFill>
                <a:latin typeface="Calibri" pitchFamily="34" charset="0"/>
                <a:ea typeface="Calibri" pitchFamily="34" charset="-122"/>
                <a:cs typeface="Calibri" pitchFamily="34" charset="-120"/>
              </a:rPr>
              <a:t>Future work (proposals)</a:t>
            </a:r>
            <a:endParaRPr lang="en-US" sz="1500" dirty="0"/>
          </a:p>
        </p:txBody>
      </p:sp>
      <p:sp>
        <p:nvSpPr>
          <p:cNvPr id="8" name="Text 6"/>
          <p:cNvSpPr txBox="1"/>
          <p:nvPr/>
        </p:nvSpPr>
        <p:spPr>
          <a:xfrm>
            <a:off x="4800600" y="1280160"/>
            <a:ext cx="3749040" cy="164592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1F2937"/>
                </a:solidFill>
                <a:latin typeface="Calibri" pitchFamily="34" charset="0"/>
                <a:ea typeface="Calibri" pitchFamily="34" charset="-122"/>
                <a:cs typeface="Calibri" pitchFamily="34" charset="-120"/>
              </a:rPr>
              <a:t>Measure latency from accept time so queue wait is visible</a:t>
            </a:r>
            <a:endParaRPr lang="en-US" sz="1300" dirty="0"/>
          </a:p>
          <a:p>
            <a:pPr marL="342900" indent="-342900">
              <a:spcAft>
                <a:spcPts val="600"/>
              </a:spcAft>
              <a:buSzPct val="100000"/>
              <a:buChar char="•"/>
            </a:pPr>
            <a:r>
              <a:rPr lang="en-US" sz="1300" dirty="0">
                <a:solidFill>
                  <a:srgbClr val="1F2937"/>
                </a:solidFill>
                <a:latin typeface="Calibri" pitchFamily="34" charset="0"/>
                <a:ea typeface="Calibri" pitchFamily="34" charset="-122"/>
                <a:cs typeface="Calibri" pitchFamily="34" charset="-120"/>
              </a:rPr>
              <a:t>Do not throttle on worker saturation alone; scale with queue depth</a:t>
            </a:r>
            <a:endParaRPr lang="en-US" sz="1300" dirty="0"/>
          </a:p>
          <a:p>
            <a:pPr marL="342900" indent="-342900">
              <a:spcAft>
                <a:spcPts val="600"/>
              </a:spcAft>
              <a:buSzPct val="100000"/>
              <a:buChar char="•"/>
            </a:pPr>
            <a:r>
              <a:rPr lang="en-US" sz="1300" dirty="0">
                <a:solidFill>
                  <a:srgbClr val="1F2937"/>
                </a:solidFill>
                <a:latin typeface="Calibri" pitchFamily="34" charset="0"/>
                <a:ea typeface="Calibri" pitchFamily="34" charset="-122"/>
                <a:cs typeface="Calibri" pitchFamily="34" charset="-120"/>
              </a:rPr>
              <a:t>Reset state between trials; log controller state</a:t>
            </a:r>
            <a:endParaRPr lang="en-US" sz="1300" dirty="0"/>
          </a:p>
          <a:p>
            <a:pPr marL="342900" indent="-342900">
              <a:spcAft>
                <a:spcPts val="600"/>
              </a:spcAft>
              <a:buSzPct val="100000"/>
              <a:buChar char="•"/>
            </a:pPr>
            <a:r>
              <a:rPr lang="en-US" sz="1300" dirty="0">
                <a:solidFill>
                  <a:srgbClr val="1F2937"/>
                </a:solidFill>
                <a:latin typeface="Calibri" pitchFamily="34" charset="0"/>
                <a:ea typeface="Calibri" pitchFamily="34" charset="-122"/>
                <a:cs typeface="Calibri" pitchFamily="34" charset="-120"/>
              </a:rPr>
              <a:t>Open-loop, other workloads, larger or distributed tests</a:t>
            </a:r>
            <a:endParaRPr lang="en-US" sz="1300" dirty="0"/>
          </a:p>
        </p:txBody>
      </p:sp>
      <p:sp>
        <p:nvSpPr>
          <p:cNvPr id="9" name="Text 7"/>
          <p:cNvSpPr txBox="1"/>
          <p:nvPr/>
        </p:nvSpPr>
        <p:spPr>
          <a:xfrm>
            <a:off x="457200" y="3017520"/>
            <a:ext cx="3657600" cy="274320"/>
          </a:xfrm>
          <a:prstGeom prst="rect">
            <a:avLst/>
          </a:prstGeom>
          <a:noFill/>
          <a:ln/>
        </p:spPr>
        <p:txBody>
          <a:bodyPr wrap="square" lIns="0" tIns="0" rIns="0" bIns="0" rtlCol="0" anchor="ctr"/>
          <a:lstStyle/>
          <a:p>
            <a:pPr indent="0" marL="0">
              <a:buNone/>
            </a:pPr>
            <a:r>
              <a:rPr lang="en-US" sz="1400" b="1" dirty="0">
                <a:solidFill>
                  <a:srgbClr val="0B1F3A"/>
                </a:solidFill>
                <a:latin typeface="Calibri" pitchFamily="34" charset="0"/>
                <a:ea typeface="Calibri" pitchFamily="34" charset="-122"/>
                <a:cs typeface="Calibri" pitchFamily="34" charset="-120"/>
              </a:rPr>
              <a:t>References</a:t>
            </a:r>
            <a:endParaRPr lang="en-US" sz="1400" dirty="0"/>
          </a:p>
        </p:txBody>
      </p:sp>
      <p:sp>
        <p:nvSpPr>
          <p:cNvPr id="10" name="Text 8"/>
          <p:cNvSpPr txBox="1"/>
          <p:nvPr/>
        </p:nvSpPr>
        <p:spPr>
          <a:xfrm>
            <a:off x="457200" y="3337560"/>
            <a:ext cx="4023360" cy="685800"/>
          </a:xfrm>
          <a:prstGeom prst="rect">
            <a:avLst/>
          </a:prstGeom>
          <a:noFill/>
          <a:ln/>
        </p:spPr>
        <p:txBody>
          <a:bodyPr wrap="square" lIns="0" tIns="0" rIns="0" bIns="0" rtlCol="0" anchor="t"/>
          <a:lstStyle/>
          <a:p>
            <a:pPr indent="0" marL="0">
              <a:buNone/>
            </a:pPr>
            <a:r>
              <a:rPr lang="en-US" sz="1100" dirty="0">
                <a:solidFill>
                  <a:srgbClr val="1F2937"/>
                </a:solidFill>
                <a:latin typeface="Calibri" pitchFamily="34" charset="0"/>
                <a:ea typeface="Calibri" pitchFamily="34" charset="-122"/>
                <a:cs typeface="Calibri" pitchFamily="34" charset="-120"/>
              </a:rPr>
              <a:t>[1] R. Fielding, M. Nottingham, J. Reschke, Eds., "HTTP/1.1," IETF RFC 9112 (STD 99), Jun. 2022.</a:t>
            </a:r>
            <a:endParaRPr lang="en-US" sz="1100" dirty="0"/>
          </a:p>
        </p:txBody>
      </p:sp>
      <p:sp>
        <p:nvSpPr>
          <p:cNvPr id="11" name="Text 9"/>
          <p:cNvSpPr txBox="1"/>
          <p:nvPr/>
        </p:nvSpPr>
        <p:spPr>
          <a:xfrm>
            <a:off x="4663440" y="3337560"/>
            <a:ext cx="4023360" cy="685800"/>
          </a:xfrm>
          <a:prstGeom prst="rect">
            <a:avLst/>
          </a:prstGeom>
          <a:noFill/>
          <a:ln/>
        </p:spPr>
        <p:txBody>
          <a:bodyPr wrap="square" lIns="0" tIns="0" rIns="0" bIns="0" rtlCol="0" anchor="t"/>
          <a:lstStyle/>
          <a:p>
            <a:pPr indent="0" marL="0">
              <a:buNone/>
            </a:pPr>
            <a:r>
              <a:rPr lang="en-US" sz="1100" dirty="0">
                <a:solidFill>
                  <a:srgbClr val="1F2937"/>
                </a:solidFill>
                <a:latin typeface="Calibri" pitchFamily="34" charset="0"/>
                <a:ea typeface="Calibri" pitchFamily="34" charset="-122"/>
                <a:cs typeface="Calibri" pitchFamily="34" charset="-120"/>
              </a:rPr>
              <a:t>[2] R. Fielding, M. Nottingham, J. Reschke, Eds., "HTTP Semantics," IETF RFC 9110 (STD 97), Jun. 2022.</a:t>
            </a:r>
            <a:endParaRPr lang="en-US" sz="1100" dirty="0"/>
          </a:p>
        </p:txBody>
      </p:sp>
      <p:sp>
        <p:nvSpPr>
          <p:cNvPr id="12" name="Text 10"/>
          <p:cNvSpPr txBox="1"/>
          <p:nvPr/>
        </p:nvSpPr>
        <p:spPr>
          <a:xfrm>
            <a:off x="457200" y="4069080"/>
            <a:ext cx="4023360" cy="685800"/>
          </a:xfrm>
          <a:prstGeom prst="rect">
            <a:avLst/>
          </a:prstGeom>
          <a:noFill/>
          <a:ln/>
        </p:spPr>
        <p:txBody>
          <a:bodyPr wrap="square" lIns="0" tIns="0" rIns="0" bIns="0" rtlCol="0" anchor="t"/>
          <a:lstStyle/>
          <a:p>
            <a:pPr indent="0" marL="0">
              <a:buNone/>
            </a:pPr>
            <a:r>
              <a:rPr lang="en-US" sz="1100" dirty="0">
                <a:solidFill>
                  <a:srgbClr val="1F2937"/>
                </a:solidFill>
                <a:latin typeface="Calibri" pitchFamily="34" charset="0"/>
                <a:ea typeface="Calibri" pitchFamily="34" charset="-122"/>
                <a:cs typeface="Calibri" pitchFamily="34" charset="-120"/>
              </a:rPr>
              <a:t>[5] M. Welsh and D. Culler, "Adaptive overload control for busy Internet servers," in Proc. 4th USENIX USITS, Seattle, WA, Mar. 2003, pp. 45–60.</a:t>
            </a:r>
            <a:endParaRPr lang="en-US" sz="1100" dirty="0"/>
          </a:p>
        </p:txBody>
      </p:sp>
      <p:sp>
        <p:nvSpPr>
          <p:cNvPr id="13" name="Text 11"/>
          <p:cNvSpPr txBox="1"/>
          <p:nvPr/>
        </p:nvSpPr>
        <p:spPr>
          <a:xfrm>
            <a:off x="4663440" y="4069080"/>
            <a:ext cx="4023360" cy="685800"/>
          </a:xfrm>
          <a:prstGeom prst="rect">
            <a:avLst/>
          </a:prstGeom>
          <a:noFill/>
          <a:ln/>
        </p:spPr>
        <p:txBody>
          <a:bodyPr wrap="square" lIns="0" tIns="0" rIns="0" bIns="0" rtlCol="0" anchor="t"/>
          <a:lstStyle/>
          <a:p>
            <a:pPr indent="0" marL="0">
              <a:buNone/>
            </a:pPr>
            <a:r>
              <a:rPr lang="en-US" sz="1100" dirty="0">
                <a:solidFill>
                  <a:srgbClr val="1F2937"/>
                </a:solidFill>
                <a:latin typeface="Calibri" pitchFamily="34" charset="0"/>
                <a:ea typeface="Calibri" pitchFamily="34" charset="-122"/>
                <a:cs typeface="Calibri" pitchFamily="34" charset="-120"/>
              </a:rPr>
              <a:t>[11] J. D. C. Little, "A proof for the queuing formula: L = λW," Oper. Res., vol. 9, no. 3, pp. 383–387, Jun. 1961.</a:t>
            </a:r>
            <a:endParaRPr lang="en-US" sz="1100" dirty="0"/>
          </a:p>
        </p:txBody>
      </p:sp>
      <p:sp>
        <p:nvSpPr>
          <p:cNvPr id="14" name="Text 12"/>
          <p:cNvSpPr txBox="1"/>
          <p:nvPr/>
        </p:nvSpPr>
        <p:spPr>
          <a:xfrm>
            <a:off x="457200" y="4800600"/>
            <a:ext cx="7680960" cy="228600"/>
          </a:xfrm>
          <a:prstGeom prst="rect">
            <a:avLst/>
          </a:prstGeom>
          <a:noFill/>
          <a:ln/>
        </p:spPr>
        <p:txBody>
          <a:bodyPr wrap="square" lIns="0" tIns="0" rIns="0" bIns="0" rtlCol="0" anchor="ctr"/>
          <a:lstStyle/>
          <a:p>
            <a:pPr indent="0" marL="0">
              <a:buNone/>
            </a:pPr>
            <a:r>
              <a:rPr lang="en-US" sz="1000" dirty="0">
                <a:solidFill>
                  <a:srgbClr val="5B6676"/>
                </a:solidFill>
                <a:latin typeface="Calibri" pitchFamily="34" charset="0"/>
                <a:ea typeface="Calibri" pitchFamily="34" charset="-122"/>
                <a:cs typeface="Calibri" pitchFamily="34" charset="-120"/>
              </a:rPr>
              <a:t>References numbered as in the final report (Section 7).</a:t>
            </a:r>
            <a:endParaRPr lang="en-US" sz="1000" dirty="0"/>
          </a:p>
        </p:txBody>
      </p:sp>
      <p:sp>
        <p:nvSpPr>
          <p:cNvPr id="15" name="Text 13"/>
          <p:cNvSpPr txBox="1"/>
          <p:nvPr/>
        </p:nvSpPr>
        <p:spPr>
          <a:xfrm>
            <a:off x="8229600" y="4800600"/>
            <a:ext cx="457200" cy="228600"/>
          </a:xfrm>
          <a:prstGeom prst="rect">
            <a:avLst/>
          </a:prstGeom>
          <a:noFill/>
          <a:ln/>
        </p:spPr>
        <p:txBody>
          <a:bodyPr wrap="square" lIns="0" tIns="0" rIns="0" bIns="0" rtlCol="0" anchor="ctr"/>
          <a:lstStyle/>
          <a:p>
            <a:pPr algn="r" indent="0" marL="0">
              <a:buNone/>
            </a:pPr>
            <a:r>
              <a:rPr lang="en-US" sz="1000" dirty="0">
                <a:solidFill>
                  <a:srgbClr val="5B6676"/>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HTTP/1.1 Web Server with QLAAC</dc:title>
  <dc:subject>PptxGenJS Presentation</dc:subject>
  <dc:creator>Yash Pradhan, Anjini Pandey</dc:creator>
  <cp:lastModifiedBy>Yash Pradhan, Anjini Pandey</cp:lastModifiedBy>
  <cp:revision>1</cp:revision>
  <dcterms:created xsi:type="dcterms:W3CDTF">2026-10-18T20:10:12Z</dcterms:created>
  <dcterms:modified xsi:type="dcterms:W3CDTF">2026-10-18T20:10:12Z</dcterms:modified>
</cp:coreProperties>
</file>