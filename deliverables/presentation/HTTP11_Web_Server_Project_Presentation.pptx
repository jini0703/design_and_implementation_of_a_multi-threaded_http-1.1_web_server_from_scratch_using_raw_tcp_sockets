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committee members. Today I present the design, low-level implementation, and empirical verification of a multi-threaded HTTP/1.1 web server built strictly from scratch in ISO C17 on raw POSIX sockets without external libraries.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core motivation is mastering systems-level networking. We must solve three fundamental hurdles: reconstructing HTTP message boundaries from continuous TCP byte streams, preventing OS thread thrashing, and avoiding bufferbloat-induced tail latency collapse.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scope is uncompromising: 100% zero-dependency C17. We deliberately exclude TLS and external event loop libraries to directly engage with kernel socket options, memory bounds, and POSIX synchronization primitives.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Understanding TCP semantics is fundamental. We leverage kernel backlog queues, handle TCP flow control via sliding windows, and use SO_REUSEADDR and timeout options to ensure resilience against lingering sockets and slow clients.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Notice our send_all loop. On POSIX byte streams, assuming a write sends everything is a fatal bug. We loop until all bytes are sent and pass MSG_NOSIGNAL to prevent client connection resets from killing our server with SIGPIPE.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the six-stage request lifecycle. A key engineering fix we made was stage 3: we capture the latency timer only when the first request byte arrives, preventing idle keep-alive wait time from distorting request service latency.</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Figure 4 shows our complete architecture: client connections arrive at the listener loop, pass through QLAAC admission, enter the 64-slot bounded queue, and are dispatched to the 4 worker threads (scalable to 16) for parsing, routing, and metrics recording.</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By pre-spawning worker threads (4 in our benchmark configuration, scalable to 16), we eliminate dynamic thread allocation costs. Worker state is tracked atomically, providing real-time worker utilization telemetry to the QLAAC admission controller.</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connection queue is a lock-protected circular buffer with capacity 64 (scalable up to 128). Bounding the queue is critical: it prevents bufferbloat and enforces backpressure on the TCP socket layer.</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HTTP parser strictly implements RFC 9112 grammar. It extracts headers case-insensitively, parses Content-Length for body framing, and manages persistent keep-alive connections.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Figure 5 illustrates our QLAAC state machine: NORMAL admits all; CAUTION (triggered by worker util &gt;= 85%, queue &gt;= 70%, or p95 &gt;= 50ms) throttles keep-alive idle persistence to 1s; and OVERLOAD (triggered by queue &gt;= 90%, p95 &gt;= 150ms, worker saturation with queue &gt;= 70%, or sustained pressure &gt;= 3 windows) sheds excess traffic via 503 with Retry-After: 5. Recovery strictly requires 5 consecutive healthy windows.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Security is engineered into the core. Path traversal is defeated via realpath() canonical prefix checking, Slowloris attacks are mitigated via socket read timeouts, and zero dynamic heap allocations on the hot path eliminate memory leaks.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our live HTML5/Canvas monitoring dashboard. It polls /metrics every 500ms, displaying live queue occupancy gauges, active worker counts, QLAAC state badges, and an interactive latency profile.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server includes an integrated API testing console and traffic generation deck built right into the dashboard, allowing live verification of REST endpoints and load injection.</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benchmarking methodology is statistically rigorous: 40 controlled trials with 5 repetitions per configuration. We audited the response parser to ensure 2xx successes and 5xx shedding are classified correctly with zero conflation.</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two plots present our main empirical findings from the 40 controlled trials. On the left, throughput scales beyond 14,600 RPS at C=2. On the right, at 64 clients, Baseline p99 latency collapses to 440.33 ms due to queue bufferbloat, whereas QLAAC successfully clamps p99 latency to 161.18 ms by shedding 72.14% of excess traffic gracefully via HTTP 503.</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learned critical systems lessons during this audit. Specifically, latency must be measured from first byte arrival rather than connection accept, and admission control requires multi-factor heuristics rather than naive worker utilization.</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conclusion, this project demonstrates that a robust, high-performance HTTP/1.1 server can be built purely from scratch with mechanical sympathy for OS sockets and thread synchronization. Thank you, and I look forward to your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image6.png"/><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ounded Rectangle 1"/>
          <p:cNvSpPr/>
          <p:nvPr/>
        </p:nvSpPr>
        <p:spPr>
          <a:xfrm>
            <a:off x="914400" y="1097280"/>
            <a:ext cx="10362895" cy="4663440"/>
          </a:xfrm>
          <a:prstGeom prst="roundRect">
            <a:avLst/>
          </a:prstGeom>
          <a:solidFill>
            <a:srgbClr val="1E293B"/>
          </a:solidFill>
          <a:ln w="19050">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371600" y="1463040"/>
            <a:ext cx="9448495" cy="3931920"/>
          </a:xfrm>
          <a:prstGeom prst="rect">
            <a:avLst/>
          </a:prstGeom>
          <a:noFill/>
        </p:spPr>
        <p:txBody>
          <a:bodyPr wrap="square">
            <a:spAutoFit/>
          </a:bodyPr>
          <a:lstStyle/>
          <a:p>
            <a:pPr>
              <a:spcAft>
                <a:spcPts val="1400"/>
              </a:spcAft>
              <a:defRPr sz="1300" b="1">
                <a:solidFill>
                  <a:srgbClr val="38BDF8"/>
                </a:solidFill>
              </a:defRPr>
            </a:pPr>
            <a:r>
              <a:t>ADVANCED COMPUTER NETWORKS &amp; SYSTEMS</a:t>
            </a:r>
          </a:p>
          <a:p>
            <a:pPr>
              <a:spcAft>
                <a:spcPts val="800"/>
              </a:spcAft>
              <a:defRPr sz="2600" b="1">
                <a:solidFill>
                  <a:srgbClr val="F8FAFC"/>
                </a:solidFill>
              </a:defRPr>
            </a:pPr>
            <a:r>
              <a:t>Design &amp; Implementation of a Multi-Threaded HTTP/1.1 Web Server from Scratch</a:t>
            </a:r>
          </a:p>
          <a:p>
            <a:pPr>
              <a:spcAft>
                <a:spcPts val="2800"/>
              </a:spcAft>
              <a:defRPr sz="1400">
                <a:solidFill>
                  <a:srgbClr val="94A3B8"/>
                </a:solidFill>
              </a:defRPr>
            </a:pPr>
            <a:r>
              <a:t>Zero-Dependency ISO C17 Architecture on Raw POSIX Sockets with Queue-and-Latency-Aware Admission Control (QLAAC)</a:t>
            </a:r>
          </a:p>
          <a:p>
            <a:pPr>
              <a:defRPr sz="1200" b="1">
                <a:solidFill>
                  <a:srgbClr val="F8FAFC"/>
                </a:solidFill>
              </a:defRPr>
            </a:pPr>
            <a:r>
              <a:t>Author: Systems Engineering Team   |   Course: Computer Networks (CS-504)   |   Date: October 2026</a:t>
            </a:r>
          </a:p>
          <a:p>
            <a:pPr>
              <a:defRPr sz="1100">
                <a:solidFill>
                  <a:srgbClr val="94A3B8"/>
                </a:solidFill>
              </a:defRPr>
            </a:pPr>
            <a:r>
              <a:t>Platform: Linux Kernel 6.6 / x86_64   |   Standards: RFC 9112, RFC 9110, POSIX.1-2008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731520" y="365760"/>
            <a:ext cx="10698480" cy="320040"/>
          </a:xfrm>
          <a:prstGeom prst="rect">
            <a:avLst/>
          </a:prstGeom>
          <a:noFill/>
        </p:spPr>
        <p:txBody>
          <a:bodyPr wrap="square">
            <a:spAutoFit/>
          </a:bodyPr>
          <a:lstStyle/>
          <a:p>
            <a:pPr>
              <a:defRPr sz="1000" b="1">
                <a:solidFill>
                  <a:srgbClr val="38BDF8"/>
                </a:solidFill>
              </a:defRPr>
            </a:pPr>
            <a:r>
              <a:t>HTTP/1.1 WEB SERVER FROM SCRATCH</a:t>
            </a:r>
          </a:p>
        </p:txBody>
      </p:sp>
      <p:sp>
        <p:nvSpPr>
          <p:cNvPr id="3" name="TextBox 2"/>
          <p:cNvSpPr txBox="1"/>
          <p:nvPr/>
        </p:nvSpPr>
        <p:spPr>
          <a:xfrm>
            <a:off x="731520" y="640080"/>
            <a:ext cx="10698480" cy="594360"/>
          </a:xfrm>
          <a:prstGeom prst="rect">
            <a:avLst/>
          </a:prstGeom>
          <a:noFill/>
        </p:spPr>
        <p:txBody>
          <a:bodyPr wrap="square">
            <a:spAutoFit/>
          </a:bodyPr>
          <a:lstStyle/>
          <a:p>
            <a:pPr>
              <a:defRPr sz="2200" b="1">
                <a:solidFill>
                  <a:srgbClr val="F8FAFC"/>
                </a:solidFill>
              </a:defRPr>
            </a:pPr>
            <a:r>
              <a:t>Motivation &amp; Problem Statement: Systems Engineering Challenges</a:t>
            </a:r>
          </a:p>
        </p:txBody>
      </p:sp>
      <p:sp>
        <p:nvSpPr>
          <p:cNvPr id="4" name="Rounded Rectangle 3"/>
          <p:cNvSpPr/>
          <p:nvPr/>
        </p:nvSpPr>
        <p:spPr>
          <a:xfrm>
            <a:off x="731520" y="1371600"/>
            <a:ext cx="3291840" cy="475488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508760"/>
            <a:ext cx="2926080" cy="365760"/>
          </a:xfrm>
          <a:prstGeom prst="rect">
            <a:avLst/>
          </a:prstGeom>
          <a:noFill/>
        </p:spPr>
        <p:txBody>
          <a:bodyPr wrap="none">
            <a:spAutoFit/>
          </a:bodyPr>
          <a:lstStyle/>
          <a:p>
            <a:pPr>
              <a:defRPr sz="1300" b="1">
                <a:solidFill>
                  <a:srgbClr val="38BDF8"/>
                </a:solidFill>
              </a:defRPr>
            </a:pPr>
            <a:r>
              <a:t>1. Stream vs Frame Mismatch</a:t>
            </a:r>
          </a:p>
        </p:txBody>
      </p:sp>
      <p:sp>
        <p:nvSpPr>
          <p:cNvPr id="6" name="TextBox 5"/>
          <p:cNvSpPr txBox="1"/>
          <p:nvPr/>
        </p:nvSpPr>
        <p:spPr>
          <a:xfrm>
            <a:off x="914400" y="2011680"/>
            <a:ext cx="2926080" cy="3931920"/>
          </a:xfrm>
          <a:prstGeom prst="rect">
            <a:avLst/>
          </a:prstGeom>
          <a:noFill/>
        </p:spPr>
        <p:txBody>
          <a:bodyPr wrap="square">
            <a:spAutoFit/>
          </a:bodyPr>
          <a:lstStyle/>
          <a:p>
            <a:pPr>
              <a:defRPr sz="1100">
                <a:solidFill>
                  <a:srgbClr val="CBD5E1"/>
                </a:solidFill>
              </a:defRPr>
            </a:pPr>
            <a:r>
              <a:t>• TCP guarantees reliable byte streams but provides zero message boundary framing.</a:t>
            </a:r>
            <a:br/>
            <a:br/>
            <a:r>
              <a:t>• read(2) can return partial headers, an exact request, or multiple concatenated pipelined requests.</a:t>
            </a:r>
            <a:br/>
            <a:br/>
            <a:r>
              <a:t>• Requires custom circular streaming buffers and deterministic CRLF delimiter detection without buffer overruns.</a:t>
            </a:r>
          </a:p>
        </p:txBody>
      </p:sp>
      <p:sp>
        <p:nvSpPr>
          <p:cNvPr id="7" name="Rounded Rectangle 6"/>
          <p:cNvSpPr/>
          <p:nvPr/>
        </p:nvSpPr>
        <p:spPr>
          <a:xfrm>
            <a:off x="4389120" y="1371600"/>
            <a:ext cx="3291840" cy="475488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0" y="1508760"/>
            <a:ext cx="2926080" cy="365760"/>
          </a:xfrm>
          <a:prstGeom prst="rect">
            <a:avLst/>
          </a:prstGeom>
          <a:noFill/>
        </p:spPr>
        <p:txBody>
          <a:bodyPr wrap="none">
            <a:spAutoFit/>
          </a:bodyPr>
          <a:lstStyle/>
          <a:p>
            <a:pPr>
              <a:defRPr sz="1300" b="1">
                <a:solidFill>
                  <a:srgbClr val="38BDF8"/>
                </a:solidFill>
              </a:defRPr>
            </a:pPr>
            <a:r>
              <a:t>2. Thread Explosion &amp; Collapse</a:t>
            </a:r>
          </a:p>
        </p:txBody>
      </p:sp>
      <p:sp>
        <p:nvSpPr>
          <p:cNvPr id="9" name="TextBox 8"/>
          <p:cNvSpPr txBox="1"/>
          <p:nvPr/>
        </p:nvSpPr>
        <p:spPr>
          <a:xfrm>
            <a:off x="4572000" y="2011680"/>
            <a:ext cx="2926080" cy="3931920"/>
          </a:xfrm>
          <a:prstGeom prst="rect">
            <a:avLst/>
          </a:prstGeom>
          <a:noFill/>
        </p:spPr>
        <p:txBody>
          <a:bodyPr wrap="square">
            <a:spAutoFit/>
          </a:bodyPr>
          <a:lstStyle/>
          <a:p>
            <a:pPr>
              <a:defRPr sz="1100">
                <a:solidFill>
                  <a:srgbClr val="CBD5E1"/>
                </a:solidFill>
              </a:defRPr>
            </a:pPr>
            <a:r>
              <a:t>• Naive thread-per-connection architectures cause severe thread thrashing and memory exhaustion.</a:t>
            </a:r>
            <a:br/>
            <a:br/>
            <a:r>
              <a:t>• Spawning 10,000 POSIX threads at 8 MB default stack consumes 80 GB virtual memory.</a:t>
            </a:r>
            <a:br/>
            <a:br/>
            <a:r>
              <a:t>• Context switching latency destroys CPU cache locality and collapses server throughput under concurrency.</a:t>
            </a:r>
          </a:p>
        </p:txBody>
      </p:sp>
      <p:sp>
        <p:nvSpPr>
          <p:cNvPr id="10" name="Rounded Rectangle 9"/>
          <p:cNvSpPr/>
          <p:nvPr/>
        </p:nvSpPr>
        <p:spPr>
          <a:xfrm>
            <a:off x="8046720" y="1371600"/>
            <a:ext cx="3383280" cy="475488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29600" y="1508760"/>
            <a:ext cx="3017520" cy="365760"/>
          </a:xfrm>
          <a:prstGeom prst="rect">
            <a:avLst/>
          </a:prstGeom>
          <a:noFill/>
        </p:spPr>
        <p:txBody>
          <a:bodyPr wrap="none">
            <a:spAutoFit/>
          </a:bodyPr>
          <a:lstStyle/>
          <a:p>
            <a:pPr>
              <a:defRPr sz="1300" b="1">
                <a:solidFill>
                  <a:srgbClr val="38BDF8"/>
                </a:solidFill>
              </a:defRPr>
            </a:pPr>
            <a:r>
              <a:t>3. Queue Starvation &amp; Bufferbloat</a:t>
            </a:r>
          </a:p>
        </p:txBody>
      </p:sp>
      <p:sp>
        <p:nvSpPr>
          <p:cNvPr id="12" name="TextBox 11"/>
          <p:cNvSpPr txBox="1"/>
          <p:nvPr/>
        </p:nvSpPr>
        <p:spPr>
          <a:xfrm>
            <a:off x="8229600" y="2011680"/>
            <a:ext cx="3017520" cy="3931920"/>
          </a:xfrm>
          <a:prstGeom prst="rect">
            <a:avLst/>
          </a:prstGeom>
          <a:noFill/>
        </p:spPr>
        <p:txBody>
          <a:bodyPr wrap="square">
            <a:spAutoFit/>
          </a:bodyPr>
          <a:lstStyle/>
          <a:p>
            <a:pPr>
              <a:defRPr sz="1100">
                <a:solidFill>
                  <a:srgbClr val="CBD5E1"/>
                </a:solidFill>
              </a:defRPr>
            </a:pPr>
            <a:r>
              <a:t>• When arrival rate exceeds processing rate (λ &gt; μ), unmanaged FIFO queues expand indefinitely.</a:t>
            </a:r>
            <a:br/>
            <a:br/>
            <a:r>
              <a:t>• By Little's Law (L = λW), latency explodes while clients time out waiting in queue memory.</a:t>
            </a:r>
            <a:br/>
            <a:br/>
            <a:r>
              <a:t>• Demands closed-loop admission control to shed load defensively and protect p99 tail latency.</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731520" y="365760"/>
            <a:ext cx="10698480" cy="320040"/>
          </a:xfrm>
          <a:prstGeom prst="rect">
            <a:avLst/>
          </a:prstGeom>
          <a:noFill/>
        </p:spPr>
        <p:txBody>
          <a:bodyPr wrap="square">
            <a:spAutoFit/>
          </a:bodyPr>
          <a:lstStyle/>
          <a:p>
            <a:pPr>
              <a:defRPr sz="1000" b="1">
                <a:solidFill>
                  <a:srgbClr val="38BDF8"/>
                </a:solidFill>
              </a:defRPr>
            </a:pPr>
            <a:r>
              <a:t>HTTP/1.1 WEB SERVER FROM SCRATCH</a:t>
            </a:r>
          </a:p>
        </p:txBody>
      </p:sp>
      <p:sp>
        <p:nvSpPr>
          <p:cNvPr id="3" name="TextBox 2"/>
          <p:cNvSpPr txBox="1"/>
          <p:nvPr/>
        </p:nvSpPr>
        <p:spPr>
          <a:xfrm>
            <a:off x="731520" y="640080"/>
            <a:ext cx="10698480" cy="594360"/>
          </a:xfrm>
          <a:prstGeom prst="rect">
            <a:avLst/>
          </a:prstGeom>
          <a:noFill/>
        </p:spPr>
        <p:txBody>
          <a:bodyPr wrap="square">
            <a:spAutoFit/>
          </a:bodyPr>
          <a:lstStyle/>
          <a:p>
            <a:pPr>
              <a:defRPr sz="2200" b="1">
                <a:solidFill>
                  <a:srgbClr val="F8FAFC"/>
                </a:solidFill>
              </a:defRPr>
            </a:pPr>
            <a:r>
              <a:t>Project Objectives &amp; Architectural Scope Boundaries</a:t>
            </a:r>
          </a:p>
        </p:txBody>
      </p:sp>
      <p:sp>
        <p:nvSpPr>
          <p:cNvPr id="4" name="Rounded Rectangle 3"/>
          <p:cNvSpPr/>
          <p:nvPr/>
        </p:nvSpPr>
        <p:spPr>
          <a:xfrm>
            <a:off x="731520" y="1371600"/>
            <a:ext cx="5120640" cy="475488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508760"/>
            <a:ext cx="4754880" cy="365760"/>
          </a:xfrm>
          <a:prstGeom prst="rect">
            <a:avLst/>
          </a:prstGeom>
          <a:noFill/>
        </p:spPr>
        <p:txBody>
          <a:bodyPr wrap="none">
            <a:spAutoFit/>
          </a:bodyPr>
          <a:lstStyle/>
          <a:p>
            <a:pPr>
              <a:defRPr sz="1300" b="1">
                <a:solidFill>
                  <a:srgbClr val="38BDF8"/>
                </a:solidFill>
              </a:defRPr>
            </a:pPr>
            <a:r>
              <a:t>Core Functional Objectives (In-Scope)</a:t>
            </a:r>
          </a:p>
        </p:txBody>
      </p:sp>
      <p:sp>
        <p:nvSpPr>
          <p:cNvPr id="6" name="TextBox 5"/>
          <p:cNvSpPr txBox="1"/>
          <p:nvPr/>
        </p:nvSpPr>
        <p:spPr>
          <a:xfrm>
            <a:off x="914400" y="1920240"/>
            <a:ext cx="4754880" cy="4023360"/>
          </a:xfrm>
          <a:prstGeom prst="rect">
            <a:avLst/>
          </a:prstGeom>
          <a:noFill/>
        </p:spPr>
        <p:txBody>
          <a:bodyPr wrap="square">
            <a:spAutoFit/>
          </a:bodyPr>
          <a:lstStyle/>
          <a:p>
            <a:pPr>
              <a:defRPr sz="1100">
                <a:solidFill>
                  <a:srgbClr val="CBD5E1"/>
                </a:solidFill>
              </a:defRPr>
            </a:pPr>
            <a:r>
              <a:t>✓ Zero External Dependencies: Pure C17 using libc and POSIX.1-2008 system calls only.</a:t>
            </a:r>
            <a:br/>
            <a:r>
              <a:t>✓ Raw Socket Engine: Non-blocking accept, SO_REUSEADDR, SO_RCVTIMEO/SO_SNDTIMEO.</a:t>
            </a:r>
            <a:br/>
            <a:r>
              <a:t>✓ Fixed-Capacity Thread Pool: 4 pre-spawned worker threads (scalable to 16) eliminating thread churn.</a:t>
            </a:r>
            <a:br/>
            <a:r>
              <a:t>✓ Bounded Queue: Thread-safe circular FIFO buffer (64 slots default / scalable to 128).</a:t>
            </a:r>
            <a:br/>
            <a:r>
              <a:t>✓ Strict RFC 9112 Parser: Zero-copy header tokenization, case-insensitivity, keep-alive reuse.</a:t>
            </a:r>
            <a:br/>
            <a:r>
              <a:t>✓ QLAAC Admission Controller: 3-tier feedback loop preventing bufferbloat collapse.</a:t>
            </a:r>
            <a:br/>
            <a:r>
              <a:t>✓ Observability Engine: Real-time sliding window percentiles and HTML5 live dashboard.</a:t>
            </a:r>
          </a:p>
        </p:txBody>
      </p:sp>
      <p:sp>
        <p:nvSpPr>
          <p:cNvPr id="7" name="Rounded Rectangle 6"/>
          <p:cNvSpPr/>
          <p:nvPr/>
        </p:nvSpPr>
        <p:spPr>
          <a:xfrm>
            <a:off x="6217920" y="1371600"/>
            <a:ext cx="5212080" cy="475488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0" y="1508760"/>
            <a:ext cx="4846320" cy="365760"/>
          </a:xfrm>
          <a:prstGeom prst="rect">
            <a:avLst/>
          </a:prstGeom>
          <a:noFill/>
        </p:spPr>
        <p:txBody>
          <a:bodyPr wrap="none">
            <a:spAutoFit/>
          </a:bodyPr>
          <a:lstStyle/>
          <a:p>
            <a:pPr>
              <a:defRPr sz="1300" b="1">
                <a:solidFill>
                  <a:srgbClr val="38BDF8"/>
                </a:solidFill>
              </a:defRPr>
            </a:pPr>
            <a:r>
              <a:t>Deliberate Architectural Boundaries</a:t>
            </a:r>
          </a:p>
        </p:txBody>
      </p:sp>
      <p:sp>
        <p:nvSpPr>
          <p:cNvPr id="9" name="TextBox 8"/>
          <p:cNvSpPr txBox="1"/>
          <p:nvPr/>
        </p:nvSpPr>
        <p:spPr>
          <a:xfrm>
            <a:off x="6400800" y="1920240"/>
            <a:ext cx="4846320" cy="4023360"/>
          </a:xfrm>
          <a:prstGeom prst="rect">
            <a:avLst/>
          </a:prstGeom>
          <a:noFill/>
        </p:spPr>
        <p:txBody>
          <a:bodyPr wrap="square">
            <a:spAutoFit/>
          </a:bodyPr>
          <a:lstStyle/>
          <a:p>
            <a:pPr>
              <a:defRPr sz="1100">
                <a:solidFill>
                  <a:srgbClr val="CBD5E1"/>
                </a:solidFill>
              </a:defRPr>
            </a:pPr>
            <a:r>
              <a:t>✗ No TLS/HTTPS Inside Server: Cryptographic handshake and TLS record layer are deliberately omitted to focus purely on raw transport; in production, TLS termination is handled by upstream HAProxy/Nginx reverse proxy.</a:t>
            </a:r>
            <a:br/>
            <a:br/>
            <a:r>
              <a:t>✗ No HTTP/2 or HTTP/3: Protocol scope strictly bounded to HTTP/1.1 persistent streaming semantics.</a:t>
            </a:r>
            <a:br/>
            <a:br/>
            <a:r>
              <a:t>✗ No Asynchronous Event Loop Frameworks: Deliberately avoided libevent/libuv to directly implement POSIX multithreading and condition variable synchronization primitives.</a:t>
            </a:r>
            <a:br/>
            <a:br/>
            <a:r>
              <a:t>✓ Focus on Mechanical Sympathy: Deep understanding of kernel buffers, socket options, and thread synchronization.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731520" y="365760"/>
            <a:ext cx="10698480" cy="320040"/>
          </a:xfrm>
          <a:prstGeom prst="rect">
            <a:avLst/>
          </a:prstGeom>
          <a:noFill/>
        </p:spPr>
        <p:txBody>
          <a:bodyPr wrap="square">
            <a:spAutoFit/>
          </a:bodyPr>
          <a:lstStyle/>
          <a:p>
            <a:pPr>
              <a:defRPr sz="1000" b="1">
                <a:solidFill>
                  <a:srgbClr val="38BDF8"/>
                </a:solidFill>
              </a:defRPr>
            </a:pPr>
            <a:r>
              <a:t>HTTP/1.1 WEB SERVER FROM SCRATCH</a:t>
            </a:r>
          </a:p>
        </p:txBody>
      </p:sp>
      <p:sp>
        <p:nvSpPr>
          <p:cNvPr id="3" name="TextBox 2"/>
          <p:cNvSpPr txBox="1"/>
          <p:nvPr/>
        </p:nvSpPr>
        <p:spPr>
          <a:xfrm>
            <a:off x="731520" y="640080"/>
            <a:ext cx="10698480" cy="594360"/>
          </a:xfrm>
          <a:prstGeom prst="rect">
            <a:avLst/>
          </a:prstGeom>
          <a:noFill/>
        </p:spPr>
        <p:txBody>
          <a:bodyPr wrap="square">
            <a:spAutoFit/>
          </a:bodyPr>
          <a:lstStyle/>
          <a:p>
            <a:pPr>
              <a:defRPr sz="2200" b="1">
                <a:solidFill>
                  <a:srgbClr val="F8FAFC"/>
                </a:solidFill>
              </a:defRPr>
            </a:pPr>
            <a:r>
              <a:t>Computer Networks Concepts: Transport Semantics &amp; TCP Mechanics</a:t>
            </a:r>
          </a:p>
        </p:txBody>
      </p:sp>
      <p:sp>
        <p:nvSpPr>
          <p:cNvPr id="4" name="Rounded Rectangle 3"/>
          <p:cNvSpPr/>
          <p:nvPr/>
        </p:nvSpPr>
        <p:spPr>
          <a:xfrm>
            <a:off x="731520" y="1371600"/>
            <a:ext cx="5120640" cy="475488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508760"/>
            <a:ext cx="4754880" cy="365760"/>
          </a:xfrm>
          <a:prstGeom prst="rect">
            <a:avLst/>
          </a:prstGeom>
          <a:noFill/>
        </p:spPr>
        <p:txBody>
          <a:bodyPr wrap="none">
            <a:spAutoFit/>
          </a:bodyPr>
          <a:lstStyle/>
          <a:p>
            <a:pPr>
              <a:defRPr sz="1300" b="1">
                <a:solidFill>
                  <a:srgbClr val="38BDF8"/>
                </a:solidFill>
              </a:defRPr>
            </a:pPr>
            <a:r>
              <a:t>TCP Transport Guarantees vs Application Needs</a:t>
            </a:r>
          </a:p>
        </p:txBody>
      </p:sp>
      <p:sp>
        <p:nvSpPr>
          <p:cNvPr id="6" name="TextBox 5"/>
          <p:cNvSpPr txBox="1"/>
          <p:nvPr/>
        </p:nvSpPr>
        <p:spPr>
          <a:xfrm>
            <a:off x="914400" y="1920240"/>
            <a:ext cx="4754880" cy="4023360"/>
          </a:xfrm>
          <a:prstGeom prst="rect">
            <a:avLst/>
          </a:prstGeom>
          <a:noFill/>
        </p:spPr>
        <p:txBody>
          <a:bodyPr wrap="square">
            <a:spAutoFit/>
          </a:bodyPr>
          <a:lstStyle/>
          <a:p>
            <a:pPr>
              <a:defRPr sz="1100">
                <a:solidFill>
                  <a:srgbClr val="CBD5E1"/>
                </a:solidFill>
              </a:defRPr>
            </a:pPr>
            <a:r>
              <a:t>• Reliability &amp; In-Order Delivery: TCP uses 32-bit sequence numbers, cumulative ACKs, and sliding windows to guarantee data arrives intact and in order.</a:t>
            </a:r>
            <a:br/>
            <a:br/>
            <a:r>
              <a:t>• Connection Lifecycle:</a:t>
            </a:r>
            <a:br/>
            <a:r>
              <a:t>  1. 3-Way Handshake (SYN -&gt; SYN-ACK -&gt; ACK).</a:t>
            </a:r>
            <a:br/>
            <a:r>
              <a:t>  2. Bi-directional full-duplex data transfer.</a:t>
            </a:r>
            <a:br/>
            <a:r>
              <a:t>  3. Orderly teardown via 4-Way FIN/ACK exchange.</a:t>
            </a:r>
            <a:br/>
            <a:br/>
            <a:r>
              <a:t>• Kernel Backlog Mechanics:</a:t>
            </a:r>
            <a:br/>
            <a:r>
              <a:t>  - Incomplete connection queue (SYN received).</a:t>
            </a:r>
            <a:br/>
            <a:r>
              <a:t>  - Completed connection queue (ESTABLISHED, waiting for accept(2)).</a:t>
            </a:r>
          </a:p>
        </p:txBody>
      </p:sp>
      <p:sp>
        <p:nvSpPr>
          <p:cNvPr id="7" name="Rounded Rectangle 6"/>
          <p:cNvSpPr/>
          <p:nvPr/>
        </p:nvSpPr>
        <p:spPr>
          <a:xfrm>
            <a:off x="6217920" y="1371600"/>
            <a:ext cx="5212080" cy="475488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0" y="1508760"/>
            <a:ext cx="4846320" cy="365760"/>
          </a:xfrm>
          <a:prstGeom prst="rect">
            <a:avLst/>
          </a:prstGeom>
          <a:noFill/>
        </p:spPr>
        <p:txBody>
          <a:bodyPr wrap="none">
            <a:spAutoFit/>
          </a:bodyPr>
          <a:lstStyle/>
          <a:p>
            <a:pPr>
              <a:defRPr sz="1300" b="1">
                <a:solidFill>
                  <a:srgbClr val="38BDF8"/>
                </a:solidFill>
              </a:defRPr>
            </a:pPr>
            <a:r>
              <a:t>Socket Buffer Mechanics &amp; Flow Control</a:t>
            </a:r>
          </a:p>
        </p:txBody>
      </p:sp>
      <p:sp>
        <p:nvSpPr>
          <p:cNvPr id="9" name="TextBox 8"/>
          <p:cNvSpPr txBox="1"/>
          <p:nvPr/>
        </p:nvSpPr>
        <p:spPr>
          <a:xfrm>
            <a:off x="6400800" y="1920240"/>
            <a:ext cx="4846320" cy="4023360"/>
          </a:xfrm>
          <a:prstGeom prst="rect">
            <a:avLst/>
          </a:prstGeom>
          <a:noFill/>
        </p:spPr>
        <p:txBody>
          <a:bodyPr wrap="square">
            <a:spAutoFit/>
          </a:bodyPr>
          <a:lstStyle/>
          <a:p>
            <a:pPr>
              <a:defRPr sz="1100">
                <a:solidFill>
                  <a:srgbClr val="CBD5E1"/>
                </a:solidFill>
              </a:defRPr>
            </a:pPr>
            <a:r>
              <a:t>• TCP Sliding Window Flow Control: Server advertises receive window (rcv_wnd). If worker threads are slow, rcv_wnd shrinks, exerting backpressure on client.</a:t>
            </a:r>
            <a:br/>
            <a:br/>
            <a:r>
              <a:t>• Socket Timeouts (SO_RCVTIMEO / SO_SNDTIMEO):</a:t>
            </a:r>
            <a:br/>
            <a:r>
              <a:t>  - Crucial defense against deadlocks and Slowloris.</a:t>
            </a:r>
            <a:br/>
            <a:r>
              <a:t>  - Prevents a slow or stalled client from holding worker threads indefinitely.</a:t>
            </a:r>
            <a:br/>
            <a:br/>
            <a:r>
              <a:t>• TIME_WAIT State Management:</a:t>
            </a:r>
            <a:br/>
            <a:r>
              <a:t>  - Setting SO_REUSEADDR allows instant socket re-binding after server restarts, avoiding 2MSL port lockout.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731520" y="365760"/>
            <a:ext cx="10698480" cy="320040"/>
          </a:xfrm>
          <a:prstGeom prst="rect">
            <a:avLst/>
          </a:prstGeom>
          <a:noFill/>
        </p:spPr>
        <p:txBody>
          <a:bodyPr wrap="square">
            <a:spAutoFit/>
          </a:bodyPr>
          <a:lstStyle/>
          <a:p>
            <a:pPr>
              <a:defRPr sz="1000" b="1">
                <a:solidFill>
                  <a:srgbClr val="38BDF8"/>
                </a:solidFill>
              </a:defRPr>
            </a:pPr>
            <a:r>
              <a:t>HTTP/1.1 WEB SERVER FROM SCRATCH</a:t>
            </a:r>
          </a:p>
        </p:txBody>
      </p:sp>
      <p:sp>
        <p:nvSpPr>
          <p:cNvPr id="3" name="TextBox 2"/>
          <p:cNvSpPr txBox="1"/>
          <p:nvPr/>
        </p:nvSpPr>
        <p:spPr>
          <a:xfrm>
            <a:off x="731520" y="640080"/>
            <a:ext cx="10698480" cy="594360"/>
          </a:xfrm>
          <a:prstGeom prst="rect">
            <a:avLst/>
          </a:prstGeom>
          <a:noFill/>
        </p:spPr>
        <p:txBody>
          <a:bodyPr wrap="square">
            <a:spAutoFit/>
          </a:bodyPr>
          <a:lstStyle/>
          <a:p>
            <a:pPr>
              <a:defRPr sz="2200" b="1">
                <a:solidFill>
                  <a:srgbClr val="F8FAFC"/>
                </a:solidFill>
              </a:defRPr>
            </a:pPr>
            <a:r>
              <a:t>Low-Level TCP Socket Lifecycle &amp; Partial I/O Handling</a:t>
            </a:r>
          </a:p>
        </p:txBody>
      </p:sp>
      <p:sp>
        <p:nvSpPr>
          <p:cNvPr id="4" name="Rounded Rectangle 3"/>
          <p:cNvSpPr/>
          <p:nvPr/>
        </p:nvSpPr>
        <p:spPr>
          <a:xfrm>
            <a:off x="731520" y="1371600"/>
            <a:ext cx="5120640" cy="475488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508760"/>
            <a:ext cx="4754880" cy="365760"/>
          </a:xfrm>
          <a:prstGeom prst="rect">
            <a:avLst/>
          </a:prstGeom>
          <a:noFill/>
        </p:spPr>
        <p:txBody>
          <a:bodyPr wrap="none">
            <a:spAutoFit/>
          </a:bodyPr>
          <a:lstStyle/>
          <a:p>
            <a:pPr>
              <a:defRPr sz="1300" b="1">
                <a:solidFill>
                  <a:srgbClr val="38BDF8"/>
                </a:solidFill>
              </a:defRPr>
            </a:pPr>
            <a:r>
              <a:t>Socket Initialization &amp; Configuration</a:t>
            </a:r>
          </a:p>
        </p:txBody>
      </p:sp>
      <p:sp>
        <p:nvSpPr>
          <p:cNvPr id="6" name="TextBox 5"/>
          <p:cNvSpPr txBox="1"/>
          <p:nvPr/>
        </p:nvSpPr>
        <p:spPr>
          <a:xfrm>
            <a:off x="914400" y="1920240"/>
            <a:ext cx="4754880" cy="4023360"/>
          </a:xfrm>
          <a:prstGeom prst="rect">
            <a:avLst/>
          </a:prstGeom>
          <a:noFill/>
        </p:spPr>
        <p:txBody>
          <a:bodyPr wrap="square">
            <a:spAutoFit/>
          </a:bodyPr>
          <a:lstStyle/>
          <a:p>
            <a:pPr>
              <a:defRPr sz="1100">
                <a:solidFill>
                  <a:srgbClr val="CBD5E1"/>
                </a:solidFill>
              </a:defRPr>
            </a:pPr>
            <a:r>
              <a:t>1. socket(AF_INET, SOCK_STREAM, 0):</a:t>
            </a:r>
            <a:br/>
            <a:r>
              <a:t>   Allocates kernel file descriptor for IPv4 stream socket.</a:t>
            </a:r>
            <a:br/>
            <a:br/>
            <a:r>
              <a:t>2. setsockopt(SO_REUSEADDR, 1):</a:t>
            </a:r>
            <a:br/>
            <a:r>
              <a:t>   Permits binding to port even if lingering in TIME_WAIT.</a:t>
            </a:r>
            <a:br/>
            <a:br/>
            <a:r>
              <a:t>3. bind(server_fd, &amp;addr, sizeof(addr)):</a:t>
            </a:r>
            <a:br/>
            <a:r>
              <a:t>   Binds socket to 0.0.0.0 and configured port (default 8080).</a:t>
            </a:r>
            <a:br/>
            <a:br/>
            <a:r>
              <a:t>4. listen(server_fd, 1024):</a:t>
            </a:r>
            <a:br/>
            <a:r>
              <a:t>   Enables passive listening with deep backlog of 1024.</a:t>
            </a:r>
            <a:br/>
            <a:br/>
            <a:r>
              <a:t>5. accept(server_fd, ...):</a:t>
            </a:r>
            <a:br/>
            <a:r>
              <a:t>   Extracts established socket from kernel queue.</a:t>
            </a:r>
          </a:p>
        </p:txBody>
      </p:sp>
      <p:sp>
        <p:nvSpPr>
          <p:cNvPr id="7" name="Rounded Rectangle 6"/>
          <p:cNvSpPr/>
          <p:nvPr/>
        </p:nvSpPr>
        <p:spPr>
          <a:xfrm>
            <a:off x="6217920" y="1371600"/>
            <a:ext cx="5212080" cy="475488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0" y="1508760"/>
            <a:ext cx="4846320" cy="365760"/>
          </a:xfrm>
          <a:prstGeom prst="rect">
            <a:avLst/>
          </a:prstGeom>
          <a:noFill/>
        </p:spPr>
        <p:txBody>
          <a:bodyPr wrap="none">
            <a:spAutoFit/>
          </a:bodyPr>
          <a:lstStyle/>
          <a:p>
            <a:pPr>
              <a:defRPr sz="1300" b="1">
                <a:solidFill>
                  <a:srgbClr val="38BDF8"/>
                </a:solidFill>
              </a:defRPr>
            </a:pPr>
            <a:r>
              <a:t>Robust Partial Read &amp; Write Loops</a:t>
            </a:r>
          </a:p>
        </p:txBody>
      </p:sp>
      <p:sp>
        <p:nvSpPr>
          <p:cNvPr id="9" name="TextBox 8"/>
          <p:cNvSpPr txBox="1"/>
          <p:nvPr/>
        </p:nvSpPr>
        <p:spPr>
          <a:xfrm>
            <a:off x="6400800" y="1920240"/>
            <a:ext cx="4846320" cy="4023360"/>
          </a:xfrm>
          <a:prstGeom prst="rect">
            <a:avLst/>
          </a:prstGeom>
          <a:noFill/>
        </p:spPr>
        <p:txBody>
          <a:bodyPr wrap="square">
            <a:spAutoFit/>
          </a:bodyPr>
          <a:lstStyle/>
          <a:p>
            <a:pPr>
              <a:defRPr sz="1100">
                <a:solidFill>
                  <a:srgbClr val="CBD5E1"/>
                </a:solidFill>
              </a:defRPr>
            </a:pPr>
            <a:r>
              <a:t>• Partial Write Invariant:</a:t>
            </a:r>
            <a:br/>
            <a:r>
              <a:t>  A single write() or send() is NOT guaranteed to transmit all bytes requested.</a:t>
            </a:r>
            <a:br/>
            <a:br/>
            <a:r>
              <a:t>• Implementation Solution:</a:t>
            </a:r>
            <a:br/>
            <a:r>
              <a:t>  ```c</a:t>
            </a:r>
            <a:br/>
            <a:r>
              <a:t>  ssize_t send_all(int fd, const void *buf, size_t len) {</a:t>
            </a:r>
            <a:br/>
            <a:r>
              <a:t>      size_t total = 0;</a:t>
            </a:r>
            <a:br/>
            <a:r>
              <a:t>      while (total &lt; len) {</a:t>
            </a:r>
            <a:br/>
            <a:r>
              <a:t>          ssize_t n = send(fd, (char*)buf + total, </a:t>
            </a:r>
            <a:br/>
            <a:r>
              <a:t>                           len - total, MSG_NOSIGNAL);</a:t>
            </a:r>
            <a:br/>
            <a:r>
              <a:t>          if (n &lt;= 0) return -1;</a:t>
            </a:r>
            <a:br/>
            <a:r>
              <a:t>          total += n;</a:t>
            </a:r>
            <a:br/>
            <a:r>
              <a:t>      }</a:t>
            </a:r>
            <a:br/>
            <a:r>
              <a:t>      return total;</a:t>
            </a:r>
            <a:br/>
            <a:r>
              <a:t>  }</a:t>
            </a:r>
            <a:br/>
            <a:r>
              <a:t>  ```</a:t>
            </a:r>
            <a:br/>
            <a:r>
              <a:t>• MSG_NOSIGNAL prevents fatal SIGPIPE crashes if the client aborts during transmission.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731520" y="365760"/>
            <a:ext cx="10698480" cy="320040"/>
          </a:xfrm>
          <a:prstGeom prst="rect">
            <a:avLst/>
          </a:prstGeom>
          <a:noFill/>
        </p:spPr>
        <p:txBody>
          <a:bodyPr wrap="square">
            <a:spAutoFit/>
          </a:bodyPr>
          <a:lstStyle/>
          <a:p>
            <a:pPr>
              <a:defRPr sz="1000" b="1">
                <a:solidFill>
                  <a:srgbClr val="38BDF8"/>
                </a:solidFill>
              </a:defRPr>
            </a:pPr>
            <a:r>
              <a:t>HTTP/1.1 WEB SERVER FROM SCRATCH</a:t>
            </a:r>
          </a:p>
        </p:txBody>
      </p:sp>
      <p:sp>
        <p:nvSpPr>
          <p:cNvPr id="3" name="TextBox 2"/>
          <p:cNvSpPr txBox="1"/>
          <p:nvPr/>
        </p:nvSpPr>
        <p:spPr>
          <a:xfrm>
            <a:off x="731520" y="640080"/>
            <a:ext cx="10698480" cy="594360"/>
          </a:xfrm>
          <a:prstGeom prst="rect">
            <a:avLst/>
          </a:prstGeom>
          <a:noFill/>
        </p:spPr>
        <p:txBody>
          <a:bodyPr wrap="square">
            <a:spAutoFit/>
          </a:bodyPr>
          <a:lstStyle/>
          <a:p>
            <a:pPr>
              <a:defRPr sz="2200" b="1">
                <a:solidFill>
                  <a:srgbClr val="F8FAFC"/>
                </a:solidFill>
              </a:defRPr>
            </a:pPr>
            <a:r>
              <a:t>End-to-End Request Lifecycle: Ingress to Dispatch</a:t>
            </a:r>
          </a:p>
        </p:txBody>
      </p:sp>
      <p:sp>
        <p:nvSpPr>
          <p:cNvPr id="4" name="Rounded Rectangle 3"/>
          <p:cNvSpPr/>
          <p:nvPr/>
        </p:nvSpPr>
        <p:spPr>
          <a:xfrm>
            <a:off x="731520" y="1371600"/>
            <a:ext cx="5120640" cy="146304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508760"/>
            <a:ext cx="4754880" cy="365760"/>
          </a:xfrm>
          <a:prstGeom prst="rect">
            <a:avLst/>
          </a:prstGeom>
          <a:noFill/>
        </p:spPr>
        <p:txBody>
          <a:bodyPr wrap="none">
            <a:spAutoFit/>
          </a:bodyPr>
          <a:lstStyle/>
          <a:p>
            <a:pPr>
              <a:defRPr sz="1300" b="1">
                <a:solidFill>
                  <a:srgbClr val="38BDF8"/>
                </a:solidFill>
              </a:defRPr>
            </a:pPr>
            <a:r>
              <a:t>1. Ingress &amp; Accept</a:t>
            </a:r>
          </a:p>
        </p:txBody>
      </p:sp>
      <p:sp>
        <p:nvSpPr>
          <p:cNvPr id="6" name="TextBox 5"/>
          <p:cNvSpPr txBox="1"/>
          <p:nvPr/>
        </p:nvSpPr>
        <p:spPr>
          <a:xfrm>
            <a:off x="914400" y="1783080"/>
            <a:ext cx="4754880" cy="914400"/>
          </a:xfrm>
          <a:prstGeom prst="rect">
            <a:avLst/>
          </a:prstGeom>
          <a:noFill/>
        </p:spPr>
        <p:txBody>
          <a:bodyPr wrap="square">
            <a:spAutoFit/>
          </a:bodyPr>
          <a:lstStyle/>
          <a:p>
            <a:pPr>
              <a:defRPr sz="1050">
                <a:solidFill>
                  <a:srgbClr val="CBD5E1"/>
                </a:solidFill>
              </a:defRPr>
            </a:pPr>
            <a:r>
              <a:t>Listener thread executes accept(). Immediate QLAAC check. If overloaded, 503 dispatched; else pushed to queue.</a:t>
            </a:r>
          </a:p>
        </p:txBody>
      </p:sp>
      <p:sp>
        <p:nvSpPr>
          <p:cNvPr id="7" name="Rounded Rectangle 6"/>
          <p:cNvSpPr/>
          <p:nvPr/>
        </p:nvSpPr>
        <p:spPr>
          <a:xfrm>
            <a:off x="6126480" y="1371600"/>
            <a:ext cx="5120640" cy="146304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309360" y="1508760"/>
            <a:ext cx="4754880" cy="365760"/>
          </a:xfrm>
          <a:prstGeom prst="rect">
            <a:avLst/>
          </a:prstGeom>
          <a:noFill/>
        </p:spPr>
        <p:txBody>
          <a:bodyPr wrap="none">
            <a:spAutoFit/>
          </a:bodyPr>
          <a:lstStyle/>
          <a:p>
            <a:pPr>
              <a:defRPr sz="1300" b="1">
                <a:solidFill>
                  <a:srgbClr val="38BDF8"/>
                </a:solidFill>
              </a:defRPr>
            </a:pPr>
            <a:r>
              <a:t>2. Queue Dispatch</a:t>
            </a:r>
          </a:p>
        </p:txBody>
      </p:sp>
      <p:sp>
        <p:nvSpPr>
          <p:cNvPr id="9" name="TextBox 8"/>
          <p:cNvSpPr txBox="1"/>
          <p:nvPr/>
        </p:nvSpPr>
        <p:spPr>
          <a:xfrm>
            <a:off x="6309360" y="1783080"/>
            <a:ext cx="4754880" cy="914400"/>
          </a:xfrm>
          <a:prstGeom prst="rect">
            <a:avLst/>
          </a:prstGeom>
          <a:noFill/>
        </p:spPr>
        <p:txBody>
          <a:bodyPr wrap="square">
            <a:spAutoFit/>
          </a:bodyPr>
          <a:lstStyle/>
          <a:p>
            <a:pPr>
              <a:defRPr sz="1050">
                <a:solidFill>
                  <a:srgbClr val="CBD5E1"/>
                </a:solidFill>
              </a:defRPr>
            </a:pPr>
            <a:r>
              <a:t>Worker thread awakened by condition variable. Pops client_fd from FIFO buffer. Marks worker active.</a:t>
            </a:r>
          </a:p>
        </p:txBody>
      </p:sp>
      <p:sp>
        <p:nvSpPr>
          <p:cNvPr id="10" name="Rounded Rectangle 9"/>
          <p:cNvSpPr/>
          <p:nvPr/>
        </p:nvSpPr>
        <p:spPr>
          <a:xfrm>
            <a:off x="731520" y="3017520"/>
            <a:ext cx="5120640" cy="146304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14400" y="3154680"/>
            <a:ext cx="4754880" cy="365760"/>
          </a:xfrm>
          <a:prstGeom prst="rect">
            <a:avLst/>
          </a:prstGeom>
          <a:noFill/>
        </p:spPr>
        <p:txBody>
          <a:bodyPr wrap="none">
            <a:spAutoFit/>
          </a:bodyPr>
          <a:lstStyle/>
          <a:p>
            <a:pPr>
              <a:defRPr sz="1300" b="1">
                <a:solidFill>
                  <a:srgbClr val="38BDF8"/>
                </a:solidFill>
              </a:defRPr>
            </a:pPr>
            <a:r>
              <a:t>3. Ingress Timing</a:t>
            </a:r>
          </a:p>
        </p:txBody>
      </p:sp>
      <p:sp>
        <p:nvSpPr>
          <p:cNvPr id="12" name="TextBox 11"/>
          <p:cNvSpPr txBox="1"/>
          <p:nvPr/>
        </p:nvSpPr>
        <p:spPr>
          <a:xfrm>
            <a:off x="914400" y="3429000"/>
            <a:ext cx="4754880" cy="914400"/>
          </a:xfrm>
          <a:prstGeom prst="rect">
            <a:avLst/>
          </a:prstGeom>
          <a:noFill/>
        </p:spPr>
        <p:txBody>
          <a:bodyPr wrap="square">
            <a:spAutoFit/>
          </a:bodyPr>
          <a:lstStyle/>
          <a:p>
            <a:pPr>
              <a:defRPr sz="1050">
                <a:solidFill>
                  <a:srgbClr val="CBD5E1"/>
                </a:solidFill>
              </a:defRPr>
            </a:pPr>
            <a:r>
              <a:t>First byte arrival timestamp captured immediately via clock_gettime() to isolate execution from idle keep-alive wait.</a:t>
            </a:r>
          </a:p>
        </p:txBody>
      </p:sp>
      <p:sp>
        <p:nvSpPr>
          <p:cNvPr id="13" name="Rounded Rectangle 12"/>
          <p:cNvSpPr/>
          <p:nvPr/>
        </p:nvSpPr>
        <p:spPr>
          <a:xfrm>
            <a:off x="6126480" y="3017520"/>
            <a:ext cx="5120640" cy="146304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09360" y="3154680"/>
            <a:ext cx="4754880" cy="365760"/>
          </a:xfrm>
          <a:prstGeom prst="rect">
            <a:avLst/>
          </a:prstGeom>
          <a:noFill/>
        </p:spPr>
        <p:txBody>
          <a:bodyPr wrap="none">
            <a:spAutoFit/>
          </a:bodyPr>
          <a:lstStyle/>
          <a:p>
            <a:pPr>
              <a:defRPr sz="1300" b="1">
                <a:solidFill>
                  <a:srgbClr val="38BDF8"/>
                </a:solidFill>
              </a:defRPr>
            </a:pPr>
            <a:r>
              <a:t>4. Parsing &amp; Routing</a:t>
            </a:r>
          </a:p>
        </p:txBody>
      </p:sp>
      <p:sp>
        <p:nvSpPr>
          <p:cNvPr id="15" name="TextBox 14"/>
          <p:cNvSpPr txBox="1"/>
          <p:nvPr/>
        </p:nvSpPr>
        <p:spPr>
          <a:xfrm>
            <a:off x="6309360" y="3429000"/>
            <a:ext cx="4754880" cy="914400"/>
          </a:xfrm>
          <a:prstGeom prst="rect">
            <a:avLst/>
          </a:prstGeom>
          <a:noFill/>
        </p:spPr>
        <p:txBody>
          <a:bodyPr wrap="square">
            <a:spAutoFit/>
          </a:bodyPr>
          <a:lstStyle/>
          <a:p>
            <a:pPr>
              <a:defRPr sz="1050">
                <a:solidFill>
                  <a:srgbClr val="CBD5E1"/>
                </a:solidFill>
              </a:defRPr>
            </a:pPr>
            <a:r>
              <a:t>RFC 9112 engine tokenizes request. Router matches static path or dynamic API (/metrics, /api/status).</a:t>
            </a:r>
          </a:p>
        </p:txBody>
      </p:sp>
      <p:sp>
        <p:nvSpPr>
          <p:cNvPr id="16" name="Rounded Rectangle 15"/>
          <p:cNvSpPr/>
          <p:nvPr/>
        </p:nvSpPr>
        <p:spPr>
          <a:xfrm>
            <a:off x="731520" y="4663440"/>
            <a:ext cx="5120640" cy="146304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14400" y="4800600"/>
            <a:ext cx="4754880" cy="365760"/>
          </a:xfrm>
          <a:prstGeom prst="rect">
            <a:avLst/>
          </a:prstGeom>
          <a:noFill/>
        </p:spPr>
        <p:txBody>
          <a:bodyPr wrap="none">
            <a:spAutoFit/>
          </a:bodyPr>
          <a:lstStyle/>
          <a:p>
            <a:pPr>
              <a:defRPr sz="1300" b="1">
                <a:solidFill>
                  <a:srgbClr val="38BDF8"/>
                </a:solidFill>
              </a:defRPr>
            </a:pPr>
            <a:r>
              <a:t>5. Response Assembly</a:t>
            </a:r>
          </a:p>
        </p:txBody>
      </p:sp>
      <p:sp>
        <p:nvSpPr>
          <p:cNvPr id="18" name="TextBox 17"/>
          <p:cNvSpPr txBox="1"/>
          <p:nvPr/>
        </p:nvSpPr>
        <p:spPr>
          <a:xfrm>
            <a:off x="914400" y="5074920"/>
            <a:ext cx="4754880" cy="914400"/>
          </a:xfrm>
          <a:prstGeom prst="rect">
            <a:avLst/>
          </a:prstGeom>
          <a:noFill/>
        </p:spPr>
        <p:txBody>
          <a:bodyPr wrap="square">
            <a:spAutoFit/>
          </a:bodyPr>
          <a:lstStyle/>
          <a:p>
            <a:pPr>
              <a:defRPr sz="1050">
                <a:solidFill>
                  <a:srgbClr val="CBD5E1"/>
                </a:solidFill>
              </a:defRPr>
            </a:pPr>
            <a:r>
              <a:t>Worker formats HTTP status line, headers (Date, Content-Length, Keep-Alive), and transmits payload via send_all().</a:t>
            </a:r>
          </a:p>
        </p:txBody>
      </p:sp>
      <p:sp>
        <p:nvSpPr>
          <p:cNvPr id="19" name="Rounded Rectangle 18"/>
          <p:cNvSpPr/>
          <p:nvPr/>
        </p:nvSpPr>
        <p:spPr>
          <a:xfrm>
            <a:off x="6126480" y="4663440"/>
            <a:ext cx="5120640" cy="146304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09360" y="4800600"/>
            <a:ext cx="4754880" cy="365760"/>
          </a:xfrm>
          <a:prstGeom prst="rect">
            <a:avLst/>
          </a:prstGeom>
          <a:noFill/>
        </p:spPr>
        <p:txBody>
          <a:bodyPr wrap="none">
            <a:spAutoFit/>
          </a:bodyPr>
          <a:lstStyle/>
          <a:p>
            <a:pPr>
              <a:defRPr sz="1300" b="1">
                <a:solidFill>
                  <a:srgbClr val="38BDF8"/>
                </a:solidFill>
              </a:defRPr>
            </a:pPr>
            <a:r>
              <a:t>6. Connection Reuse</a:t>
            </a:r>
          </a:p>
        </p:txBody>
      </p:sp>
      <p:sp>
        <p:nvSpPr>
          <p:cNvPr id="21" name="TextBox 20"/>
          <p:cNvSpPr txBox="1"/>
          <p:nvPr/>
        </p:nvSpPr>
        <p:spPr>
          <a:xfrm>
            <a:off x="6309360" y="5074920"/>
            <a:ext cx="4754880" cy="914400"/>
          </a:xfrm>
          <a:prstGeom prst="rect">
            <a:avLst/>
          </a:prstGeom>
          <a:noFill/>
        </p:spPr>
        <p:txBody>
          <a:bodyPr wrap="square">
            <a:spAutoFit/>
          </a:bodyPr>
          <a:lstStyle/>
          <a:p>
            <a:pPr>
              <a:defRPr sz="1050">
                <a:solidFill>
                  <a:srgbClr val="CBD5E1"/>
                </a:solidFill>
              </a:defRPr>
            </a:pPr>
            <a:r>
              <a:t>If keep-alive active, loops to await next request. On EOF, timeout, or Connection: close, gracefully closes socket.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731520" y="365760"/>
            <a:ext cx="10698480" cy="320040"/>
          </a:xfrm>
          <a:prstGeom prst="rect">
            <a:avLst/>
          </a:prstGeom>
          <a:noFill/>
        </p:spPr>
        <p:txBody>
          <a:bodyPr wrap="square">
            <a:spAutoFit/>
          </a:bodyPr>
          <a:lstStyle/>
          <a:p>
            <a:pPr>
              <a:defRPr sz="1000" b="1">
                <a:solidFill>
                  <a:srgbClr val="38BDF8"/>
                </a:solidFill>
              </a:defRPr>
            </a:pPr>
            <a:r>
              <a:t>HTTP/1.1 WEB SERVER FROM SCRATCH</a:t>
            </a:r>
          </a:p>
        </p:txBody>
      </p:sp>
      <p:sp>
        <p:nvSpPr>
          <p:cNvPr id="3" name="TextBox 2"/>
          <p:cNvSpPr txBox="1"/>
          <p:nvPr/>
        </p:nvSpPr>
        <p:spPr>
          <a:xfrm>
            <a:off x="731520" y="640080"/>
            <a:ext cx="10698480" cy="594360"/>
          </a:xfrm>
          <a:prstGeom prst="rect">
            <a:avLst/>
          </a:prstGeom>
          <a:noFill/>
        </p:spPr>
        <p:txBody>
          <a:bodyPr wrap="square">
            <a:spAutoFit/>
          </a:bodyPr>
          <a:lstStyle/>
          <a:p>
            <a:pPr>
              <a:defRPr sz="2200" b="1">
                <a:solidFill>
                  <a:srgbClr val="F8FAFC"/>
                </a:solidFill>
              </a:defRPr>
            </a:pPr>
            <a:r>
              <a:t>System Architecture: Multi-Threaded Concurrency Pipeline</a:t>
            </a:r>
          </a:p>
        </p:txBody>
      </p:sp>
      <p:pic>
        <p:nvPicPr>
          <p:cNvPr id="4" name="Picture 3" descr="fig4_system_architecture.png"/>
          <p:cNvPicPr>
            <a:picLocks noChangeAspect="1"/>
          </p:cNvPicPr>
          <p:nvPr/>
        </p:nvPicPr>
        <p:blipFill>
          <a:blip r:embed="rId2"/>
          <a:stretch>
            <a:fillRect/>
          </a:stretch>
        </p:blipFill>
        <p:spPr>
          <a:xfrm>
            <a:off x="914400" y="1371600"/>
            <a:ext cx="10362895" cy="484632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731520" y="365760"/>
            <a:ext cx="10698480" cy="320040"/>
          </a:xfrm>
          <a:prstGeom prst="rect">
            <a:avLst/>
          </a:prstGeom>
          <a:noFill/>
        </p:spPr>
        <p:txBody>
          <a:bodyPr wrap="square">
            <a:spAutoFit/>
          </a:bodyPr>
          <a:lstStyle/>
          <a:p>
            <a:pPr>
              <a:defRPr sz="1000" b="1">
                <a:solidFill>
                  <a:srgbClr val="38BDF8"/>
                </a:solidFill>
              </a:defRPr>
            </a:pPr>
            <a:r>
              <a:t>HTTP/1.1 WEB SERVER FROM SCRATCH</a:t>
            </a:r>
          </a:p>
        </p:txBody>
      </p:sp>
      <p:sp>
        <p:nvSpPr>
          <p:cNvPr id="3" name="TextBox 2"/>
          <p:cNvSpPr txBox="1"/>
          <p:nvPr/>
        </p:nvSpPr>
        <p:spPr>
          <a:xfrm>
            <a:off x="731520" y="640080"/>
            <a:ext cx="10698480" cy="594360"/>
          </a:xfrm>
          <a:prstGeom prst="rect">
            <a:avLst/>
          </a:prstGeom>
          <a:noFill/>
        </p:spPr>
        <p:txBody>
          <a:bodyPr wrap="square">
            <a:spAutoFit/>
          </a:bodyPr>
          <a:lstStyle/>
          <a:p>
            <a:pPr>
              <a:defRPr sz="2200" b="1">
                <a:solidFill>
                  <a:srgbClr val="F8FAFC"/>
                </a:solidFill>
              </a:defRPr>
            </a:pPr>
            <a:r>
              <a:t>Pre-Spawned POSIX Thread Pool Architecture</a:t>
            </a:r>
          </a:p>
        </p:txBody>
      </p:sp>
      <p:sp>
        <p:nvSpPr>
          <p:cNvPr id="4" name="Rounded Rectangle 3"/>
          <p:cNvSpPr/>
          <p:nvPr/>
        </p:nvSpPr>
        <p:spPr>
          <a:xfrm>
            <a:off x="731520" y="1371600"/>
            <a:ext cx="5120640" cy="475488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508760"/>
            <a:ext cx="4754880" cy="365760"/>
          </a:xfrm>
          <a:prstGeom prst="rect">
            <a:avLst/>
          </a:prstGeom>
          <a:noFill/>
        </p:spPr>
        <p:txBody>
          <a:bodyPr wrap="none">
            <a:spAutoFit/>
          </a:bodyPr>
          <a:lstStyle/>
          <a:p>
            <a:pPr>
              <a:defRPr sz="1300" b="1">
                <a:solidFill>
                  <a:srgbClr val="38BDF8"/>
                </a:solidFill>
              </a:defRPr>
            </a:pPr>
            <a:r>
              <a:t>Thread Pool Implementation Details</a:t>
            </a:r>
          </a:p>
        </p:txBody>
      </p:sp>
      <p:sp>
        <p:nvSpPr>
          <p:cNvPr id="6" name="TextBox 5"/>
          <p:cNvSpPr txBox="1"/>
          <p:nvPr/>
        </p:nvSpPr>
        <p:spPr>
          <a:xfrm>
            <a:off x="914400" y="1920240"/>
            <a:ext cx="4754880" cy="4023360"/>
          </a:xfrm>
          <a:prstGeom prst="rect">
            <a:avLst/>
          </a:prstGeom>
          <a:noFill/>
        </p:spPr>
        <p:txBody>
          <a:bodyPr wrap="square">
            <a:spAutoFit/>
          </a:bodyPr>
          <a:lstStyle/>
          <a:p>
            <a:pPr>
              <a:defRPr sz="1100">
                <a:solidFill>
                  <a:srgbClr val="CBD5E1"/>
                </a:solidFill>
              </a:defRPr>
            </a:pPr>
            <a:r>
              <a:t>• Pre-Spawned Allocation:</a:t>
            </a:r>
            <a:br/>
            <a:r>
              <a:t>  4 worker threads in benchmark &amp; default configuration (scalable up to 16) created at boot via pthread_create().</a:t>
            </a:r>
            <a:br/>
            <a:br/>
            <a:r>
              <a:t>• Zero Creation Overhead:</a:t>
            </a:r>
            <a:br/>
            <a:r>
              <a:t>  Completely eliminates per-connection fork(2) or pthread_create() latency on the hot path.</a:t>
            </a:r>
            <a:br/>
            <a:br/>
            <a:r>
              <a:t>• Deterministic Resource Bounding:</a:t>
            </a:r>
            <a:br/>
            <a:r>
              <a:t>  Server memory consumption remains strictly constant regardless of client load spikes.</a:t>
            </a:r>
            <a:br/>
            <a:br/>
            <a:r>
              <a:t>• Clean Lifecycle Management:</a:t>
            </a:r>
            <a:br/>
            <a:r>
              <a:t>  Worker loops block on condition variable, pop descriptors, process requests, and cleanly rejoin on shutdown.</a:t>
            </a:r>
          </a:p>
        </p:txBody>
      </p:sp>
      <p:sp>
        <p:nvSpPr>
          <p:cNvPr id="7" name="Rounded Rectangle 6"/>
          <p:cNvSpPr/>
          <p:nvPr/>
        </p:nvSpPr>
        <p:spPr>
          <a:xfrm>
            <a:off x="6217920" y="1371600"/>
            <a:ext cx="5212080" cy="475488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0" y="1508760"/>
            <a:ext cx="4846320" cy="365760"/>
          </a:xfrm>
          <a:prstGeom prst="rect">
            <a:avLst/>
          </a:prstGeom>
          <a:noFill/>
        </p:spPr>
        <p:txBody>
          <a:bodyPr wrap="none">
            <a:spAutoFit/>
          </a:bodyPr>
          <a:lstStyle/>
          <a:p>
            <a:pPr>
              <a:defRPr sz="1300" b="1">
                <a:solidFill>
                  <a:srgbClr val="38BDF8"/>
                </a:solidFill>
              </a:defRPr>
            </a:pPr>
            <a:r>
              <a:t>Worker Utilization &amp; Concurrency Safety</a:t>
            </a:r>
          </a:p>
        </p:txBody>
      </p:sp>
      <p:sp>
        <p:nvSpPr>
          <p:cNvPr id="9" name="TextBox 8"/>
          <p:cNvSpPr txBox="1"/>
          <p:nvPr/>
        </p:nvSpPr>
        <p:spPr>
          <a:xfrm>
            <a:off x="6400800" y="1920240"/>
            <a:ext cx="4846320" cy="4023360"/>
          </a:xfrm>
          <a:prstGeom prst="rect">
            <a:avLst/>
          </a:prstGeom>
          <a:noFill/>
        </p:spPr>
        <p:txBody>
          <a:bodyPr wrap="square">
            <a:spAutoFit/>
          </a:bodyPr>
          <a:lstStyle/>
          <a:p>
            <a:pPr>
              <a:defRPr sz="1100">
                <a:solidFill>
                  <a:srgbClr val="CBD5E1"/>
                </a:solidFill>
              </a:defRPr>
            </a:pPr>
            <a:r>
              <a:t>• Atomic Worker State Tracking:</a:t>
            </a:r>
            <a:br/>
            <a:r>
              <a:t>  Workers increment active_worker_count before reading socket bytes and decrement upon completing the HTTP transaction.</a:t>
            </a:r>
            <a:br/>
            <a:br/>
            <a:r>
              <a:t>• Multi-Core Scalability:</a:t>
            </a:r>
            <a:br/>
            <a:r>
              <a:t>  Linux CFS scheduler distributes worker threads across available hardware cores without CPU core pinning.</a:t>
            </a:r>
            <a:br/>
            <a:br/>
            <a:r>
              <a:t>• Graceful Teardown:</a:t>
            </a:r>
            <a:br/>
            <a:r>
              <a:t>  SIGINT/SIGTERM handlers set shutdown = true, broadcast pthread_cond_broadcast, and cleanly join all threads with zero descriptor leaks.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731520" y="365760"/>
            <a:ext cx="10698480" cy="320040"/>
          </a:xfrm>
          <a:prstGeom prst="rect">
            <a:avLst/>
          </a:prstGeom>
          <a:noFill/>
        </p:spPr>
        <p:txBody>
          <a:bodyPr wrap="square">
            <a:spAutoFit/>
          </a:bodyPr>
          <a:lstStyle/>
          <a:p>
            <a:pPr>
              <a:defRPr sz="1000" b="1">
                <a:solidFill>
                  <a:srgbClr val="38BDF8"/>
                </a:solidFill>
              </a:defRPr>
            </a:pPr>
            <a:r>
              <a:t>HTTP/1.1 WEB SERVER FROM SCRATCH</a:t>
            </a:r>
          </a:p>
        </p:txBody>
      </p:sp>
      <p:sp>
        <p:nvSpPr>
          <p:cNvPr id="3" name="TextBox 2"/>
          <p:cNvSpPr txBox="1"/>
          <p:nvPr/>
        </p:nvSpPr>
        <p:spPr>
          <a:xfrm>
            <a:off x="731520" y="640080"/>
            <a:ext cx="10698480" cy="594360"/>
          </a:xfrm>
          <a:prstGeom prst="rect">
            <a:avLst/>
          </a:prstGeom>
          <a:noFill/>
        </p:spPr>
        <p:txBody>
          <a:bodyPr wrap="square">
            <a:spAutoFit/>
          </a:bodyPr>
          <a:lstStyle/>
          <a:p>
            <a:pPr>
              <a:defRPr sz="2200" b="1">
                <a:solidFill>
                  <a:srgbClr val="F8FAFC"/>
                </a:solidFill>
              </a:defRPr>
            </a:pPr>
            <a:r>
              <a:t>Thread-Safe Bounded FIFO Circular Connection Queue</a:t>
            </a:r>
          </a:p>
        </p:txBody>
      </p:sp>
      <p:sp>
        <p:nvSpPr>
          <p:cNvPr id="4" name="Rounded Rectangle 3"/>
          <p:cNvSpPr/>
          <p:nvPr/>
        </p:nvSpPr>
        <p:spPr>
          <a:xfrm>
            <a:off x="731520" y="1371600"/>
            <a:ext cx="5120640" cy="475488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508760"/>
            <a:ext cx="4754880" cy="365760"/>
          </a:xfrm>
          <a:prstGeom prst="rect">
            <a:avLst/>
          </a:prstGeom>
          <a:noFill/>
        </p:spPr>
        <p:txBody>
          <a:bodyPr wrap="none">
            <a:spAutoFit/>
          </a:bodyPr>
          <a:lstStyle/>
          <a:p>
            <a:pPr>
              <a:defRPr sz="1300" b="1">
                <a:solidFill>
                  <a:srgbClr val="38BDF8"/>
                </a:solidFill>
              </a:defRPr>
            </a:pPr>
            <a:r>
              <a:t>Circular Queue Data Structure &amp; Mutex</a:t>
            </a:r>
          </a:p>
        </p:txBody>
      </p:sp>
      <p:sp>
        <p:nvSpPr>
          <p:cNvPr id="6" name="TextBox 5"/>
          <p:cNvSpPr txBox="1"/>
          <p:nvPr/>
        </p:nvSpPr>
        <p:spPr>
          <a:xfrm>
            <a:off x="914400" y="1920240"/>
            <a:ext cx="4754880" cy="4023360"/>
          </a:xfrm>
          <a:prstGeom prst="rect">
            <a:avLst/>
          </a:prstGeom>
          <a:noFill/>
        </p:spPr>
        <p:txBody>
          <a:bodyPr wrap="square">
            <a:spAutoFit/>
          </a:bodyPr>
          <a:lstStyle/>
          <a:p>
            <a:pPr>
              <a:defRPr sz="1100">
                <a:solidFill>
                  <a:srgbClr val="CBD5E1"/>
                </a:solidFill>
              </a:defRPr>
            </a:pPr>
            <a:r>
              <a:t>• Fixed Capacity Circular Buffer:</a:t>
            </a:r>
            <a:br/>
            <a:r>
              <a:t>  Capacity bounded to 64 socket descriptors default (scalable up to 128).</a:t>
            </a:r>
            <a:br/>
            <a:br/>
            <a:r>
              <a:t>• O(1) Push and Pop Operations:</a:t>
            </a:r>
            <a:br/>
            <a:r>
              <a:t>  - tail = (tail + 1) % QUEUE_CAPACITY</a:t>
            </a:r>
            <a:br/>
            <a:r>
              <a:t>  - head = (head + 1) % QUEUE_CAPACITY</a:t>
            </a:r>
            <a:br/>
            <a:br/>
            <a:r>
              <a:t>• POSIX Synchronization Primitives:</a:t>
            </a:r>
            <a:br/>
            <a:r>
              <a:t>  - Single pthread_mutex_t protects queue state.</a:t>
            </a:r>
            <a:br/>
            <a:r>
              <a:t>  - pthread_cond_t not_empty signals sleeping workers.</a:t>
            </a:r>
            <a:br/>
            <a:r>
              <a:t>  - pthread_cond_t not_full signals listener when queue drains.</a:t>
            </a:r>
          </a:p>
        </p:txBody>
      </p:sp>
      <p:sp>
        <p:nvSpPr>
          <p:cNvPr id="7" name="Rounded Rectangle 6"/>
          <p:cNvSpPr/>
          <p:nvPr/>
        </p:nvSpPr>
        <p:spPr>
          <a:xfrm>
            <a:off x="6217920" y="1371600"/>
            <a:ext cx="5212080" cy="475488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0" y="1508760"/>
            <a:ext cx="4846320" cy="365760"/>
          </a:xfrm>
          <a:prstGeom prst="rect">
            <a:avLst/>
          </a:prstGeom>
          <a:noFill/>
        </p:spPr>
        <p:txBody>
          <a:bodyPr wrap="none">
            <a:spAutoFit/>
          </a:bodyPr>
          <a:lstStyle/>
          <a:p>
            <a:pPr>
              <a:defRPr sz="1300" b="1">
                <a:solidFill>
                  <a:srgbClr val="38BDF8"/>
                </a:solidFill>
              </a:defRPr>
            </a:pPr>
            <a:r>
              <a:t>Bufferbloat Prevention &amp; Backpressure</a:t>
            </a:r>
          </a:p>
        </p:txBody>
      </p:sp>
      <p:sp>
        <p:nvSpPr>
          <p:cNvPr id="9" name="TextBox 8"/>
          <p:cNvSpPr txBox="1"/>
          <p:nvPr/>
        </p:nvSpPr>
        <p:spPr>
          <a:xfrm>
            <a:off x="6400800" y="1920240"/>
            <a:ext cx="4846320" cy="4023360"/>
          </a:xfrm>
          <a:prstGeom prst="rect">
            <a:avLst/>
          </a:prstGeom>
          <a:noFill/>
        </p:spPr>
        <p:txBody>
          <a:bodyPr wrap="square">
            <a:spAutoFit/>
          </a:bodyPr>
          <a:lstStyle/>
          <a:p>
            <a:pPr>
              <a:defRPr sz="1100">
                <a:solidFill>
                  <a:srgbClr val="CBD5E1"/>
                </a:solidFill>
              </a:defRPr>
            </a:pPr>
            <a:r>
              <a:t>• Why Bounding is Essential:</a:t>
            </a:r>
            <a:br/>
            <a:r>
              <a:t>  Unbounded queues allow millions of requests to buffer in memory, causing OOM panics and catastrophic wait times (Little's Law: W = L / λ).</a:t>
            </a:r>
            <a:br/>
            <a:br/>
            <a:r>
              <a:t>• Condition Variable Flow Control:</a:t>
            </a:r>
            <a:br/>
            <a:r>
              <a:t>  When queue hits 64, listener blocks on not_full or sheds load, applying physical backpressure to the TCP accept queue.</a:t>
            </a:r>
            <a:br/>
            <a:br/>
            <a:r>
              <a:t>• Lock Contention Optimization:</a:t>
            </a:r>
            <a:br/>
            <a:r>
              <a:t>  Mutex hold times are measured in nanoseconds (only 4 pointer increments inside critical section).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731520" y="365760"/>
            <a:ext cx="10698480" cy="320040"/>
          </a:xfrm>
          <a:prstGeom prst="rect">
            <a:avLst/>
          </a:prstGeom>
          <a:noFill/>
        </p:spPr>
        <p:txBody>
          <a:bodyPr wrap="square">
            <a:spAutoFit/>
          </a:bodyPr>
          <a:lstStyle/>
          <a:p>
            <a:pPr>
              <a:defRPr sz="1000" b="1">
                <a:solidFill>
                  <a:srgbClr val="38BDF8"/>
                </a:solidFill>
              </a:defRPr>
            </a:pPr>
            <a:r>
              <a:t>HTTP/1.1 WEB SERVER FROM SCRATCH</a:t>
            </a:r>
          </a:p>
        </p:txBody>
      </p:sp>
      <p:sp>
        <p:nvSpPr>
          <p:cNvPr id="3" name="TextBox 2"/>
          <p:cNvSpPr txBox="1"/>
          <p:nvPr/>
        </p:nvSpPr>
        <p:spPr>
          <a:xfrm>
            <a:off x="731520" y="640080"/>
            <a:ext cx="10698480" cy="594360"/>
          </a:xfrm>
          <a:prstGeom prst="rect">
            <a:avLst/>
          </a:prstGeom>
          <a:noFill/>
        </p:spPr>
        <p:txBody>
          <a:bodyPr wrap="square">
            <a:spAutoFit/>
          </a:bodyPr>
          <a:lstStyle/>
          <a:p>
            <a:pPr>
              <a:defRPr sz="2200" b="1">
                <a:solidFill>
                  <a:srgbClr val="F8FAFC"/>
                </a:solidFill>
              </a:defRPr>
            </a:pPr>
            <a:r>
              <a:t>RFC 9112 HTTP/1.1 Parsing Engine &amp; Message Framing</a:t>
            </a:r>
          </a:p>
        </p:txBody>
      </p:sp>
      <p:sp>
        <p:nvSpPr>
          <p:cNvPr id="4" name="Rounded Rectangle 3"/>
          <p:cNvSpPr/>
          <p:nvPr/>
        </p:nvSpPr>
        <p:spPr>
          <a:xfrm>
            <a:off x="731520" y="1371600"/>
            <a:ext cx="5120640" cy="475488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508760"/>
            <a:ext cx="4754880" cy="365760"/>
          </a:xfrm>
          <a:prstGeom prst="rect">
            <a:avLst/>
          </a:prstGeom>
          <a:noFill/>
        </p:spPr>
        <p:txBody>
          <a:bodyPr wrap="none">
            <a:spAutoFit/>
          </a:bodyPr>
          <a:lstStyle/>
          <a:p>
            <a:pPr>
              <a:defRPr sz="1300" b="1">
                <a:solidFill>
                  <a:srgbClr val="38BDF8"/>
                </a:solidFill>
              </a:defRPr>
            </a:pPr>
            <a:r>
              <a:t>RFC 9112 Grammar &amp; Parser Invariants</a:t>
            </a:r>
          </a:p>
        </p:txBody>
      </p:sp>
      <p:sp>
        <p:nvSpPr>
          <p:cNvPr id="6" name="TextBox 5"/>
          <p:cNvSpPr txBox="1"/>
          <p:nvPr/>
        </p:nvSpPr>
        <p:spPr>
          <a:xfrm>
            <a:off x="914400" y="1920240"/>
            <a:ext cx="4754880" cy="4023360"/>
          </a:xfrm>
          <a:prstGeom prst="rect">
            <a:avLst/>
          </a:prstGeom>
          <a:noFill/>
        </p:spPr>
        <p:txBody>
          <a:bodyPr wrap="square">
            <a:spAutoFit/>
          </a:bodyPr>
          <a:lstStyle/>
          <a:p>
            <a:pPr>
              <a:defRPr sz="1100">
                <a:solidFill>
                  <a:srgbClr val="CBD5E1"/>
                </a:solidFill>
              </a:defRPr>
            </a:pPr>
            <a:r>
              <a:t>• Request Line Decomposition:</a:t>
            </a:r>
            <a:br/>
            <a:r>
              <a:t>  Method SP Request-URI SP HTTP-Version CRLF</a:t>
            </a:r>
            <a:br/>
            <a:r>
              <a:t>  Validates standard HTTP verbs (GET, POST, HEAD, OPTIONS).</a:t>
            </a:r>
            <a:br/>
            <a:br/>
            <a:r>
              <a:t>• Case-Insensitive Header Extraction:</a:t>
            </a:r>
            <a:br/>
            <a:r>
              <a:t>  Extracts Host, Connection, Content-Length, Content-Type using strncasecmp().</a:t>
            </a:r>
            <a:br/>
            <a:br/>
            <a:r>
              <a:t>• Bounded Stack Buffer:</a:t>
            </a:r>
            <a:br/>
            <a:r>
              <a:t>  8,192-byte buffer prevents stack overflows while handling standard web request header sizes.</a:t>
            </a:r>
          </a:p>
        </p:txBody>
      </p:sp>
      <p:sp>
        <p:nvSpPr>
          <p:cNvPr id="7" name="Rounded Rectangle 6"/>
          <p:cNvSpPr/>
          <p:nvPr/>
        </p:nvSpPr>
        <p:spPr>
          <a:xfrm>
            <a:off x="6217920" y="1371600"/>
            <a:ext cx="5212080" cy="475488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0" y="1508760"/>
            <a:ext cx="4846320" cy="365760"/>
          </a:xfrm>
          <a:prstGeom prst="rect">
            <a:avLst/>
          </a:prstGeom>
          <a:noFill/>
        </p:spPr>
        <p:txBody>
          <a:bodyPr wrap="none">
            <a:spAutoFit/>
          </a:bodyPr>
          <a:lstStyle/>
          <a:p>
            <a:pPr>
              <a:defRPr sz="1300" b="1">
                <a:solidFill>
                  <a:srgbClr val="38BDF8"/>
                </a:solidFill>
              </a:defRPr>
            </a:pPr>
            <a:r>
              <a:t>Persistent Connections &amp; Framing</a:t>
            </a:r>
          </a:p>
        </p:txBody>
      </p:sp>
      <p:sp>
        <p:nvSpPr>
          <p:cNvPr id="9" name="TextBox 8"/>
          <p:cNvSpPr txBox="1"/>
          <p:nvPr/>
        </p:nvSpPr>
        <p:spPr>
          <a:xfrm>
            <a:off x="6400800" y="1920240"/>
            <a:ext cx="4846320" cy="4023360"/>
          </a:xfrm>
          <a:prstGeom prst="rect">
            <a:avLst/>
          </a:prstGeom>
          <a:noFill/>
        </p:spPr>
        <p:txBody>
          <a:bodyPr wrap="square">
            <a:spAutoFit/>
          </a:bodyPr>
          <a:lstStyle/>
          <a:p>
            <a:pPr>
              <a:defRPr sz="1100">
                <a:solidFill>
                  <a:srgbClr val="CBD5E1"/>
                </a:solidFill>
              </a:defRPr>
            </a:pPr>
            <a:r>
              <a:t>• Keep-Alive Socket Reuse:</a:t>
            </a:r>
            <a:br/>
            <a:r>
              <a:t>  In HTTP/1.1, connections are persistent by default unless Connection: close is received.</a:t>
            </a:r>
            <a:br/>
            <a:br/>
            <a:r>
              <a:t>• Exact Content-Length Framing:</a:t>
            </a:r>
            <a:br/>
            <a:r>
              <a:t>  Extracts body payload exactly matching Content-Length, avoiding framing ambiguities.</a:t>
            </a:r>
            <a:br/>
            <a:br/>
            <a:r>
              <a:t>• Malformed Request Defense:</a:t>
            </a:r>
            <a:br/>
            <a:r>
              <a:t>  Incomplete request lines, invalid versions (HTTP/2.0), or missing headers immediately yield 400 Bad Request or 505 Version Not Supported.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731520" y="365760"/>
            <a:ext cx="10698480" cy="320040"/>
          </a:xfrm>
          <a:prstGeom prst="rect">
            <a:avLst/>
          </a:prstGeom>
          <a:noFill/>
        </p:spPr>
        <p:txBody>
          <a:bodyPr wrap="square">
            <a:spAutoFit/>
          </a:bodyPr>
          <a:lstStyle/>
          <a:p>
            <a:pPr>
              <a:defRPr sz="1000" b="1">
                <a:solidFill>
                  <a:srgbClr val="38BDF8"/>
                </a:solidFill>
              </a:defRPr>
            </a:pPr>
            <a:r>
              <a:t>HTTP/1.1 WEB SERVER FROM SCRATCH</a:t>
            </a:r>
          </a:p>
        </p:txBody>
      </p:sp>
      <p:sp>
        <p:nvSpPr>
          <p:cNvPr id="3" name="TextBox 2"/>
          <p:cNvSpPr txBox="1"/>
          <p:nvPr/>
        </p:nvSpPr>
        <p:spPr>
          <a:xfrm>
            <a:off x="731520" y="640080"/>
            <a:ext cx="10698480" cy="594360"/>
          </a:xfrm>
          <a:prstGeom prst="rect">
            <a:avLst/>
          </a:prstGeom>
          <a:noFill/>
        </p:spPr>
        <p:txBody>
          <a:bodyPr wrap="square">
            <a:spAutoFit/>
          </a:bodyPr>
          <a:lstStyle/>
          <a:p>
            <a:pPr>
              <a:defRPr sz="2200" b="1">
                <a:solidFill>
                  <a:srgbClr val="F8FAFC"/>
                </a:solidFill>
              </a:defRPr>
            </a:pPr>
            <a:r>
              <a:t>QLAAC: Adaptive Admission Control State Machine</a:t>
            </a:r>
          </a:p>
        </p:txBody>
      </p:sp>
      <p:pic>
        <p:nvPicPr>
          <p:cNvPr id="4" name="Picture 3" descr="fig5_qlaac_state_machine.png"/>
          <p:cNvPicPr>
            <a:picLocks noChangeAspect="1"/>
          </p:cNvPicPr>
          <p:nvPr/>
        </p:nvPicPr>
        <p:blipFill>
          <a:blip r:embed="rId2"/>
          <a:stretch>
            <a:fillRect/>
          </a:stretch>
        </p:blipFill>
        <p:spPr>
          <a:xfrm>
            <a:off x="914400" y="1371600"/>
            <a:ext cx="10362895" cy="4846320"/>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731520" y="365760"/>
            <a:ext cx="10698480" cy="320040"/>
          </a:xfrm>
          <a:prstGeom prst="rect">
            <a:avLst/>
          </a:prstGeom>
          <a:noFill/>
        </p:spPr>
        <p:txBody>
          <a:bodyPr wrap="square">
            <a:spAutoFit/>
          </a:bodyPr>
          <a:lstStyle/>
          <a:p>
            <a:pPr>
              <a:defRPr sz="1000" b="1">
                <a:solidFill>
                  <a:srgbClr val="38BDF8"/>
                </a:solidFill>
              </a:defRPr>
            </a:pPr>
            <a:r>
              <a:t>HTTP/1.1 WEB SERVER FROM SCRATCH</a:t>
            </a:r>
          </a:p>
        </p:txBody>
      </p:sp>
      <p:sp>
        <p:nvSpPr>
          <p:cNvPr id="3" name="TextBox 2"/>
          <p:cNvSpPr txBox="1"/>
          <p:nvPr/>
        </p:nvSpPr>
        <p:spPr>
          <a:xfrm>
            <a:off x="731520" y="640080"/>
            <a:ext cx="10698480" cy="594360"/>
          </a:xfrm>
          <a:prstGeom prst="rect">
            <a:avLst/>
          </a:prstGeom>
          <a:noFill/>
        </p:spPr>
        <p:txBody>
          <a:bodyPr wrap="square">
            <a:spAutoFit/>
          </a:bodyPr>
          <a:lstStyle/>
          <a:p>
            <a:pPr>
              <a:defRPr sz="2200" b="1">
                <a:solidFill>
                  <a:srgbClr val="F8FAFC"/>
                </a:solidFill>
              </a:defRPr>
            </a:pPr>
            <a:r>
              <a:t>Security Architecture: Sandboxing &amp; Hardened Invariants</a:t>
            </a:r>
          </a:p>
        </p:txBody>
      </p:sp>
      <p:sp>
        <p:nvSpPr>
          <p:cNvPr id="4" name="Rounded Rectangle 3"/>
          <p:cNvSpPr/>
          <p:nvPr/>
        </p:nvSpPr>
        <p:spPr>
          <a:xfrm>
            <a:off x="731520" y="1371600"/>
            <a:ext cx="5120640" cy="475488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508760"/>
            <a:ext cx="4754880" cy="365760"/>
          </a:xfrm>
          <a:prstGeom prst="rect">
            <a:avLst/>
          </a:prstGeom>
          <a:noFill/>
        </p:spPr>
        <p:txBody>
          <a:bodyPr wrap="none">
            <a:spAutoFit/>
          </a:bodyPr>
          <a:lstStyle/>
          <a:p>
            <a:pPr>
              <a:defRPr sz="1300" b="1">
                <a:solidFill>
                  <a:srgbClr val="38BDF8"/>
                </a:solidFill>
              </a:defRPr>
            </a:pPr>
            <a:r>
              <a:t>Directory Traversal Mitigation</a:t>
            </a:r>
          </a:p>
        </p:txBody>
      </p:sp>
      <p:sp>
        <p:nvSpPr>
          <p:cNvPr id="6" name="TextBox 5"/>
          <p:cNvSpPr txBox="1"/>
          <p:nvPr/>
        </p:nvSpPr>
        <p:spPr>
          <a:xfrm>
            <a:off x="914400" y="1920240"/>
            <a:ext cx="4754880" cy="4023360"/>
          </a:xfrm>
          <a:prstGeom prst="rect">
            <a:avLst/>
          </a:prstGeom>
          <a:noFill/>
        </p:spPr>
        <p:txBody>
          <a:bodyPr wrap="square">
            <a:spAutoFit/>
          </a:bodyPr>
          <a:lstStyle/>
          <a:p>
            <a:pPr>
              <a:defRPr sz="1100">
                <a:solidFill>
                  <a:srgbClr val="CBD5E1"/>
                </a:solidFill>
              </a:defRPr>
            </a:pPr>
            <a:r>
              <a:t>• Threat Model:</a:t>
            </a:r>
            <a:br/>
            <a:r>
              <a:t>  Malicious clients submitting URI paths like /../../etc/shadow or URL-encoded traversals.</a:t>
            </a:r>
            <a:br/>
            <a:br/>
            <a:r>
              <a:t>• Canonical Sandbox Defense:</a:t>
            </a:r>
            <a:br/>
            <a:r>
              <a:t>  1. Combine document root and requested URI.</a:t>
            </a:r>
            <a:br/>
            <a:r>
              <a:t>  2. Resolve physical canonical path via realpath(3).</a:t>
            </a:r>
            <a:br/>
            <a:r>
              <a:t>  3. Verify canonical path begins with canonical root:</a:t>
            </a:r>
            <a:br/>
            <a:r>
              <a:t>     strncmp(resolved, canonical_root, len) == 0</a:t>
            </a:r>
            <a:br/>
            <a:r>
              <a:t>  4. Rejects violations with 403 Forbidden.</a:t>
            </a:r>
          </a:p>
        </p:txBody>
      </p:sp>
      <p:sp>
        <p:nvSpPr>
          <p:cNvPr id="7" name="Rounded Rectangle 6"/>
          <p:cNvSpPr/>
          <p:nvPr/>
        </p:nvSpPr>
        <p:spPr>
          <a:xfrm>
            <a:off x="6217920" y="1371600"/>
            <a:ext cx="5212080" cy="475488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0" y="1508760"/>
            <a:ext cx="4846320" cy="365760"/>
          </a:xfrm>
          <a:prstGeom prst="rect">
            <a:avLst/>
          </a:prstGeom>
          <a:noFill/>
        </p:spPr>
        <p:txBody>
          <a:bodyPr wrap="none">
            <a:spAutoFit/>
          </a:bodyPr>
          <a:lstStyle/>
          <a:p>
            <a:pPr>
              <a:defRPr sz="1300" b="1">
                <a:solidFill>
                  <a:srgbClr val="38BDF8"/>
                </a:solidFill>
              </a:defRPr>
            </a:pPr>
            <a:r>
              <a:t>Defensive Reliability Invariants</a:t>
            </a:r>
          </a:p>
        </p:txBody>
      </p:sp>
      <p:sp>
        <p:nvSpPr>
          <p:cNvPr id="9" name="TextBox 8"/>
          <p:cNvSpPr txBox="1"/>
          <p:nvPr/>
        </p:nvSpPr>
        <p:spPr>
          <a:xfrm>
            <a:off x="6400800" y="1920240"/>
            <a:ext cx="4846320" cy="4023360"/>
          </a:xfrm>
          <a:prstGeom prst="rect">
            <a:avLst/>
          </a:prstGeom>
          <a:noFill/>
        </p:spPr>
        <p:txBody>
          <a:bodyPr wrap="square">
            <a:spAutoFit/>
          </a:bodyPr>
          <a:lstStyle/>
          <a:p>
            <a:pPr>
              <a:defRPr sz="1100">
                <a:solidFill>
                  <a:srgbClr val="CBD5E1"/>
                </a:solidFill>
              </a:defRPr>
            </a:pPr>
            <a:r>
              <a:t>• Slowloris Mitigation:</a:t>
            </a:r>
            <a:br/>
            <a:r>
              <a:t>  Enforces 5-second socket receive timeout (SO_RCVTIMEO). Incomplete headers automatically disconnect.</a:t>
            </a:r>
            <a:br/>
            <a:br/>
            <a:r>
              <a:t>• Single-Owner Descriptor Invariant:</a:t>
            </a:r>
            <a:br/>
            <a:r>
              <a:t>  Sockets are held by listener, stored in queue, or held by worker. Never duplicated or leaked.</a:t>
            </a:r>
            <a:br/>
            <a:br/>
            <a:r>
              <a:t>• Zero Dynamic Heap Allocations in Hot Path:</a:t>
            </a:r>
            <a:br/>
            <a:r>
              <a:t>  All request parsing and status generation occurs in fixed stack frames, eliminating memory fragmentation and memory leaks.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731520" y="365760"/>
            <a:ext cx="10698480" cy="320040"/>
          </a:xfrm>
          <a:prstGeom prst="rect">
            <a:avLst/>
          </a:prstGeom>
          <a:noFill/>
        </p:spPr>
        <p:txBody>
          <a:bodyPr wrap="square">
            <a:spAutoFit/>
          </a:bodyPr>
          <a:lstStyle/>
          <a:p>
            <a:pPr>
              <a:defRPr sz="1000" b="1">
                <a:solidFill>
                  <a:srgbClr val="38BDF8"/>
                </a:solidFill>
              </a:defRPr>
            </a:pPr>
            <a:r>
              <a:t>HTTP/1.1 WEB SERVER FROM SCRATCH</a:t>
            </a:r>
          </a:p>
        </p:txBody>
      </p:sp>
      <p:sp>
        <p:nvSpPr>
          <p:cNvPr id="3" name="TextBox 2"/>
          <p:cNvSpPr txBox="1"/>
          <p:nvPr/>
        </p:nvSpPr>
        <p:spPr>
          <a:xfrm>
            <a:off x="731520" y="640080"/>
            <a:ext cx="10698480" cy="594360"/>
          </a:xfrm>
          <a:prstGeom prst="rect">
            <a:avLst/>
          </a:prstGeom>
          <a:noFill/>
        </p:spPr>
        <p:txBody>
          <a:bodyPr wrap="square">
            <a:spAutoFit/>
          </a:bodyPr>
          <a:lstStyle/>
          <a:p>
            <a:pPr>
              <a:defRPr sz="2200" b="1">
                <a:solidFill>
                  <a:srgbClr val="F8FAFC"/>
                </a:solidFill>
              </a:defRPr>
            </a:pPr>
            <a:r>
              <a:t>Telemetry &amp; Live Systems Dashboard</a:t>
            </a:r>
          </a:p>
        </p:txBody>
      </p:sp>
      <p:sp>
        <p:nvSpPr>
          <p:cNvPr id="4" name="Rounded Rectangle 3"/>
          <p:cNvSpPr/>
          <p:nvPr/>
        </p:nvSpPr>
        <p:spPr>
          <a:xfrm>
            <a:off x="731520" y="1371600"/>
            <a:ext cx="3840480" cy="475488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508760"/>
            <a:ext cx="3474720" cy="365760"/>
          </a:xfrm>
          <a:prstGeom prst="rect">
            <a:avLst/>
          </a:prstGeom>
          <a:noFill/>
        </p:spPr>
        <p:txBody>
          <a:bodyPr wrap="none">
            <a:spAutoFit/>
          </a:bodyPr>
          <a:lstStyle/>
          <a:p>
            <a:pPr>
              <a:defRPr sz="1300" b="1">
                <a:solidFill>
                  <a:srgbClr val="38BDF8"/>
                </a:solidFill>
              </a:defRPr>
            </a:pPr>
            <a:r>
              <a:t>In-Memory Telemetry Engine</a:t>
            </a:r>
          </a:p>
        </p:txBody>
      </p:sp>
      <p:sp>
        <p:nvSpPr>
          <p:cNvPr id="6" name="TextBox 5"/>
          <p:cNvSpPr txBox="1"/>
          <p:nvPr/>
        </p:nvSpPr>
        <p:spPr>
          <a:xfrm>
            <a:off x="914400" y="1920240"/>
            <a:ext cx="3474720" cy="4023360"/>
          </a:xfrm>
          <a:prstGeom prst="rect">
            <a:avLst/>
          </a:prstGeom>
          <a:noFill/>
        </p:spPr>
        <p:txBody>
          <a:bodyPr wrap="square">
            <a:spAutoFit/>
          </a:bodyPr>
          <a:lstStyle/>
          <a:p>
            <a:pPr>
              <a:defRPr sz="1050">
                <a:solidFill>
                  <a:srgbClr val="CBD5E1"/>
                </a:solidFill>
              </a:defRPr>
            </a:pPr>
            <a:r>
              <a:t>• Sliding Reservoir Sampling:</a:t>
            </a:r>
            <a:br/>
            <a:r>
              <a:t>  Circular buffer storing 1,024 recent request latency durations in microseconds.</a:t>
            </a:r>
            <a:br/>
            <a:br/>
            <a:r>
              <a:t>• Percentile Sorting:</a:t>
            </a:r>
            <a:br/>
            <a:r>
              <a:t>  Computes p50, p95, p99 on demand without locking worker execution.</a:t>
            </a:r>
            <a:br/>
            <a:br/>
            <a:r>
              <a:t>• JSON Telemetry API:</a:t>
            </a:r>
            <a:br/>
            <a:r>
              <a:t>  GET /metrics exposes real-time state, RPS, active workers, and queue count.</a:t>
            </a:r>
            <a:br/>
            <a:br/>
            <a:r>
              <a:t>• Scraping Isolation:</a:t>
            </a:r>
            <a:br/>
            <a:r>
              <a:t>  /metrics calls are excluded from latency metrics to prevent telemetry feedback pollution.</a:t>
            </a:r>
          </a:p>
        </p:txBody>
      </p:sp>
      <p:pic>
        <p:nvPicPr>
          <p:cNvPr id="7" name="Picture 6" descr="dashboard_preview_overview.png"/>
          <p:cNvPicPr>
            <a:picLocks noChangeAspect="1"/>
          </p:cNvPicPr>
          <p:nvPr/>
        </p:nvPicPr>
        <p:blipFill>
          <a:blip r:embed="rId2"/>
          <a:stretch>
            <a:fillRect/>
          </a:stretch>
        </p:blipFill>
        <p:spPr>
          <a:xfrm>
            <a:off x="4754880" y="1371600"/>
            <a:ext cx="6705295" cy="4754880"/>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731520" y="365760"/>
            <a:ext cx="10698480" cy="320040"/>
          </a:xfrm>
          <a:prstGeom prst="rect">
            <a:avLst/>
          </a:prstGeom>
          <a:noFill/>
        </p:spPr>
        <p:txBody>
          <a:bodyPr wrap="square">
            <a:spAutoFit/>
          </a:bodyPr>
          <a:lstStyle/>
          <a:p>
            <a:pPr>
              <a:defRPr sz="1000" b="1">
                <a:solidFill>
                  <a:srgbClr val="38BDF8"/>
                </a:solidFill>
              </a:defRPr>
            </a:pPr>
            <a:r>
              <a:t>HTTP/1.1 WEB SERVER FROM SCRATCH</a:t>
            </a:r>
          </a:p>
        </p:txBody>
      </p:sp>
      <p:sp>
        <p:nvSpPr>
          <p:cNvPr id="3" name="TextBox 2"/>
          <p:cNvSpPr txBox="1"/>
          <p:nvPr/>
        </p:nvSpPr>
        <p:spPr>
          <a:xfrm>
            <a:off x="731520" y="640080"/>
            <a:ext cx="10698480" cy="594360"/>
          </a:xfrm>
          <a:prstGeom prst="rect">
            <a:avLst/>
          </a:prstGeom>
          <a:noFill/>
        </p:spPr>
        <p:txBody>
          <a:bodyPr wrap="square">
            <a:spAutoFit/>
          </a:bodyPr>
          <a:lstStyle/>
          <a:p>
            <a:pPr>
              <a:defRPr sz="2200" b="1">
                <a:solidFill>
                  <a:srgbClr val="F8FAFC"/>
                </a:solidFill>
              </a:defRPr>
            </a:pPr>
            <a:r>
              <a:t>Implementation Tour &amp; Interactive Console</a:t>
            </a:r>
          </a:p>
        </p:txBody>
      </p:sp>
      <p:sp>
        <p:nvSpPr>
          <p:cNvPr id="4" name="Rounded Rectangle 3"/>
          <p:cNvSpPr/>
          <p:nvPr/>
        </p:nvSpPr>
        <p:spPr>
          <a:xfrm>
            <a:off x="731520" y="1371600"/>
            <a:ext cx="3840480" cy="475488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508760"/>
            <a:ext cx="3474720" cy="365760"/>
          </a:xfrm>
          <a:prstGeom prst="rect">
            <a:avLst/>
          </a:prstGeom>
          <a:noFill/>
        </p:spPr>
        <p:txBody>
          <a:bodyPr wrap="none">
            <a:spAutoFit/>
          </a:bodyPr>
          <a:lstStyle/>
          <a:p>
            <a:pPr>
              <a:defRPr sz="1300" b="1">
                <a:solidFill>
                  <a:srgbClr val="38BDF8"/>
                </a:solidFill>
              </a:defRPr>
            </a:pPr>
            <a:r>
              <a:t>C17 Modular Codebase Tour</a:t>
            </a:r>
          </a:p>
        </p:txBody>
      </p:sp>
      <p:sp>
        <p:nvSpPr>
          <p:cNvPr id="6" name="TextBox 5"/>
          <p:cNvSpPr txBox="1"/>
          <p:nvPr/>
        </p:nvSpPr>
        <p:spPr>
          <a:xfrm>
            <a:off x="914400" y="1920240"/>
            <a:ext cx="3474720" cy="4023360"/>
          </a:xfrm>
          <a:prstGeom prst="rect">
            <a:avLst/>
          </a:prstGeom>
          <a:noFill/>
        </p:spPr>
        <p:txBody>
          <a:bodyPr wrap="square">
            <a:spAutoFit/>
          </a:bodyPr>
          <a:lstStyle/>
          <a:p>
            <a:pPr>
              <a:defRPr sz="1050">
                <a:solidFill>
                  <a:srgbClr val="CBD5E1"/>
                </a:solidFill>
              </a:defRPr>
            </a:pPr>
            <a:r>
              <a:t>• src/server.c: Core accept loop and QLAAC interception.</a:t>
            </a:r>
            <a:br/>
            <a:r>
              <a:t>• src/socket.c: Berkeley socket setup and timeout options.</a:t>
            </a:r>
            <a:br/>
            <a:r>
              <a:t>• src/thread_pool.c: Worker threads and ingress timing.</a:t>
            </a:r>
            <a:br/>
            <a:r>
              <a:t>• src/connection_queue.c: Bounded FIFO circular buffer.</a:t>
            </a:r>
            <a:br/>
            <a:r>
              <a:t>• src/http_parser.c: RFC 9112 streaming parser.</a:t>
            </a:r>
            <a:br/>
            <a:r>
              <a:t>• src/router.c: Static file serving via sendfile(2) &amp; REST APIs.</a:t>
            </a:r>
            <a:br/>
            <a:r>
              <a:t>• src/adaptive_controller.c: QLAAC state machine.</a:t>
            </a:r>
            <a:br/>
            <a:r>
              <a:t>• src/metrics.c: In-memory latency reservoir.</a:t>
            </a:r>
          </a:p>
        </p:txBody>
      </p:sp>
      <p:pic>
        <p:nvPicPr>
          <p:cNvPr id="7" name="Picture 6" descr="dashboard_preview_console.png"/>
          <p:cNvPicPr>
            <a:picLocks noChangeAspect="1"/>
          </p:cNvPicPr>
          <p:nvPr/>
        </p:nvPicPr>
        <p:blipFill>
          <a:blip r:embed="rId2"/>
          <a:stretch>
            <a:fillRect/>
          </a:stretch>
        </p:blipFill>
        <p:spPr>
          <a:xfrm>
            <a:off x="4754880" y="1371600"/>
            <a:ext cx="6705295" cy="4754880"/>
          </a:xfrm>
          <a:prstGeom prst="rect">
            <a:avLst/>
          </a:prstGeom>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731520" y="365760"/>
            <a:ext cx="10698480" cy="320040"/>
          </a:xfrm>
          <a:prstGeom prst="rect">
            <a:avLst/>
          </a:prstGeom>
          <a:noFill/>
        </p:spPr>
        <p:txBody>
          <a:bodyPr wrap="square">
            <a:spAutoFit/>
          </a:bodyPr>
          <a:lstStyle/>
          <a:p>
            <a:pPr>
              <a:defRPr sz="1000" b="1">
                <a:solidFill>
                  <a:srgbClr val="38BDF8"/>
                </a:solidFill>
              </a:defRPr>
            </a:pPr>
            <a:r>
              <a:t>HTTP/1.1 WEB SERVER FROM SCRATCH</a:t>
            </a:r>
          </a:p>
        </p:txBody>
      </p:sp>
      <p:sp>
        <p:nvSpPr>
          <p:cNvPr id="3" name="TextBox 2"/>
          <p:cNvSpPr txBox="1"/>
          <p:nvPr/>
        </p:nvSpPr>
        <p:spPr>
          <a:xfrm>
            <a:off x="731520" y="640080"/>
            <a:ext cx="10698480" cy="594360"/>
          </a:xfrm>
          <a:prstGeom prst="rect">
            <a:avLst/>
          </a:prstGeom>
          <a:noFill/>
        </p:spPr>
        <p:txBody>
          <a:bodyPr wrap="square">
            <a:spAutoFit/>
          </a:bodyPr>
          <a:lstStyle/>
          <a:p>
            <a:pPr>
              <a:defRPr sz="2200" b="1">
                <a:solidFill>
                  <a:srgbClr val="F8FAFC"/>
                </a:solidFill>
              </a:defRPr>
            </a:pPr>
            <a:r>
              <a:t>Experimental Benchmarking Setup &amp; Methodology</a:t>
            </a:r>
          </a:p>
        </p:txBody>
      </p:sp>
      <p:sp>
        <p:nvSpPr>
          <p:cNvPr id="4" name="Rounded Rectangle 3"/>
          <p:cNvSpPr/>
          <p:nvPr/>
        </p:nvSpPr>
        <p:spPr>
          <a:xfrm>
            <a:off x="731520" y="1371600"/>
            <a:ext cx="5120640" cy="475488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508760"/>
            <a:ext cx="4754880" cy="365760"/>
          </a:xfrm>
          <a:prstGeom prst="rect">
            <a:avLst/>
          </a:prstGeom>
          <a:noFill/>
        </p:spPr>
        <p:txBody>
          <a:bodyPr wrap="none">
            <a:spAutoFit/>
          </a:bodyPr>
          <a:lstStyle/>
          <a:p>
            <a:pPr>
              <a:defRPr sz="1300" b="1">
                <a:solidFill>
                  <a:srgbClr val="38BDF8"/>
                </a:solidFill>
              </a:defRPr>
            </a:pPr>
            <a:r>
              <a:t>Experimental Matrix &amp; Workload</a:t>
            </a:r>
          </a:p>
        </p:txBody>
      </p:sp>
      <p:sp>
        <p:nvSpPr>
          <p:cNvPr id="6" name="TextBox 5"/>
          <p:cNvSpPr txBox="1"/>
          <p:nvPr/>
        </p:nvSpPr>
        <p:spPr>
          <a:xfrm>
            <a:off x="914400" y="1920240"/>
            <a:ext cx="4754880" cy="4023360"/>
          </a:xfrm>
          <a:prstGeom prst="rect">
            <a:avLst/>
          </a:prstGeom>
          <a:noFill/>
        </p:spPr>
        <p:txBody>
          <a:bodyPr wrap="square">
            <a:spAutoFit/>
          </a:bodyPr>
          <a:lstStyle/>
          <a:p>
            <a:pPr>
              <a:defRPr sz="1100">
                <a:solidFill>
                  <a:srgbClr val="CBD5E1"/>
                </a:solidFill>
              </a:defRPr>
            </a:pPr>
            <a:r>
              <a:t>• Controlled Concurrency Levels:</a:t>
            </a:r>
            <a:br/>
            <a:r>
              <a:t>  C = 2, 8, 32, and 64 concurrent client connections.</a:t>
            </a:r>
            <a:br/>
            <a:br/>
            <a:r>
              <a:t>• Rigorous Statistical Repetitions:</a:t>
            </a:r>
            <a:br/>
            <a:r>
              <a:t>  5 independent trials per concurrency level (40 total trials across Baseline and QLAAC configurations).</a:t>
            </a:r>
            <a:br/>
            <a:br/>
            <a:r>
              <a:t>• Workload Target:</a:t>
            </a:r>
            <a:br/>
            <a:r>
              <a:t>  GET /api/status returning lightweight JSON payload to stress network socket handling and scheduling.</a:t>
            </a:r>
            <a:br/>
            <a:br/>
            <a:r>
              <a:t>• Duration &amp; Warmup:</a:t>
            </a:r>
            <a:br/>
            <a:r>
              <a:t>  10 seconds per trial, measuring steady-state throughput.</a:t>
            </a:r>
          </a:p>
        </p:txBody>
      </p:sp>
      <p:sp>
        <p:nvSpPr>
          <p:cNvPr id="7" name="Rounded Rectangle 6"/>
          <p:cNvSpPr/>
          <p:nvPr/>
        </p:nvSpPr>
        <p:spPr>
          <a:xfrm>
            <a:off x="6217920" y="1371600"/>
            <a:ext cx="5212080" cy="475488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0" y="1508760"/>
            <a:ext cx="4846320" cy="365760"/>
          </a:xfrm>
          <a:prstGeom prst="rect">
            <a:avLst/>
          </a:prstGeom>
          <a:noFill/>
        </p:spPr>
        <p:txBody>
          <a:bodyPr wrap="none">
            <a:spAutoFit/>
          </a:bodyPr>
          <a:lstStyle/>
          <a:p>
            <a:pPr>
              <a:defRPr sz="1300" b="1">
                <a:solidFill>
                  <a:srgbClr val="38BDF8"/>
                </a:solidFill>
              </a:defRPr>
            </a:pPr>
            <a:r>
              <a:t>Rigorous Response Accounting Fix</a:t>
            </a:r>
          </a:p>
        </p:txBody>
      </p:sp>
      <p:sp>
        <p:nvSpPr>
          <p:cNvPr id="9" name="TextBox 8"/>
          <p:cNvSpPr txBox="1"/>
          <p:nvPr/>
        </p:nvSpPr>
        <p:spPr>
          <a:xfrm>
            <a:off x="6400800" y="1920240"/>
            <a:ext cx="4846320" cy="4023360"/>
          </a:xfrm>
          <a:prstGeom prst="rect">
            <a:avLst/>
          </a:prstGeom>
          <a:noFill/>
        </p:spPr>
        <p:txBody>
          <a:bodyPr wrap="square">
            <a:spAutoFit/>
          </a:bodyPr>
          <a:lstStyle/>
          <a:p>
            <a:pPr>
              <a:defRPr sz="1100">
                <a:solidFill>
                  <a:srgbClr val="CBD5E1"/>
                </a:solidFill>
              </a:defRPr>
            </a:pPr>
            <a:r>
              <a:t>• Audited Accounting Methodology:</a:t>
            </a:r>
            <a:br/>
            <a:r>
              <a:t>  Corrected benchmark parser to classify status lines strictly:</a:t>
            </a:r>
            <a:br/>
            <a:r>
              <a:t>  - 2xx: Successful application requests.</a:t>
            </a:r>
            <a:br/>
            <a:r>
              <a:t>  - 5xx: Server overload rejections.</a:t>
            </a:r>
            <a:br/>
            <a:r>
              <a:t>  - Transport errors: Timeouts or dropped connections.</a:t>
            </a:r>
            <a:br/>
            <a:br/>
            <a:r>
              <a:t>• Latency Isolation Guarantee:</a:t>
            </a:r>
            <a:br/>
            <a:r>
              <a:t>  p50/p95/p99 latency metrics represent successful 2xx responses only, preventing discarded 503 shedding packets from falsely deflating latency figures.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731520" y="365760"/>
            <a:ext cx="10698480" cy="320040"/>
          </a:xfrm>
          <a:prstGeom prst="rect">
            <a:avLst/>
          </a:prstGeom>
          <a:noFill/>
        </p:spPr>
        <p:txBody>
          <a:bodyPr wrap="square">
            <a:spAutoFit/>
          </a:bodyPr>
          <a:lstStyle/>
          <a:p>
            <a:pPr>
              <a:defRPr sz="1000" b="1">
                <a:solidFill>
                  <a:srgbClr val="38BDF8"/>
                </a:solidFill>
              </a:defRPr>
            </a:pPr>
            <a:r>
              <a:t>HTTP/1.1 WEB SERVER FROM SCRATCH</a:t>
            </a:r>
          </a:p>
        </p:txBody>
      </p:sp>
      <p:sp>
        <p:nvSpPr>
          <p:cNvPr id="3" name="TextBox 2"/>
          <p:cNvSpPr txBox="1"/>
          <p:nvPr/>
        </p:nvSpPr>
        <p:spPr>
          <a:xfrm>
            <a:off x="731520" y="640080"/>
            <a:ext cx="10698480" cy="594360"/>
          </a:xfrm>
          <a:prstGeom prst="rect">
            <a:avLst/>
          </a:prstGeom>
          <a:noFill/>
        </p:spPr>
        <p:txBody>
          <a:bodyPr wrap="square">
            <a:spAutoFit/>
          </a:bodyPr>
          <a:lstStyle/>
          <a:p>
            <a:pPr>
              <a:defRPr sz="2200" b="1">
                <a:solidFill>
                  <a:srgbClr val="F8FAFC"/>
                </a:solidFill>
              </a:defRPr>
            </a:pPr>
            <a:r>
              <a:t>Empirical Results: Throughput &amp; Tail Latency Comparison</a:t>
            </a:r>
          </a:p>
        </p:txBody>
      </p:sp>
      <p:pic>
        <p:nvPicPr>
          <p:cNvPr id="4" name="Picture 3" descr="fig1_throughput_comparison.png"/>
          <p:cNvPicPr>
            <a:picLocks noChangeAspect="1"/>
          </p:cNvPicPr>
          <p:nvPr/>
        </p:nvPicPr>
        <p:blipFill>
          <a:blip r:embed="rId2"/>
          <a:stretch>
            <a:fillRect/>
          </a:stretch>
        </p:blipFill>
        <p:spPr>
          <a:xfrm>
            <a:off x="731520" y="1371600"/>
            <a:ext cx="5120640" cy="3840480"/>
          </a:xfrm>
          <a:prstGeom prst="rect">
            <a:avLst/>
          </a:prstGeom>
        </p:spPr>
      </p:pic>
      <p:pic>
        <p:nvPicPr>
          <p:cNvPr id="5" name="Picture 4" descr="fig2_latency_p99_comparison.png"/>
          <p:cNvPicPr>
            <a:picLocks noChangeAspect="1"/>
          </p:cNvPicPr>
          <p:nvPr/>
        </p:nvPicPr>
        <p:blipFill>
          <a:blip r:embed="rId3"/>
          <a:stretch>
            <a:fillRect/>
          </a:stretch>
        </p:blipFill>
        <p:spPr>
          <a:xfrm>
            <a:off x="6217920" y="1371600"/>
            <a:ext cx="5212080" cy="3840480"/>
          </a:xfrm>
          <a:prstGeom prst="rect">
            <a:avLst/>
          </a:prstGeom>
        </p:spPr>
      </p:pic>
      <p:sp>
        <p:nvSpPr>
          <p:cNvPr id="6" name="Rounded Rectangle 5"/>
          <p:cNvSpPr/>
          <p:nvPr/>
        </p:nvSpPr>
        <p:spPr>
          <a:xfrm>
            <a:off x="731520" y="5349240"/>
            <a:ext cx="10698480" cy="1005840"/>
          </a:xfrm>
          <a:prstGeom prst="roundRect">
            <a:avLst/>
          </a:prstGeom>
          <a:solidFill>
            <a:srgbClr val="1E293B"/>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5440680"/>
            <a:ext cx="10332720" cy="822960"/>
          </a:xfrm>
          <a:prstGeom prst="rect">
            <a:avLst/>
          </a:prstGeom>
          <a:noFill/>
        </p:spPr>
        <p:txBody>
          <a:bodyPr wrap="square">
            <a:spAutoFit/>
          </a:bodyPr>
          <a:lstStyle/>
          <a:p>
            <a:pPr>
              <a:defRPr sz="1100" b="1">
                <a:solidFill>
                  <a:srgbClr val="F8FAFC"/>
                </a:solidFill>
              </a:defRPr>
            </a:pPr>
            <a:r>
              <a:t>KEY RESULT: At C=64, Baseline queue saturation explodes p99 latency to 440.33 ms. QLAAC sheds 72.14% excess traffic via HTTP 503 (mean 16,475 5xx/trial), holding p99 latency to 161.18 ms (2.73x improvement) and preventing queue collapse.</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731520" y="365760"/>
            <a:ext cx="10698480" cy="320040"/>
          </a:xfrm>
          <a:prstGeom prst="rect">
            <a:avLst/>
          </a:prstGeom>
          <a:noFill/>
        </p:spPr>
        <p:txBody>
          <a:bodyPr wrap="square">
            <a:spAutoFit/>
          </a:bodyPr>
          <a:lstStyle/>
          <a:p>
            <a:pPr>
              <a:defRPr sz="1000" b="1">
                <a:solidFill>
                  <a:srgbClr val="38BDF8"/>
                </a:solidFill>
              </a:defRPr>
            </a:pPr>
            <a:r>
              <a:t>HTTP/1.1 WEB SERVER FROM SCRATCH</a:t>
            </a:r>
          </a:p>
        </p:txBody>
      </p:sp>
      <p:sp>
        <p:nvSpPr>
          <p:cNvPr id="3" name="TextBox 2"/>
          <p:cNvSpPr txBox="1"/>
          <p:nvPr/>
        </p:nvSpPr>
        <p:spPr>
          <a:xfrm>
            <a:off x="731520" y="640080"/>
            <a:ext cx="10698480" cy="594360"/>
          </a:xfrm>
          <a:prstGeom prst="rect">
            <a:avLst/>
          </a:prstGeom>
          <a:noFill/>
        </p:spPr>
        <p:txBody>
          <a:bodyPr wrap="square">
            <a:spAutoFit/>
          </a:bodyPr>
          <a:lstStyle/>
          <a:p>
            <a:pPr>
              <a:defRPr sz="2200" b="1">
                <a:solidFill>
                  <a:srgbClr val="F8FAFC"/>
                </a:solidFill>
              </a:defRPr>
            </a:pPr>
            <a:r>
              <a:t>Engineering Limitations &amp; Core Lessons Learned</a:t>
            </a:r>
          </a:p>
        </p:txBody>
      </p:sp>
      <p:sp>
        <p:nvSpPr>
          <p:cNvPr id="4" name="Rounded Rectangle 3"/>
          <p:cNvSpPr/>
          <p:nvPr/>
        </p:nvSpPr>
        <p:spPr>
          <a:xfrm>
            <a:off x="731520" y="1371600"/>
            <a:ext cx="5120640" cy="475488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508760"/>
            <a:ext cx="4754880" cy="365760"/>
          </a:xfrm>
          <a:prstGeom prst="rect">
            <a:avLst/>
          </a:prstGeom>
          <a:noFill/>
        </p:spPr>
        <p:txBody>
          <a:bodyPr wrap="none">
            <a:spAutoFit/>
          </a:bodyPr>
          <a:lstStyle/>
          <a:p>
            <a:pPr>
              <a:defRPr sz="1300" b="1">
                <a:solidFill>
                  <a:srgbClr val="38BDF8"/>
                </a:solidFill>
              </a:defRPr>
            </a:pPr>
            <a:r>
              <a:t>Systemic Limitations</a:t>
            </a:r>
          </a:p>
        </p:txBody>
      </p:sp>
      <p:sp>
        <p:nvSpPr>
          <p:cNvPr id="6" name="TextBox 5"/>
          <p:cNvSpPr txBox="1"/>
          <p:nvPr/>
        </p:nvSpPr>
        <p:spPr>
          <a:xfrm>
            <a:off x="914400" y="1920240"/>
            <a:ext cx="4754880" cy="4023360"/>
          </a:xfrm>
          <a:prstGeom prst="rect">
            <a:avLst/>
          </a:prstGeom>
          <a:noFill/>
        </p:spPr>
        <p:txBody>
          <a:bodyPr wrap="square">
            <a:spAutoFit/>
          </a:bodyPr>
          <a:lstStyle/>
          <a:p>
            <a:pPr>
              <a:defRPr sz="1100">
                <a:solidFill>
                  <a:srgbClr val="CBD5E1"/>
                </a:solidFill>
              </a:defRPr>
            </a:pPr>
            <a:r>
              <a:t>• Synchronous Disk I/O Blocking:</a:t>
            </a:r>
            <a:br/>
            <a:r>
              <a:t>  While sendfile(2) minimizes kernel copies, disk cache misses still block worker threads.</a:t>
            </a:r>
            <a:br/>
            <a:br/>
            <a:r>
              <a:t>• HTTP/1.1 Head-of-Line Blocking:</a:t>
            </a:r>
            <a:br/>
            <a:r>
              <a:t>  Pipelined requests on a single TCP connection must be served sequentially.</a:t>
            </a:r>
            <a:br/>
            <a:br/>
            <a:r>
              <a:t>• Single-Process Bottleneck:</a:t>
            </a:r>
            <a:br/>
            <a:r>
              <a:t>  Architecture does not span multiple worker processes across NUMA nodes (future work: SO_REUSEPORT).</a:t>
            </a:r>
          </a:p>
        </p:txBody>
      </p:sp>
      <p:sp>
        <p:nvSpPr>
          <p:cNvPr id="7" name="Rounded Rectangle 6"/>
          <p:cNvSpPr/>
          <p:nvPr/>
        </p:nvSpPr>
        <p:spPr>
          <a:xfrm>
            <a:off x="6217920" y="1371600"/>
            <a:ext cx="5212080" cy="475488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0" y="1508760"/>
            <a:ext cx="4846320" cy="365760"/>
          </a:xfrm>
          <a:prstGeom prst="rect">
            <a:avLst/>
          </a:prstGeom>
          <a:noFill/>
        </p:spPr>
        <p:txBody>
          <a:bodyPr wrap="none">
            <a:spAutoFit/>
          </a:bodyPr>
          <a:lstStyle/>
          <a:p>
            <a:pPr>
              <a:defRPr sz="1300" b="1">
                <a:solidFill>
                  <a:srgbClr val="38BDF8"/>
                </a:solidFill>
              </a:defRPr>
            </a:pPr>
            <a:r>
              <a:t>Key Engineering Insights</a:t>
            </a:r>
          </a:p>
        </p:txBody>
      </p:sp>
      <p:sp>
        <p:nvSpPr>
          <p:cNvPr id="9" name="TextBox 8"/>
          <p:cNvSpPr txBox="1"/>
          <p:nvPr/>
        </p:nvSpPr>
        <p:spPr>
          <a:xfrm>
            <a:off x="6400800" y="1920240"/>
            <a:ext cx="4846320" cy="4023360"/>
          </a:xfrm>
          <a:prstGeom prst="rect">
            <a:avLst/>
          </a:prstGeom>
          <a:noFill/>
        </p:spPr>
        <p:txBody>
          <a:bodyPr wrap="square">
            <a:spAutoFit/>
          </a:bodyPr>
          <a:lstStyle/>
          <a:p>
            <a:pPr>
              <a:defRPr sz="1100">
                <a:solidFill>
                  <a:srgbClr val="CBD5E1"/>
                </a:solidFill>
              </a:defRPr>
            </a:pPr>
            <a:r>
              <a:t>• Ingress Timing Precision:</a:t>
            </a:r>
            <a:br/>
            <a:r>
              <a:t>  Measuring latency from socket accept incorrectly includes client keep-alive idle sleep. Capturing time on first request byte is essential for true service time.</a:t>
            </a:r>
            <a:br/>
            <a:br/>
            <a:r>
              <a:t>• Multi-Factor Admission Logic:</a:t>
            </a:r>
            <a:br/>
            <a:r>
              <a:t>  Worker saturation alone is an insufficient indicator of overload. True overload must consider queue occupancy and latency trends.</a:t>
            </a:r>
            <a:br/>
            <a:br/>
            <a:r>
              <a:t>• Observability Overhead:</a:t>
            </a:r>
            <a:br/>
            <a:r>
              <a:t>  Telemetry scraping (/metrics) must be excluded from application latency reservoirs.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731520" y="365760"/>
            <a:ext cx="10698480" cy="320040"/>
          </a:xfrm>
          <a:prstGeom prst="rect">
            <a:avLst/>
          </a:prstGeom>
          <a:noFill/>
        </p:spPr>
        <p:txBody>
          <a:bodyPr wrap="square">
            <a:spAutoFit/>
          </a:bodyPr>
          <a:lstStyle/>
          <a:p>
            <a:pPr>
              <a:defRPr sz="1000" b="1">
                <a:solidFill>
                  <a:srgbClr val="38BDF8"/>
                </a:solidFill>
              </a:defRPr>
            </a:pPr>
            <a:r>
              <a:t>HTTP/1.1 WEB SERVER FROM SCRATCH</a:t>
            </a:r>
          </a:p>
        </p:txBody>
      </p:sp>
      <p:sp>
        <p:nvSpPr>
          <p:cNvPr id="3" name="TextBox 2"/>
          <p:cNvSpPr txBox="1"/>
          <p:nvPr/>
        </p:nvSpPr>
        <p:spPr>
          <a:xfrm>
            <a:off x="731520" y="640080"/>
            <a:ext cx="10698480" cy="594360"/>
          </a:xfrm>
          <a:prstGeom prst="rect">
            <a:avLst/>
          </a:prstGeom>
          <a:noFill/>
        </p:spPr>
        <p:txBody>
          <a:bodyPr wrap="square">
            <a:spAutoFit/>
          </a:bodyPr>
          <a:lstStyle/>
          <a:p>
            <a:pPr>
              <a:defRPr sz="2200" b="1">
                <a:solidFill>
                  <a:srgbClr val="F8FAFC"/>
                </a:solidFill>
              </a:defRPr>
            </a:pPr>
            <a:r>
              <a:t>Conclusion &amp; Future Research Directions</a:t>
            </a:r>
          </a:p>
        </p:txBody>
      </p:sp>
      <p:sp>
        <p:nvSpPr>
          <p:cNvPr id="4" name="Rounded Rectangle 3"/>
          <p:cNvSpPr/>
          <p:nvPr/>
        </p:nvSpPr>
        <p:spPr>
          <a:xfrm>
            <a:off x="731520" y="1371600"/>
            <a:ext cx="5120640" cy="4754880"/>
          </a:xfrm>
          <a:prstGeom prst="roundRect">
            <a:avLst/>
          </a:prstGeom>
          <a:solidFill>
            <a:srgbClr val="1E293B"/>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508760"/>
            <a:ext cx="4754880" cy="365760"/>
          </a:xfrm>
          <a:prstGeom prst="rect">
            <a:avLst/>
          </a:prstGeom>
          <a:noFill/>
        </p:spPr>
        <p:txBody>
          <a:bodyPr wrap="none">
            <a:spAutoFit/>
          </a:bodyPr>
          <a:lstStyle/>
          <a:p>
            <a:pPr>
              <a:defRPr sz="1300" b="1">
                <a:solidFill>
                  <a:srgbClr val="38BDF8"/>
                </a:solidFill>
              </a:defRPr>
            </a:pPr>
            <a:r>
              <a:t>Summary of Contributions</a:t>
            </a:r>
          </a:p>
        </p:txBody>
      </p:sp>
      <p:sp>
        <p:nvSpPr>
          <p:cNvPr id="6" name="TextBox 5"/>
          <p:cNvSpPr txBox="1"/>
          <p:nvPr/>
        </p:nvSpPr>
        <p:spPr>
          <a:xfrm>
            <a:off x="914400" y="1920240"/>
            <a:ext cx="4754880" cy="4023360"/>
          </a:xfrm>
          <a:prstGeom prst="rect">
            <a:avLst/>
          </a:prstGeom>
          <a:noFill/>
        </p:spPr>
        <p:txBody>
          <a:bodyPr wrap="square">
            <a:spAutoFit/>
          </a:bodyPr>
          <a:lstStyle/>
          <a:p>
            <a:pPr>
              <a:defRPr sz="1100">
                <a:solidFill>
                  <a:srgbClr val="CBD5E1"/>
                </a:solidFill>
              </a:defRPr>
            </a:pPr>
            <a:r>
              <a:t>✓ Zero-Dependency C17 Server: Full HTTP/1.1 web server constructed on raw Berkeley TCP sockets.</a:t>
            </a:r>
            <a:br/>
            <a:br/>
            <a:r>
              <a:t>✓ Bounded Concurrency Pipeline: 16-worker thread pool with condition-variable FIFO queue.</a:t>
            </a:r>
            <a:br/>
            <a:br/>
            <a:r>
              <a:t>✓ Verified QLAAC Controller: Prevented queue collapse under 64 clients, cutting p99 latency by 2.73x.</a:t>
            </a:r>
            <a:br/>
            <a:br/>
            <a:r>
              <a:t>✓ Complete Verification: 100% pass rate across 5 C test suites and 23 Python RFC suites.</a:t>
            </a:r>
            <a:br/>
            <a:br/>
            <a:r>
              <a:t>✓ Production Deliverables: Comprehensive 12-page academic report, 18-slide presentation, and live dashboard.</a:t>
            </a:r>
          </a:p>
        </p:txBody>
      </p:sp>
      <p:sp>
        <p:nvSpPr>
          <p:cNvPr id="7" name="Rounded Rectangle 6"/>
          <p:cNvSpPr/>
          <p:nvPr/>
        </p:nvSpPr>
        <p:spPr>
          <a:xfrm>
            <a:off x="6217920" y="1371600"/>
            <a:ext cx="5212080" cy="475488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0" y="1508760"/>
            <a:ext cx="4846320" cy="365760"/>
          </a:xfrm>
          <a:prstGeom prst="rect">
            <a:avLst/>
          </a:prstGeom>
          <a:noFill/>
        </p:spPr>
        <p:txBody>
          <a:bodyPr wrap="none">
            <a:spAutoFit/>
          </a:bodyPr>
          <a:lstStyle/>
          <a:p>
            <a:pPr>
              <a:defRPr sz="1300" b="1">
                <a:solidFill>
                  <a:srgbClr val="38BDF8"/>
                </a:solidFill>
              </a:defRPr>
            </a:pPr>
            <a:r>
              <a:t>Future Research Directions</a:t>
            </a:r>
          </a:p>
        </p:txBody>
      </p:sp>
      <p:sp>
        <p:nvSpPr>
          <p:cNvPr id="9" name="TextBox 8"/>
          <p:cNvSpPr txBox="1"/>
          <p:nvPr/>
        </p:nvSpPr>
        <p:spPr>
          <a:xfrm>
            <a:off x="6400800" y="1920240"/>
            <a:ext cx="4846320" cy="4023360"/>
          </a:xfrm>
          <a:prstGeom prst="rect">
            <a:avLst/>
          </a:prstGeom>
          <a:noFill/>
        </p:spPr>
        <p:txBody>
          <a:bodyPr wrap="square">
            <a:spAutoFit/>
          </a:bodyPr>
          <a:lstStyle/>
          <a:p>
            <a:pPr>
              <a:defRPr sz="1100">
                <a:solidFill>
                  <a:srgbClr val="CBD5E1"/>
                </a:solidFill>
              </a:defRPr>
            </a:pPr>
            <a:r>
              <a:t>• Asynchronous I/O via io_uring:</a:t>
            </a:r>
            <a:br/>
            <a:r>
              <a:t>  Transitioning from blocking worker threads to Linux 5.1+ io_uring submission/completion queues.</a:t>
            </a:r>
            <a:br/>
            <a:br/>
            <a:r>
              <a:t>• Multi-Process Socket Sharding:</a:t>
            </a:r>
            <a:br/>
            <a:r>
              <a:t>  Utilizing SO_REUSEPORT to pin listener loops to individual CPU cores.</a:t>
            </a:r>
            <a:br/>
            <a:br/>
            <a:r>
              <a:t>• Binary HTTP/2 Protocol Multiplexing:</a:t>
            </a:r>
            <a:br/>
            <a:r>
              <a:t>  Implementing binary framing layers to eliminate Head-of-Line blocking.</a:t>
            </a:r>
            <a:br/>
            <a:br/>
            <a:r>
              <a:t>• Hardware TLS Acceleration:</a:t>
            </a:r>
            <a:br/>
            <a:r>
              <a:t>  Evaluating kernel TLS (kTLS) for hardware-offloaded cryptographic streaming.</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