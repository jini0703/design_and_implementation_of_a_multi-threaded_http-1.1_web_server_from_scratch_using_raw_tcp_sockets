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p50 (ms, Standard)</c:v>
                </c:pt>
              </c:strCache>
            </c:strRef>
          </c:tx>
          <c:spPr>
            <a:solidFill>
              <a:srgbClr val="5FD3DD"/>
            </a:solidFill>
            <a:ln>
              <a:noFill/>
            </a:ln>
          </c:spPr>
          <c:cat>
            <c:strRef>
              <c:f>Sheet1!$A$2:$A$5</c:f>
              <c:strCache>
                <c:ptCount val="4"/>
                <c:pt idx="0">
                  <c:v>C = 2
(0 queued)</c:v>
                </c:pt>
                <c:pt idx="1">
                  <c:v>C = 8
(4 queued)</c:v>
                </c:pt>
                <c:pt idx="2">
                  <c:v>C = 32
(28 queued)</c:v>
                </c:pt>
                <c:pt idx="3">
                  <c:v>C = 64
(60 queued)</c:v>
                </c:pt>
              </c:strCache>
            </c:strRef>
          </c:cat>
          <c:val>
            <c:numRef>
              <c:f>Sheet1!$B$2:$B$5</c:f>
              <c:numCache>
                <c:formatCode>General</c:formatCode>
                <c:ptCount val="4"/>
                <c:pt idx="0">
                  <c:v>0.11</c:v>
                </c:pt>
                <c:pt idx="1">
                  <c:v>0.53</c:v>
                </c:pt>
                <c:pt idx="2">
                  <c:v>0.52</c:v>
                </c:pt>
                <c:pt idx="3">
                  <c:v>0.53</c:v>
                </c:pt>
              </c:numCache>
            </c:numRef>
          </c:val>
        </c:ser>
        <c:ser>
          <c:idx val="1"/>
          <c:order val="1"/>
          <c:tx>
            <c:strRef>
              <c:f>Sheet1!$C$1</c:f>
              <c:strCache>
                <c:ptCount val="1"/>
                <c:pt idx="0">
                  <c:v>Baseline p99 (ms, Standard)</c:v>
                </c:pt>
              </c:strCache>
            </c:strRef>
          </c:tx>
          <c:spPr>
            <a:solidFill>
              <a:srgbClr val="C8453B"/>
            </a:solidFill>
            <a:ln>
              <a:noFill/>
            </a:ln>
          </c:spPr>
          <c:cat>
            <c:strRef>
              <c:f>Sheet1!$A$2:$A$5</c:f>
              <c:strCache>
                <c:ptCount val="4"/>
                <c:pt idx="0">
                  <c:v>C = 2
(0 queued)</c:v>
                </c:pt>
                <c:pt idx="1">
                  <c:v>C = 8
(4 queued)</c:v>
                </c:pt>
                <c:pt idx="2">
                  <c:v>C = 32
(28 queued)</c:v>
                </c:pt>
                <c:pt idx="3">
                  <c:v>C = 64
(60 queued)</c:v>
                </c:pt>
              </c:strCache>
            </c:strRef>
          </c:cat>
          <c:val>
            <c:numRef>
              <c:f>Sheet1!$C$2:$C$5</c:f>
              <c:numCache>
                <c:formatCode>General</c:formatCode>
                <c:ptCount val="4"/>
                <c:pt idx="0">
                  <c:v>0.43</c:v>
                </c:pt>
                <c:pt idx="1">
                  <c:v>28.54</c:v>
                </c:pt>
                <c:pt idx="2">
                  <c:v>201.93</c:v>
                </c:pt>
                <c:pt idx="3">
                  <c:v>434.75</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Latency (ms)</a:t>
                </a:r>
              </a:p>
            </c:rich>
          </c:tx>
          <c:layout/>
          <c:overlay val="0"/>
        </c:title>
        <c:numFmt formatCode="0.0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2xx RPS (mean)</c:v>
                </c:pt>
              </c:strCache>
            </c:strRef>
          </c:tx>
          <c:spPr>
            <a:solidFill>
              <a:srgbClr val="0B1F3A"/>
            </a:solidFill>
            <a:ln>
              <a:noFill/>
            </a:ln>
          </c:spPr>
          <c:cat>
            <c:strRef>
              <c:f>Sheet1!$A$2:$A$5</c:f>
              <c:strCache>
                <c:ptCount val="4"/>
                <c:pt idx="0">
                  <c:v>C=2 Standard</c:v>
                </c:pt>
                <c:pt idx="1">
                  <c:v>C=2 Retry-Aware</c:v>
                </c:pt>
                <c:pt idx="2">
                  <c:v>C=8 Standard</c:v>
                </c:pt>
                <c:pt idx="3">
                  <c:v>C=8 Retry-Aware</c:v>
                </c:pt>
              </c:strCache>
            </c:strRef>
          </c:cat>
          <c:val>
            <c:numRef>
              <c:f>Sheet1!$B$2:$B$5</c:f>
              <c:numCache>
                <c:formatCode>General</c:formatCode>
                <c:ptCount val="4"/>
                <c:pt idx="0">
                  <c:v>13806.78</c:v>
                </c:pt>
                <c:pt idx="1">
                  <c:v>14136.06</c:v>
                </c:pt>
                <c:pt idx="2">
                  <c:v>6869.56</c:v>
                </c:pt>
                <c:pt idx="3">
                  <c:v>6884.42</c:v>
                </c:pt>
              </c:numCache>
            </c:numRef>
          </c:val>
        </c:ser>
        <c:ser>
          <c:idx val="1"/>
          <c:order val="1"/>
          <c:tx>
            <c:strRef>
              <c:f>Sheet1!$C$1</c:f>
              <c:strCache>
                <c:ptCount val="1"/>
                <c:pt idx="0">
                  <c:v>QLAAC 2xx RPS (mean)</c:v>
                </c:pt>
              </c:strCache>
            </c:strRef>
          </c:tx>
          <c:spPr>
            <a:solidFill>
              <a:srgbClr val="0E9AA7"/>
            </a:solidFill>
            <a:ln>
              <a:noFill/>
            </a:ln>
          </c:spPr>
          <c:cat>
            <c:strRef>
              <c:f>Sheet1!$A$2:$A$5</c:f>
              <c:strCache>
                <c:ptCount val="4"/>
                <c:pt idx="0">
                  <c:v>C=2 Standard</c:v>
                </c:pt>
                <c:pt idx="1">
                  <c:v>C=2 Retry-Aware</c:v>
                </c:pt>
                <c:pt idx="2">
                  <c:v>C=8 Standard</c:v>
                </c:pt>
                <c:pt idx="3">
                  <c:v>C=8 Retry-Aware</c:v>
                </c:pt>
              </c:strCache>
            </c:strRef>
          </c:cat>
          <c:val>
            <c:numRef>
              <c:f>Sheet1!$C$2:$C$5</c:f>
              <c:numCache>
                <c:formatCode>General</c:formatCode>
                <c:ptCount val="4"/>
                <c:pt idx="0">
                  <c:v>13230.22</c:v>
                </c:pt>
                <c:pt idx="1">
                  <c:v>14115.42</c:v>
                </c:pt>
                <c:pt idx="2">
                  <c:v>6989.02</c:v>
                </c:pt>
                <c:pt idx="3">
                  <c:v>6587.7</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2xx Throughput (req/s)</a:t>
                </a:r>
              </a:p>
            </c:rich>
          </c:tx>
          <c:layout/>
          <c:overlay val="0"/>
        </c:title>
        <c:numFmt formatCode="#,##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p99 (ms)</c:v>
                </c:pt>
              </c:strCache>
            </c:strRef>
          </c:tx>
          <c:spPr>
            <a:solidFill>
              <a:srgbClr val="0B1F3A"/>
            </a:solidFill>
            <a:ln>
              <a:noFill/>
            </a:ln>
          </c:spPr>
          <c:cat>
            <c:strRef>
              <c:f>Sheet1!$A$2:$A$5</c:f>
              <c:strCache>
                <c:ptCount val="4"/>
                <c:pt idx="0">
                  <c:v>C=2 Standard</c:v>
                </c:pt>
                <c:pt idx="1">
                  <c:v>C=2 Retry-Aware</c:v>
                </c:pt>
                <c:pt idx="2">
                  <c:v>C=8 Standard</c:v>
                </c:pt>
                <c:pt idx="3">
                  <c:v>C=8 Retry-Aware</c:v>
                </c:pt>
              </c:strCache>
            </c:strRef>
          </c:cat>
          <c:val>
            <c:numRef>
              <c:f>Sheet1!$B$2:$B$5</c:f>
              <c:numCache>
                <c:formatCode>General</c:formatCode>
                <c:ptCount val="4"/>
                <c:pt idx="0">
                  <c:v>0.43</c:v>
                </c:pt>
                <c:pt idx="1">
                  <c:v>0.41</c:v>
                </c:pt>
                <c:pt idx="2">
                  <c:v>28.54</c:v>
                </c:pt>
                <c:pt idx="3">
                  <c:v>28.4</c:v>
                </c:pt>
              </c:numCache>
            </c:numRef>
          </c:val>
        </c:ser>
        <c:ser>
          <c:idx val="1"/>
          <c:order val="1"/>
          <c:tx>
            <c:strRef>
              <c:f>Sheet1!$C$1</c:f>
              <c:strCache>
                <c:ptCount val="1"/>
                <c:pt idx="0">
                  <c:v>QLAAC p99 (ms)</c:v>
                </c:pt>
              </c:strCache>
            </c:strRef>
          </c:tx>
          <c:spPr>
            <a:solidFill>
              <a:srgbClr val="0E9AA7"/>
            </a:solidFill>
            <a:ln>
              <a:noFill/>
            </a:ln>
          </c:spPr>
          <c:cat>
            <c:strRef>
              <c:f>Sheet1!$A$2:$A$5</c:f>
              <c:strCache>
                <c:ptCount val="4"/>
                <c:pt idx="0">
                  <c:v>C=2 Standard</c:v>
                </c:pt>
                <c:pt idx="1">
                  <c:v>C=2 Retry-Aware</c:v>
                </c:pt>
                <c:pt idx="2">
                  <c:v>C=8 Standard</c:v>
                </c:pt>
                <c:pt idx="3">
                  <c:v>C=8 Retry-Aware</c:v>
                </c:pt>
              </c:strCache>
            </c:strRef>
          </c:cat>
          <c:val>
            <c:numRef>
              <c:f>Sheet1!$C$2:$C$5</c:f>
              <c:numCache>
                <c:formatCode>General</c:formatCode>
                <c:ptCount val="4"/>
                <c:pt idx="0">
                  <c:v>0.46</c:v>
                </c:pt>
                <c:pt idx="1">
                  <c:v>0.42</c:v>
                </c:pt>
                <c:pt idx="2">
                  <c:v>28.02</c:v>
                </c:pt>
                <c:pt idx="3">
                  <c:v>29.49</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p99 Latency (ms)</a:t>
                </a:r>
              </a:p>
            </c:rich>
          </c:tx>
          <c:layout/>
          <c:overlay val="0"/>
        </c:title>
        <c:numFmt formatCode="0.0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2xx RPS</c:v>
                </c:pt>
              </c:strCache>
            </c:strRef>
          </c:tx>
          <c:spPr>
            <a:solidFill>
              <a:srgbClr val="0B1F3A"/>
            </a:solidFill>
            <a:ln>
              <a:noFill/>
            </a:ln>
          </c:spPr>
          <c:cat>
            <c:strRef>
              <c:f>Sheet1!$A$2:$A$3</c:f>
              <c:strCache>
                <c:ptCount val="2"/>
                <c:pt idx="0">
                  <c:v>C=32 Standard</c:v>
                </c:pt>
                <c:pt idx="1">
                  <c:v>C=32 Retry-Aware</c:v>
                </c:pt>
              </c:strCache>
            </c:strRef>
          </c:cat>
          <c:val>
            <c:numRef>
              <c:f>Sheet1!$B$2:$B$3</c:f>
              <c:numCache>
                <c:formatCode>General</c:formatCode>
                <c:ptCount val="2"/>
                <c:pt idx="0">
                  <c:v>6938.7</c:v>
                </c:pt>
                <c:pt idx="1">
                  <c:v>6767.7</c:v>
                </c:pt>
              </c:numCache>
            </c:numRef>
          </c:val>
        </c:ser>
        <c:ser>
          <c:idx val="1"/>
          <c:order val="1"/>
          <c:tx>
            <c:strRef>
              <c:f>Sheet1!$C$1</c:f>
              <c:strCache>
                <c:ptCount val="1"/>
                <c:pt idx="0">
                  <c:v>QLAAC 2xx RPS (−13.7% / −13.4%)</c:v>
                </c:pt>
              </c:strCache>
            </c:strRef>
          </c:tx>
          <c:spPr>
            <a:solidFill>
              <a:srgbClr val="D99A1E"/>
            </a:solidFill>
            <a:ln>
              <a:noFill/>
            </a:ln>
          </c:spPr>
          <c:cat>
            <c:strRef>
              <c:f>Sheet1!$A$2:$A$3</c:f>
              <c:strCache>
                <c:ptCount val="2"/>
                <c:pt idx="0">
                  <c:v>C=32 Standard</c:v>
                </c:pt>
                <c:pt idx="1">
                  <c:v>C=32 Retry-Aware</c:v>
                </c:pt>
              </c:strCache>
            </c:strRef>
          </c:cat>
          <c:val>
            <c:numRef>
              <c:f>Sheet1!$C$2:$C$3</c:f>
              <c:numCache>
                <c:formatCode>General</c:formatCode>
                <c:ptCount val="2"/>
                <c:pt idx="0">
                  <c:v>5988.46</c:v>
                </c:pt>
                <c:pt idx="1">
                  <c:v>5859.92</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2xx Throughput (req/s)</a:t>
                </a:r>
              </a:p>
            </c:rich>
          </c:tx>
          <c:layout/>
          <c:overlay val="0"/>
        </c:title>
        <c:numFmt formatCode="#,##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Latency (ms)</c:v>
                </c:pt>
              </c:strCache>
            </c:strRef>
          </c:tx>
          <c:spPr>
            <a:solidFill>
              <a:srgbClr val="0B1F3A"/>
            </a:solidFill>
            <a:ln>
              <a:noFill/>
            </a:ln>
          </c:spPr>
          <c:cat>
            <c:strRef>
              <c:f>Sheet1!$A$2:$A$5</c:f>
              <c:strCache>
                <c:ptCount val="4"/>
                <c:pt idx="0">
                  <c:v>Std p95</c:v>
                </c:pt>
                <c:pt idx="1">
                  <c:v>Std p99 (−61.3%)</c:v>
                </c:pt>
                <c:pt idx="2">
                  <c:v>Retry p95</c:v>
                </c:pt>
                <c:pt idx="3">
                  <c:v>Retry p99 (−61.3%)</c:v>
                </c:pt>
              </c:strCache>
            </c:strRef>
          </c:cat>
          <c:val>
            <c:numRef>
              <c:f>Sheet1!$B$2:$B$5</c:f>
              <c:numCache>
                <c:formatCode>General</c:formatCode>
                <c:ptCount val="4"/>
                <c:pt idx="0">
                  <c:v>1.31</c:v>
                </c:pt>
                <c:pt idx="1">
                  <c:v>201.93</c:v>
                </c:pt>
                <c:pt idx="2">
                  <c:v>1.34</c:v>
                </c:pt>
                <c:pt idx="3">
                  <c:v>206.97</c:v>
                </c:pt>
              </c:numCache>
            </c:numRef>
          </c:val>
        </c:ser>
        <c:ser>
          <c:idx val="1"/>
          <c:order val="1"/>
          <c:tx>
            <c:strRef>
              <c:f>Sheet1!$C$1</c:f>
              <c:strCache>
                <c:ptCount val="1"/>
                <c:pt idx="0">
                  <c:v>QLAAC Latency (ms)</c:v>
                </c:pt>
              </c:strCache>
            </c:strRef>
          </c:tx>
          <c:spPr>
            <a:solidFill>
              <a:srgbClr val="2E8B57"/>
            </a:solidFill>
            <a:ln>
              <a:noFill/>
            </a:ln>
          </c:spPr>
          <c:cat>
            <c:strRef>
              <c:f>Sheet1!$A$2:$A$5</c:f>
              <c:strCache>
                <c:ptCount val="4"/>
                <c:pt idx="0">
                  <c:v>Std p95</c:v>
                </c:pt>
                <c:pt idx="1">
                  <c:v>Std p99 (−61.3%)</c:v>
                </c:pt>
                <c:pt idx="2">
                  <c:v>Retry p95</c:v>
                </c:pt>
                <c:pt idx="3">
                  <c:v>Retry p99 (−61.3%)</c:v>
                </c:pt>
              </c:strCache>
            </c:strRef>
          </c:cat>
          <c:val>
            <c:numRef>
              <c:f>Sheet1!$C$2:$C$5</c:f>
              <c:numCache>
                <c:formatCode>General</c:formatCode>
                <c:ptCount val="4"/>
                <c:pt idx="0">
                  <c:v>72.99</c:v>
                </c:pt>
                <c:pt idx="1">
                  <c:v>78.17</c:v>
                </c:pt>
                <c:pt idx="2">
                  <c:v>74.65</c:v>
                </c:pt>
                <c:pt idx="3">
                  <c:v>80.15</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2xx Latency (ms)</a:t>
                </a:r>
              </a:p>
            </c:rich>
          </c:tx>
          <c:layout/>
          <c:overlay val="0"/>
        </c:title>
        <c:numFmt formatCode="0.0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2xx RPS</c:v>
                </c:pt>
              </c:strCache>
            </c:strRef>
          </c:tx>
          <c:spPr>
            <a:solidFill>
              <a:srgbClr val="0B1F3A"/>
            </a:solidFill>
            <a:ln>
              <a:noFill/>
            </a:ln>
          </c:spPr>
          <c:cat>
            <c:strRef>
              <c:f>Sheet1!$A$2:$A$3</c:f>
              <c:strCache>
                <c:ptCount val="2"/>
                <c:pt idx="0">
                  <c:v>C=64 Standard
(−81.3% RPS)</c:v>
                </c:pt>
                <c:pt idx="1">
                  <c:v>C=64 Retry-Aware
(−76.6% RPS)</c:v>
                </c:pt>
              </c:strCache>
            </c:strRef>
          </c:cat>
          <c:val>
            <c:numRef>
              <c:f>Sheet1!$B$2:$B$3</c:f>
              <c:numCache>
                <c:formatCode>General</c:formatCode>
                <c:ptCount val="2"/>
                <c:pt idx="0">
                  <c:v>6922.3</c:v>
                </c:pt>
                <c:pt idx="1">
                  <c:v>6805.68</c:v>
                </c:pt>
              </c:numCache>
            </c:numRef>
          </c:val>
        </c:ser>
        <c:ser>
          <c:idx val="1"/>
          <c:order val="1"/>
          <c:tx>
            <c:strRef>
              <c:f>Sheet1!$C$1</c:f>
              <c:strCache>
                <c:ptCount val="1"/>
                <c:pt idx="0">
                  <c:v>QLAAC 2xx RPS</c:v>
                </c:pt>
              </c:strCache>
            </c:strRef>
          </c:tx>
          <c:spPr>
            <a:solidFill>
              <a:srgbClr val="C8453B"/>
            </a:solidFill>
            <a:ln>
              <a:noFill/>
            </a:ln>
          </c:spPr>
          <c:cat>
            <c:strRef>
              <c:f>Sheet1!$A$2:$A$3</c:f>
              <c:strCache>
                <c:ptCount val="2"/>
                <c:pt idx="0">
                  <c:v>C=64 Standard
(−81.3% RPS)</c:v>
                </c:pt>
                <c:pt idx="1">
                  <c:v>C=64 Retry-Aware
(−76.6% RPS)</c:v>
                </c:pt>
              </c:strCache>
            </c:strRef>
          </c:cat>
          <c:val>
            <c:numRef>
              <c:f>Sheet1!$C$2:$C$3</c:f>
              <c:numCache>
                <c:formatCode>General</c:formatCode>
                <c:ptCount val="2"/>
                <c:pt idx="0">
                  <c:v>1295.26</c:v>
                </c:pt>
                <c:pt idx="1">
                  <c:v>1591.48</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2xx Throughput (req/s)</a:t>
                </a:r>
              </a:p>
            </c:rich>
          </c:tx>
          <c:layout/>
          <c:overlay val="0"/>
        </c:title>
        <c:numFmt formatCode="#,##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p99 (ms)</c:v>
                </c:pt>
              </c:strCache>
            </c:strRef>
          </c:tx>
          <c:spPr>
            <a:solidFill>
              <a:srgbClr val="0B1F3A"/>
            </a:solidFill>
            <a:ln>
              <a:noFill/>
            </a:ln>
          </c:spPr>
          <c:cat>
            <c:strRef>
              <c:f>Sheet1!$A$2:$A$3</c:f>
              <c:strCache>
                <c:ptCount val="2"/>
                <c:pt idx="0">
                  <c:v>C=64 Standard
(+9.4% p99 Imp)</c:v>
                </c:pt>
                <c:pt idx="1">
                  <c:v>C=64 Retry-Aware
(+60.6% p99 Imp)</c:v>
                </c:pt>
              </c:strCache>
            </c:strRef>
          </c:cat>
          <c:val>
            <c:numRef>
              <c:f>Sheet1!$B$2:$B$3</c:f>
              <c:numCache>
                <c:formatCode>General</c:formatCode>
                <c:ptCount val="2"/>
                <c:pt idx="0">
                  <c:v>434.75</c:v>
                </c:pt>
                <c:pt idx="1">
                  <c:v>444.17</c:v>
                </c:pt>
              </c:numCache>
            </c:numRef>
          </c:val>
        </c:ser>
        <c:ser>
          <c:idx val="1"/>
          <c:order val="1"/>
          <c:tx>
            <c:strRef>
              <c:f>Sheet1!$C$1</c:f>
              <c:strCache>
                <c:ptCount val="1"/>
                <c:pt idx="0">
                  <c:v>QLAAC p99 (ms, admitted 2xx)</c:v>
                </c:pt>
              </c:strCache>
            </c:strRef>
          </c:tx>
          <c:spPr>
            <a:solidFill>
              <a:srgbClr val="0E9AA7"/>
            </a:solidFill>
            <a:ln>
              <a:noFill/>
            </a:ln>
          </c:spPr>
          <c:cat>
            <c:strRef>
              <c:f>Sheet1!$A$2:$A$3</c:f>
              <c:strCache>
                <c:ptCount val="2"/>
                <c:pt idx="0">
                  <c:v>C=64 Standard
(+9.4% p99 Imp)</c:v>
                </c:pt>
                <c:pt idx="1">
                  <c:v>C=64 Retry-Aware
(+60.6% p99 Imp)</c:v>
                </c:pt>
              </c:strCache>
            </c:strRef>
          </c:cat>
          <c:val>
            <c:numRef>
              <c:f>Sheet1!$C$2:$C$3</c:f>
              <c:numCache>
                <c:formatCode>General</c:formatCode>
                <c:ptCount val="2"/>
                <c:pt idx="0">
                  <c:v>393.73</c:v>
                </c:pt>
                <c:pt idx="1">
                  <c:v>175.15</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p99 Latency (ms)</a:t>
                </a:r>
              </a:p>
            </c:rich>
          </c:tx>
          <c:layout/>
          <c:overlay val="0"/>
        </c:title>
        <c:numFmt formatCode="0.0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Fresh Baseline 2xx RPS</c:v>
                </c:pt>
              </c:strCache>
            </c:strRef>
          </c:tx>
          <c:spPr>
            <a:solidFill>
              <a:srgbClr val="0B1F3A"/>
            </a:solidFill>
            <a:ln>
              <a:noFill/>
            </a:ln>
          </c:spPr>
          <c:cat>
            <c:strRef>
              <c:f>Sheet1!$A$2:$A$7</c:f>
              <c:strCache>
                <c:ptCount val="6"/>
                <c:pt idx="0">
                  <c:v>C=2 Std</c:v>
                </c:pt>
                <c:pt idx="1">
                  <c:v>C=8 Std</c:v>
                </c:pt>
                <c:pt idx="2">
                  <c:v>C=32 Std</c:v>
                </c:pt>
                <c:pt idx="3">
                  <c:v>C=64 Std</c:v>
                </c:pt>
                <c:pt idx="4">
                  <c:v>C=32 Retry</c:v>
                </c:pt>
                <c:pt idx="5">
                  <c:v>C=64 Retry</c:v>
                </c:pt>
              </c:strCache>
            </c:strRef>
          </c:cat>
          <c:val>
            <c:numRef>
              <c:f>Sheet1!$B$2:$B$7</c:f>
              <c:numCache>
                <c:formatCode>General</c:formatCode>
                <c:ptCount val="6"/>
                <c:pt idx="0">
                  <c:v>37065.64</c:v>
                </c:pt>
                <c:pt idx="1">
                  <c:v>24702.8</c:v>
                </c:pt>
                <c:pt idx="2">
                  <c:v>26315.9</c:v>
                </c:pt>
                <c:pt idx="3">
                  <c:v>26205.88</c:v>
                </c:pt>
                <c:pt idx="4">
                  <c:v>26100.96</c:v>
                </c:pt>
                <c:pt idx="5">
                  <c:v>25891.42</c:v>
                </c:pt>
              </c:numCache>
            </c:numRef>
          </c:val>
        </c:ser>
        <c:ser>
          <c:idx val="1"/>
          <c:order val="1"/>
          <c:tx>
            <c:strRef>
              <c:f>Sheet1!$C$1</c:f>
              <c:strCache>
                <c:ptCount val="1"/>
                <c:pt idx="0">
                  <c:v>Fresh QLAAC 2xx RPS</c:v>
                </c:pt>
              </c:strCache>
            </c:strRef>
          </c:tx>
          <c:spPr>
            <a:solidFill>
              <a:srgbClr val="0E9AA7"/>
            </a:solidFill>
            <a:ln>
              <a:noFill/>
            </a:ln>
          </c:spPr>
          <c:cat>
            <c:strRef>
              <c:f>Sheet1!$A$2:$A$7</c:f>
              <c:strCache>
                <c:ptCount val="6"/>
                <c:pt idx="0">
                  <c:v>C=2 Std</c:v>
                </c:pt>
                <c:pt idx="1">
                  <c:v>C=8 Std</c:v>
                </c:pt>
                <c:pt idx="2">
                  <c:v>C=32 Std</c:v>
                </c:pt>
                <c:pt idx="3">
                  <c:v>C=64 Std</c:v>
                </c:pt>
                <c:pt idx="4">
                  <c:v>C=32 Retry</c:v>
                </c:pt>
                <c:pt idx="5">
                  <c:v>C=64 Retry</c:v>
                </c:pt>
              </c:strCache>
            </c:strRef>
          </c:cat>
          <c:val>
            <c:numRef>
              <c:f>Sheet1!$C$2:$C$7</c:f>
              <c:numCache>
                <c:formatCode>General</c:formatCode>
                <c:ptCount val="6"/>
                <c:pt idx="0">
                  <c:v>36254.12</c:v>
                </c:pt>
                <c:pt idx="1">
                  <c:v>25966.64</c:v>
                </c:pt>
                <c:pt idx="2">
                  <c:v>22846.24</c:v>
                </c:pt>
                <c:pt idx="3">
                  <c:v>4662.02</c:v>
                </c:pt>
                <c:pt idx="4">
                  <c:v>23295.1</c:v>
                </c:pt>
                <c:pt idx="5">
                  <c:v>8727.14</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2xx RPS (req/s)</a:t>
                </a:r>
              </a:p>
            </c:rich>
          </c:tx>
          <c:layout/>
          <c:overlay val="0"/>
        </c:title>
        <c:numFmt formatCode="#,##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Fresh Baseline p99 (ms)</c:v>
                </c:pt>
              </c:strCache>
            </c:strRef>
          </c:tx>
          <c:spPr>
            <a:solidFill>
              <a:srgbClr val="0B1F3A"/>
            </a:solidFill>
            <a:ln>
              <a:noFill/>
            </a:ln>
          </c:spPr>
          <c:cat>
            <c:strRef>
              <c:f>Sheet1!$A$2:$A$7</c:f>
              <c:strCache>
                <c:ptCount val="6"/>
                <c:pt idx="0">
                  <c:v>C=8 Std</c:v>
                </c:pt>
                <c:pt idx="1">
                  <c:v>C=32 Std</c:v>
                </c:pt>
                <c:pt idx="2">
                  <c:v>C=64 Std</c:v>
                </c:pt>
                <c:pt idx="3">
                  <c:v>C=8 Retry</c:v>
                </c:pt>
                <c:pt idx="4">
                  <c:v>C=32 Retry</c:v>
                </c:pt>
                <c:pt idx="5">
                  <c:v>C=64 Retry</c:v>
                </c:pt>
              </c:strCache>
            </c:strRef>
          </c:cat>
          <c:val>
            <c:numRef>
              <c:f>Sheet1!$B$2:$B$7</c:f>
              <c:numCache>
                <c:formatCode>General</c:formatCode>
                <c:ptCount val="6"/>
                <c:pt idx="0">
                  <c:v>7.766</c:v>
                </c:pt>
                <c:pt idx="1">
                  <c:v>52.716</c:v>
                </c:pt>
                <c:pt idx="2">
                  <c:v>113.21</c:v>
                </c:pt>
                <c:pt idx="3">
                  <c:v>7.588</c:v>
                </c:pt>
                <c:pt idx="4">
                  <c:v>52.868</c:v>
                </c:pt>
                <c:pt idx="5">
                  <c:v>114.79</c:v>
                </c:pt>
              </c:numCache>
            </c:numRef>
          </c:val>
        </c:ser>
        <c:ser>
          <c:idx val="1"/>
          <c:order val="1"/>
          <c:tx>
            <c:strRef>
              <c:f>Sheet1!$C$1</c:f>
              <c:strCache>
                <c:ptCount val="1"/>
                <c:pt idx="0">
                  <c:v>Fresh QLAAC p99 (ms)</c:v>
                </c:pt>
              </c:strCache>
            </c:strRef>
          </c:tx>
          <c:spPr>
            <a:solidFill>
              <a:srgbClr val="2E8B57"/>
            </a:solidFill>
            <a:ln>
              <a:noFill/>
            </a:ln>
          </c:spPr>
          <c:cat>
            <c:strRef>
              <c:f>Sheet1!$A$2:$A$7</c:f>
              <c:strCache>
                <c:ptCount val="6"/>
                <c:pt idx="0">
                  <c:v>C=8 Std</c:v>
                </c:pt>
                <c:pt idx="1">
                  <c:v>C=32 Std</c:v>
                </c:pt>
                <c:pt idx="2">
                  <c:v>C=64 Std</c:v>
                </c:pt>
                <c:pt idx="3">
                  <c:v>C=8 Retry</c:v>
                </c:pt>
                <c:pt idx="4">
                  <c:v>C=32 Retry</c:v>
                </c:pt>
                <c:pt idx="5">
                  <c:v>C=64 Retry</c:v>
                </c:pt>
              </c:strCache>
            </c:strRef>
          </c:cat>
          <c:val>
            <c:numRef>
              <c:f>Sheet1!$C$2:$C$7</c:f>
              <c:numCache>
                <c:formatCode>General</c:formatCode>
                <c:ptCount val="6"/>
                <c:pt idx="0">
                  <c:v>7.39</c:v>
                </c:pt>
                <c:pt idx="1">
                  <c:v>21.944</c:v>
                </c:pt>
                <c:pt idx="2">
                  <c:v>90.162</c:v>
                </c:pt>
                <c:pt idx="3">
                  <c:v>7.662</c:v>
                </c:pt>
                <c:pt idx="4">
                  <c:v>21.476</c:v>
                </c:pt>
                <c:pt idx="5">
                  <c:v>33.424</c:v>
                </c:pt>
              </c:numCache>
            </c:numRef>
          </c:val>
        </c:ser>
        <c:gapWidth val="130"/>
        <c:overlap val="-10"/>
        <c:axId val="-2068027336"/>
        <c:axId val="-2113994440"/>
      </c:barChart>
      <c:catAx>
        <c:axId val="-2068027336"/>
        <c:scaling>
          <c:orientation val="minMax"/>
        </c:scaling>
        <c:delete val="0"/>
        <c:axPos val="b"/>
        <c:majorTickMark val="out"/>
        <c:minorTickMark val="none"/>
        <c:tickLblPos val="nextTo"/>
        <c:txPr>
          <a:bodyPr/>
          <a:lstStyle/>
          <a:p>
            <a:pPr>
              <a:defRPr sz="1100" b="1">
                <a:solidFill>
                  <a:srgbClr val="0B1F3A"/>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D0D7DE"/>
              </a:solidFill>
            </a:ln>
          </c:spPr>
        </c:majorGridlines>
        <c:title>
          <c:tx>
            <c:rich>
              <a:bodyPr/>
              <a:lstStyle/>
              <a:p>
                <a:r>
                  <a:rPr sz="1100" b="1">
                    <a:solidFill>
                      <a:srgbClr val="5B6676"/>
                    </a:solidFill>
                    <a:latin typeface="Calibri"/>
                  </a:rPr>
                  <a:t>p99 Latency (ms)</a:t>
                </a:r>
              </a:p>
            </c:rich>
          </c:tx>
          <c:layout/>
          <c:overlay val="0"/>
        </c:title>
        <c:numFmt formatCode="0.00" sourceLinked="0"/>
        <c:majorTickMark val="out"/>
        <c:minorTickMark val="none"/>
        <c:tickLblPos val="nextTo"/>
        <c:txPr>
          <a:bodyPr/>
          <a:lstStyle/>
          <a:p>
            <a:pPr>
              <a:defRPr sz="1100">
                <a:solidFill>
                  <a:srgbClr val="5B6676"/>
                </a:solidFill>
                <a:latin typeface="Calibri"/>
              </a:defRPr>
            </a:pPr>
          </a:p>
        </c:txPr>
        <c:crossAx val="-2068027336"/>
        <c:crosses val="autoZero"/>
      </c:valAx>
    </c:plotArea>
    <c:legend>
      <c:legendPos val="t"/>
      <c:overlay val="0"/>
      <c:txPr>
        <a:bodyPr/>
        <a:lstStyle/>
        <a:p>
          <a:pPr>
            <a:defRPr sz="1150">
              <a:solidFill>
                <a:srgbClr val="1F2937"/>
              </a:solidFill>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Good morning, Professor. I am Yash Pradhan (24BCE0702), here with Anjini Pandey (24BCE0714), presenting our BCSE308P project: Design and Implementation of a Multi-Threaded HTTP/1.1 Web Server from Scratch Using Raw TCP Sockets. Our presentation follows the ten required course sections in exact order, and both our baseline and QLAAC modes run the exact same compiled C17 binary (`bin/server` versus `bin/server -a`).</a:t>
            </a:r>
          </a:p>
          <a:p/>
          <a:p>
            <a:r>
              <a:rPr sz="1200">
                <a:latin typeface="Calibri"/>
              </a:rPr>
              <a:t>KEY TECHNICAL &amp; CHART/DIAGRAM EXPLANATION:</a:t>
            </a:r>
          </a:p>
          <a:p>
            <a:r>
              <a:rPr sz="1200">
                <a:latin typeface="Calibri"/>
              </a:rPr>
              <a:t>• Highlight that both Baseline and QLAAC run on the exact same compiled C17 binary (`bin/server` vs `bin/server -a`).</a:t>
            </a:r>
          </a:p>
          <a:p/>
          <a:p>
            <a:r>
              <a:rPr sz="1200">
                <a:latin typeface="Calibri"/>
              </a:rPr>
              <a:t>TRANSITION TO NEXT SLIDE: Anjini will now open Section 2 on the queueing problem and motivation.</a:t>
            </a:r>
          </a:p>
          <a:p/>
          <a:p>
            <a:r>
              <a:rPr sz="1200">
                <a:latin typeface="Calibri"/>
              </a:rPr>
              <a:t>ANTICIPATED EXAMINER VIVA FOLLOW-UP:</a:t>
            </a:r>
          </a:p>
          <a:p>
            <a:r>
              <a:rPr sz="1200">
                <a:latin typeface="Calibri"/>
              </a:rPr>
              <a:t>  Q: Why did you build the server from raw POSIX sockets in C17 instead of using an existing HTTP library?</a:t>
            </a:r>
          </a:p>
          <a:p>
            <a:r>
              <a:rPr sz="1200">
                <a:latin typeface="Calibri"/>
              </a:rPr>
              <a:t>  A: Building directly on `socket`, `bind`, `listen`, `accept4`, `poll`, `recv`, `send`, `writev`, and `sendfile` exposes TCP byte-stream framing, persistent keep-alive worker pinning, and bounded queue synchronisation directly at the systems level.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2 opens Section 2 on our problem and motivation. In a bounded thread-pool server with four worker threads and a 64-slot FIFO queue, each persistent HTTP/1.1 connection pins a worker until it closes. By Little's Law (L = lambda W), once all four workers are busy, extra clients (C minus 4) accumulate in the FIFO queue rather than adding throughput—inflating baseline p99 from 28.54 ms at C = 8 to 434.75 ms at C = 64 while p50 stays 0.53 ms.</a:t>
            </a:r>
          </a:p>
          <a:p/>
          <a:p>
            <a:r>
              <a:rPr sz="1200">
                <a:latin typeface="Calibri"/>
              </a:rPr>
              <a:t>KEY TECHNICAL &amp; CHART/DIAGRAM EXPLANATION:</a:t>
            </a:r>
          </a:p>
          <a:p>
            <a:r>
              <a:rPr sz="1200">
                <a:latin typeface="Calibri"/>
              </a:rPr>
              <a:t>• Use the baseline chart strictly to motivate the queueing problem; full baseline-vs-QLAAC comparisons are presented in Section 8.</a:t>
            </a:r>
          </a:p>
          <a:p>
            <a:r>
              <a:rPr sz="1200">
                <a:latin typeface="Calibri"/>
              </a:rPr>
              <a:t>• Connect this directly to Gettys &amp; Nichols's bufferbloat analysis [9] and Dean &amp; Barroso's 'The Tail at Scale' [10].</a:t>
            </a:r>
          </a:p>
          <a:p/>
          <a:p>
            <a:r>
              <a:rPr sz="1200">
                <a:latin typeface="Calibri"/>
              </a:rPr>
              <a:t>TRANSITION TO NEXT SLIDE: Yash will now state our research question, engineering objectives, and networking significance.</a:t>
            </a:r>
          </a:p>
          <a:p/>
          <a:p>
            <a:r>
              <a:rPr sz="1200">
                <a:latin typeface="Calibri"/>
              </a:rPr>
              <a:t>ANTICIPATED EXAMINER VIVA FOLLOW-UP:</a:t>
            </a:r>
          </a:p>
          <a:p>
            <a:r>
              <a:rPr sz="1200">
                <a:latin typeface="Calibri"/>
              </a:rPr>
              <a:t>  Q: Why doesn't throughput increase when concurrency grows from C = 8 to C = 64 in the baseline?</a:t>
            </a:r>
          </a:p>
          <a:p>
            <a:r>
              <a:rPr sz="1200">
                <a:latin typeface="Calibri"/>
              </a:rPr>
              <a:t>  A: Because all 4 worker threads are already 100% utilized at C = 8 (~6,870–6,939 req/s). Additional clients beyond W = 4 only increase the queue length L and waiting time W per Little's Law.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3 states our core research question, engineering objectives, and networking scope. We ask whether a lightweight in-server controller using worker utilization, queue occupancy, processing p95, and queue-wait p95 can bound p99 tail latency when C exceeds W, and at what exact cost to 2xx throughput, p95 latency, and 503 rejections. Table 1.1 on the right maps our C17 modules directly to six foundational Computer Networks syllabus concepts.</a:t>
            </a:r>
          </a:p>
          <a:p/>
          <a:p>
            <a:r>
              <a:rPr sz="1200">
                <a:latin typeface="Calibri"/>
              </a:rPr>
              <a:t>KEY TECHNICAL &amp; CHART/DIAGRAM EXPLANATION:</a:t>
            </a:r>
          </a:p>
          <a:p>
            <a:r>
              <a:rPr sz="1200">
                <a:latin typeface="Calibri"/>
              </a:rPr>
              <a:t>• Emphasize that we do not claim universal superiority; we measure a workload- and client-dependent latency–throughput trade-off.</a:t>
            </a:r>
          </a:p>
          <a:p/>
          <a:p>
            <a:r>
              <a:rPr sz="1200">
                <a:latin typeface="Calibri"/>
              </a:rPr>
              <a:t>TRANSITION TO NEXT SLIDE: Anjini will now briefly review the key literature and standards that motivate our approach.</a:t>
            </a:r>
          </a:p>
          <a:p/>
          <a:p>
            <a:r>
              <a:rPr sz="1200">
                <a:latin typeface="Calibri"/>
              </a:rPr>
              <a:t>ANTICIPATED EXAMINER VIVA FOLLOW-UP:</a:t>
            </a:r>
          </a:p>
          <a:p>
            <a:r>
              <a:rPr sz="1200">
                <a:latin typeface="Calibri"/>
              </a:rPr>
              <a:t>  Q: How is successful throughput defined in your study?</a:t>
            </a:r>
          </a:p>
          <a:p>
            <a:r>
              <a:rPr sz="1200">
                <a:latin typeface="Calibri"/>
              </a:rPr>
              <a:t>  A: Strictly verified HTTP 2xx responses per second (`success_2xx / duration_sec`). HTTP 503 rejections, 4xx errors, and timeouts are tracked in separate counters so load shedding never inflates throughput.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4 reviews the literature establishing our research gap from Table 2.1. Normative standards RFC 9112 and RFC 9110 define HTTP/1.1 framing, persistent connections, and `503 Service Unavailable` with `Retry-After`, but leave overload policy to implementations. Welsh and Culler's SEDA introduced latency-driven stage shedding, while Nichols and Jacobson's CoDel showed that queue sojourn time is a critical overload signal. We adapt these ideas to a flat POSIX thread pool.</a:t>
            </a:r>
          </a:p>
          <a:p/>
          <a:p>
            <a:r>
              <a:rPr sz="1200">
                <a:latin typeface="Calibri"/>
              </a:rPr>
              <a:t>KEY TECHNICAL &amp; CHART/DIAGRAM EXPLANATION:</a:t>
            </a:r>
          </a:p>
          <a:p>
            <a:r>
              <a:rPr sz="1200">
                <a:latin typeface="Calibri"/>
              </a:rPr>
              <a:t>• Highlight how CoDel [8] motivates our `p95_queue_wait_ms` signal and how SEDA [5] motivates closed-loop admission shedding.</a:t>
            </a:r>
          </a:p>
          <a:p/>
          <a:p>
            <a:r>
              <a:rPr sz="1200">
                <a:latin typeface="Calibri"/>
              </a:rPr>
              <a:t>TRANSITION TO NEXT SLIDE: Yash will now open Section 3 to explain our existing baseline approach and its specific bottleneck.</a:t>
            </a:r>
          </a:p>
          <a:p/>
          <a:p>
            <a:r>
              <a:rPr sz="1200">
                <a:latin typeface="Calibri"/>
              </a:rPr>
              <a:t>ANTICIPATED EXAMINER VIVA FOLLOW-UP:</a:t>
            </a:r>
          </a:p>
          <a:p>
            <a:r>
              <a:rPr sz="1200">
                <a:latin typeface="Calibri"/>
              </a:rPr>
              <a:t>  Q: Why is raw queue length alone insufficient to detect head-of-line delay in an HTTP/1.1 server?</a:t>
            </a:r>
          </a:p>
          <a:p>
            <a:r>
              <a:rPr sz="1200">
                <a:latin typeface="Calibri"/>
              </a:rPr>
              <a:t>  A: At C = 32, only 28 of 64 queue slots are occupied (q = 0.44 &lt; 0.70), so queue occupancy looks moderate even though each waiting connection sits behind 7 rounds of 50-request keep-alive bursts (~202 ms wait). Measuring enqueue-to-dequeue sojourn time catches this delay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5 opens Section 3 on our baseline approach. As documented in Section 3.2, the baseline is not a separate server and not an unbounded queue: it is the exact same compiled `bin/server` binary running with `adaptive_control_enabled = false`, four pthread workers, a bounded 64-slot FIFO queue, and static keep-alive of 100 requests and 5 seconds idle. Under C &lt;= 64 closed-loop clients, at most 60 connections wait in the queue, so the queue-full 503 path never triggered.</a:t>
            </a:r>
          </a:p>
          <a:p/>
          <a:p>
            <a:r>
              <a:rPr sz="1200">
                <a:latin typeface="Calibri"/>
              </a:rPr>
              <a:t>KEY TECHNICAL &amp; CHART/DIAGRAM EXPLANATION:</a:t>
            </a:r>
          </a:p>
          <a:p>
            <a:r>
              <a:rPr sz="1200">
                <a:latin typeface="Calibri"/>
              </a:rPr>
              <a:t>• Stress that using the identical binary isolates QLAAC's exact overhead and control actions.</a:t>
            </a:r>
          </a:p>
          <a:p/>
          <a:p>
            <a:r>
              <a:rPr sz="1200">
                <a:latin typeface="Calibri"/>
              </a:rPr>
              <a:t>TRANSITION TO NEXT SLIDE: Anjini will now explain the mathematical queue-wait model and why the static baseline policy creates a research gap.</a:t>
            </a:r>
          </a:p>
          <a:p/>
          <a:p>
            <a:r>
              <a:rPr sz="1200">
                <a:latin typeface="Calibri"/>
              </a:rPr>
              <a:t>ANTICIPATED EXAMINER VIVA FOLLOW-UP:</a:t>
            </a:r>
          </a:p>
          <a:p>
            <a:r>
              <a:rPr sz="1200">
                <a:latin typeface="Calibri"/>
              </a:rPr>
              <a:t>  Q: When would the baseline's passive queue-full 503 path actually trigger?</a:t>
            </a:r>
          </a:p>
          <a:p>
            <a:r>
              <a:rPr sz="1200">
                <a:latin typeface="Calibri"/>
              </a:rPr>
              <a:t>  A: Only when concurrent open connections exceed W + Q = 4 + 64 = 68 simultaneous sockets (e.g., C &gt; 68 or open-loop arrival spikes). Under C ≤ 64 closed-loop clients, queue occupancy never exceeds 60/64 (93.75%).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6 explains the baseline bottleneck and research gap. Each benchmark client sends 50 sequential requests per connection, so four workers complete 200 requests per service round while C minus 4 connections wait for ceiling((C - 4) / 4) rounds. Only 1 request in 50 (2%) pays this queue wait, inflating p99 while p50 and p95 stay near 1 ms. In Table 5.5, predicted wait differs from observed p99 by ~2.0% (Standard) and ~2.3% (Retry-Aware) at C = 8, and within ~1% at C = 32 and 64.</a:t>
            </a:r>
          </a:p>
          <a:p/>
          <a:p>
            <a:r>
              <a:rPr sz="1200">
                <a:latin typeface="Calibri"/>
              </a:rPr>
              <a:t>KEY TECHNICAL &amp; CHART/DIAGRAM EXPLANATION:</a:t>
            </a:r>
          </a:p>
          <a:p>
            <a:r>
              <a:rPr sz="1200">
                <a:latin typeface="Calibri"/>
              </a:rPr>
              <a:t>• Note that this formula uses measured throughput X, so it is an approximate physical consistency check, not an independent prior prediction.</a:t>
            </a:r>
          </a:p>
          <a:p/>
          <a:p>
            <a:r>
              <a:rPr sz="1200">
                <a:latin typeface="Calibri"/>
              </a:rPr>
              <a:t>TRANSITION TO NEXT SLIDE: Yash will now present Section 4 on our proposed QLAAC novelty and its honest scope.</a:t>
            </a:r>
          </a:p>
          <a:p/>
          <a:p>
            <a:r>
              <a:rPr sz="1200">
                <a:latin typeface="Calibri"/>
              </a:rPr>
              <a:t>ANTICIPATED EXAMINER VIVA FOLLOW-UP:</a:t>
            </a:r>
          </a:p>
          <a:p>
            <a:r>
              <a:rPr sz="1200">
                <a:latin typeface="Calibri"/>
              </a:rPr>
              <a:t>  Q: Why does baseline p95 stay around 1.3 ms even at C = 64?</a:t>
            </a:r>
          </a:p>
          <a:p>
            <a:r>
              <a:rPr sz="1200">
                <a:latin typeface="Calibri"/>
              </a:rPr>
              <a:t>  A: Because only 1 out of 50 requests (2%) on each persistent connection experiences the enqueue-to-dequeue wait; 98% reuse an already-assigned worker thread. Thus the 95th percentile falls inside the fast in-service group.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7 presents Section 4 on our proposed QLAAC novelty. QLAAC adds four mechanisms inside the same binary: a 1,000 ms sampler tracking worker utilization, queue occupancy, processing p95, and queue-wait p95; CAUTION keep-alive fair sharing (capping connections at 16 requests and 2 s idle so workers rotate ~3× faster without shedding); OVERLOAD accept-gate 503 shedding with `Retry-After: 5`; and 5-window recovery hysteresis. We frame QLAAC honestly as an empirical systems integration.</a:t>
            </a:r>
          </a:p>
          <a:p/>
          <a:p>
            <a:r>
              <a:rPr sz="1200">
                <a:latin typeface="Calibri"/>
              </a:rPr>
              <a:t>KEY TECHNICAL &amp; CHART/DIAGRAM EXPLANATION:</a:t>
            </a:r>
          </a:p>
          <a:p>
            <a:r>
              <a:rPr sz="1200">
                <a:latin typeface="Calibri"/>
              </a:rPr>
              <a:t>• Avoid repeating internal boolean transitions here; the exact state machine and C17 code follow immediately in Section 5.</a:t>
            </a:r>
          </a:p>
          <a:p/>
          <a:p>
            <a:r>
              <a:rPr sz="1200">
                <a:latin typeface="Calibri"/>
              </a:rPr>
              <a:t>TRANSITION TO NEXT SLIDE: Anjini will now open Section 5 with our end-to-end architecture diagram and QLAAC state machine.</a:t>
            </a:r>
          </a:p>
          <a:p/>
          <a:p>
            <a:r>
              <a:rPr sz="1200">
                <a:latin typeface="Calibri"/>
              </a:rPr>
              <a:t>ANTICIPATED EXAMINER VIVA FOLLOW-UP:</a:t>
            </a:r>
          </a:p>
          <a:p>
            <a:r>
              <a:rPr sz="1200">
                <a:latin typeface="Calibri"/>
              </a:rPr>
              <a:t>  Q: Why did you choose 16 requests for CAUTION keep-alive rotation instead of 1 request?</a:t>
            </a:r>
          </a:p>
          <a:p>
            <a:r>
              <a:rPr sz="1200">
                <a:latin typeface="Calibri"/>
              </a:rPr>
              <a:t>  A: As shown in Report Table B.4, an early version that set `max_requests = 1` in CAUTION disabled connection reuse completely and collapsed C = 8 throughput by 68%. Capping at 16 requests preserves 93.75% of keep-alive reuse while shortening each service round from 200 requests to 64 requests.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8 opens Section 5 with our editable architecture diagram from Figure 3.1. Along the top path, TCP clients connect to the non-blocking listener (Step 2), pass the QLAAC accept gate (Step 3), enter the 64-slot FIFO queue (Step 4), and are served by four pthread workers (Step 5) running the streaming parser (Step 6), router (Step 7), and response builder (Step 8). Below, workers feed latency and queue-wait reservoirs in `src/metrics.c` (Step 9), which the 1,000 ms sampler (Step 10) evaluates.</a:t>
            </a:r>
          </a:p>
          <a:p/>
          <a:p>
            <a:r>
              <a:rPr sz="1200">
                <a:latin typeface="Calibri"/>
              </a:rPr>
              <a:t>KEY TECHNICAL &amp; CHART/DIAGRAM EXPLANATION:</a:t>
            </a:r>
          </a:p>
          <a:p>
            <a:r>
              <a:rPr sz="1200">
                <a:latin typeface="Calibri"/>
              </a:rPr>
              <a:t>• Point out that this is the single authoritative architecture diagram in the deck, showing both request handling and feedback control.</a:t>
            </a:r>
          </a:p>
          <a:p/>
          <a:p>
            <a:r>
              <a:rPr sz="1200">
                <a:latin typeface="Calibri"/>
              </a:rPr>
              <a:t>TRANSITION TO NEXT SLIDE: Yash will now explain the QLAAC three-state machine, exact thresholds, and moderate-queue logic.</a:t>
            </a:r>
          </a:p>
          <a:p/>
          <a:p>
            <a:r>
              <a:rPr sz="1200">
                <a:latin typeface="Calibri"/>
              </a:rPr>
              <a:t>ANTICIPATED EXAMINER VIVA FOLLOW-UP:</a:t>
            </a:r>
          </a:p>
          <a:p>
            <a:r>
              <a:rPr sz="1200">
                <a:latin typeface="Calibri"/>
              </a:rPr>
              <a:t>  Q: How do the worker threads read the QLAAC state without corrupting the admission rejection counter?</a:t>
            </a:r>
          </a:p>
          <a:p>
            <a:r>
              <a:rPr sz="1200">
                <a:latin typeface="Calibri"/>
              </a:rPr>
              <a:t>  A: The listener calls `adaptive_controller_evaluate()`, which increments `total_shed_requests` when rejecting in OVERLOAD; workers call the pure, side-effect-free `adaptive_controller_get_state()` function.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9 details the QLAAC three-state machine and thresholds from Figure 3.2 and Table 3.1. Worker saturation alone never triggers CAUTION or OVERLOAD, keeping C = 8 in NORMAL. At C = 32, 28 connections wait (`q = 0.44 &lt; 0.70`) and queue-wait p95 reaches ~200 ms. Because `queue_wait_overload` requires `q &gt;= 0.70` (or already being in OVERLOAD), C = 32 enters CAUTION—rotating connections every 16 requests with zero 503 rejections. Gating queue-wait flags on `q &gt;= 0.20` prevents stale lock-in.</a:t>
            </a:r>
          </a:p>
          <a:p/>
          <a:p>
            <a:r>
              <a:rPr sz="1200">
                <a:latin typeface="Calibri"/>
              </a:rPr>
              <a:t>KEY TECHNICAL &amp; CHART/DIAGRAM EXPLANATION:</a:t>
            </a:r>
          </a:p>
          <a:p>
            <a:r>
              <a:rPr sz="1200">
                <a:latin typeface="Calibri"/>
              </a:rPr>
              <a:t>• Point out how gating `queue_wait_overload` on `q &gt;= 0.70` solved the intermediate v3 defect where C = 32 prematurely entered OVERLOAD.</a:t>
            </a:r>
          </a:p>
          <a:p/>
          <a:p>
            <a:r>
              <a:rPr sz="1200">
                <a:latin typeface="Calibri"/>
              </a:rPr>
              <a:t>TRANSITION TO NEXT SLIDE: Anjini will now walk through the actual C17 source excerpts implementing this controller.</a:t>
            </a:r>
          </a:p>
          <a:p/>
          <a:p>
            <a:r>
              <a:rPr sz="1200">
                <a:latin typeface="Calibri"/>
              </a:rPr>
              <a:t>ANTICIPATED EXAMINER VIVA FOLLOW-UP:</a:t>
            </a:r>
          </a:p>
          <a:p>
            <a:r>
              <a:rPr sz="1200">
                <a:latin typeface="Calibri"/>
              </a:rPr>
              <a:t>  Q: How long does it take to return from OVERLOAD all the way to NORMAL once traffic drops?</a:t>
            </a:r>
          </a:p>
          <a:p>
            <a:r>
              <a:rPr sz="1200">
                <a:latin typeface="Calibri"/>
              </a:rPr>
              <a:t>  A: Because recovery is single-step (`OVERLOAD -&gt; CAUTION -&gt; NORMAL`) and requires `recovery_sample_count = 5` consecutive 1-second healthy windows per step, full recovery from OVERLOAD to NORMAL takes at least 10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0.7 min</a:t>
            </a:r>
          </a:p>
          <a:p/>
          <a:p>
            <a:r>
              <a:rPr sz="1200">
                <a:latin typeface="Calibri"/>
              </a:rPr>
              <a:t>WHAT TO SAY (ORAL EXPLANATION):</a:t>
            </a:r>
          </a:p>
          <a:p>
            <a:r>
              <a:rPr sz="1200">
                <a:latin typeface="Calibri"/>
              </a:rPr>
              <a:t>Slide 10 shows the genuine C17 implementation of QLAAC across three modules from Appendix A. On the left is `adaptive_controller_update_queue_aware()` in `src/adaptive_controller.c`, showing the boolean predicates for `has_q`, `qw_overload`, `is_overload`, and `is_caution`. Top right is the listener accept gate in `src/server.c`, which calls `adaptive_controller_evaluate()` and writes `503 + Retry-After: 5` in OVERLOAD. Bottom right is `src/thread_pool.c`, where workers call the side-effect-free `adaptive_controller_get_state()` to apply the 16-request cap.</a:t>
            </a:r>
          </a:p>
          <a:p/>
          <a:p>
            <a:r>
              <a:rPr sz="1200">
                <a:latin typeface="Calibri"/>
              </a:rPr>
              <a:t>KEY TECHNICAL &amp; CHART/DIAGRAM EXPLANATION:</a:t>
            </a:r>
          </a:p>
          <a:p>
            <a:r>
              <a:rPr sz="1200">
                <a:latin typeface="Calibri"/>
              </a:rPr>
              <a:t>• Note that `metrics_record_overload_response()` is called only if `tcp_send_all()` returns 0, so failed socket writes are never counted as sent 503s.</a:t>
            </a:r>
          </a:p>
          <a:p/>
          <a:p>
            <a:r>
              <a:rPr sz="1200">
                <a:latin typeface="Calibri"/>
              </a:rPr>
              <a:t>TRANSITION TO NEXT SLIDE: Yash will now open Section 6 on our implementation setup, starting with raw POSIX socket I/O.</a:t>
            </a:r>
          </a:p>
          <a:p/>
          <a:p>
            <a:r>
              <a:rPr sz="1200">
                <a:latin typeface="Calibri"/>
              </a:rPr>
              <a:t>ANTICIPATED EXAMINER VIVA FOLLOW-UP:</a:t>
            </a:r>
          </a:p>
          <a:p>
            <a:r>
              <a:rPr sz="1200">
                <a:latin typeface="Calibri"/>
              </a:rPr>
              <a:t>  Q: Why was separating `adaptive_controller_evaluate()` from `adaptive_controller_get_state()` necessary?</a:t>
            </a:r>
          </a:p>
          <a:p>
            <a:r>
              <a:rPr sz="1200">
                <a:latin typeface="Calibri"/>
              </a:rPr>
              <a:t>  A: When workers previously called `evaluate()` inside the keep-alive loop, `total_shed_requests` incremented on held connections without sending a 503. Giving workers `get_state()` ensured `qlaac_shed_requests` counts only true accept-gate rejections.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11 opens Section 6 on our implementation setup with `src/tcp_socket.c`. Because TCP is an unstructured byte stream, `conn_buffer_consume()` uses `memmove()` to shift leftover pipelined bytes after each request. All sockets use non-blocking I/O with 50 ms `poll()` deadline slices in `tcp_send_all()`. Static files stream via Linux zero-copy `sendfile(2)` with an `lseek()` offset-preserving read/send fallback, and `tcp_lingering_close()` uses `shutdown(SHUT_WR)` to prevent TCP RST truncation.</a:t>
            </a:r>
          </a:p>
          <a:p/>
          <a:p>
            <a:r>
              <a:rPr sz="1200">
                <a:latin typeface="Calibri"/>
              </a:rPr>
              <a:t>KEY TECHNICAL &amp; CHART/DIAGRAM EXPLANATION:</a:t>
            </a:r>
          </a:p>
          <a:p>
            <a:r>
              <a:rPr sz="1200">
                <a:latin typeface="Calibri"/>
              </a:rPr>
              <a:t>• Verified by `test_pipelined_leftover_preservation` (`tests/test_parser.c`) and `test_sendfile_fallback_offset_integrity` (`tests/test_responses.c`).</a:t>
            </a:r>
          </a:p>
          <a:p/>
          <a:p>
            <a:r>
              <a:rPr sz="1200">
                <a:latin typeface="Calibri"/>
              </a:rPr>
              <a:t>TRANSITION TO NEXT SLIDE: Anjini will now explain our bounded 64-slot FIFO connection queue and 4-worker pthread pool.</a:t>
            </a:r>
          </a:p>
          <a:p/>
          <a:p>
            <a:r>
              <a:rPr sz="1200">
                <a:latin typeface="Calibri"/>
              </a:rPr>
              <a:t>ANTICIPATED EXAMINER VIVA FOLLOW-UP:</a:t>
            </a:r>
          </a:p>
          <a:p>
            <a:r>
              <a:rPr sz="1200">
                <a:latin typeface="Calibri"/>
              </a:rPr>
              <a:t>  Q: Why is `shutdown(fd, SHUT_WR)` needed before `close(fd)` when returning an HTTP 400 or 503 error?</a:t>
            </a:r>
          </a:p>
          <a:p>
            <a:r>
              <a:rPr sz="1200">
                <a:latin typeface="Calibri"/>
              </a:rPr>
              <a:t>  A: Calling `close()` immediately while unread client request bytes sit in the kernel receive buffer causes TCP to send a `RST` segment, which can cause the client OS to discard the HTTP error response before the client reads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12 covers our producer-consumer concurrency in `src/connection_queue.c` and `src/thread_pool.c`. The 64-slot circular FIFO queue is guarded by one mutex and two condition variables (`not_empty` and `not_full`). The listener pushes with `timeout_ms = 0`, returning -1 immediately if all 64 slots are full so the accept loop never stalls. Push stamps monotonic `enqueued_ns` and pop stamps `dequeued_ns`, recording exact queue wait in milliseconds before the worker owns the socket exclusively.</a:t>
            </a:r>
          </a:p>
          <a:p/>
          <a:p>
            <a:r>
              <a:rPr sz="1200">
                <a:latin typeface="Calibri"/>
              </a:rPr>
              <a:t>KEY TECHNICAL &amp; CHART/DIAGRAM EXPLANATION:</a:t>
            </a:r>
          </a:p>
          <a:p>
            <a:r>
              <a:rPr sz="1200">
                <a:latin typeface="Calibri"/>
              </a:rPr>
              <a:t>• Note that in the actual C source (`src/connection_queue.c`), `unlock(&amp;q-&gt;lock)` is `pthread_mutex_unlock(&amp;q-&gt;lock)`.</a:t>
            </a:r>
          </a:p>
          <a:p/>
          <a:p>
            <a:r>
              <a:rPr sz="1200">
                <a:latin typeface="Calibri"/>
              </a:rPr>
              <a:t>TRANSITION TO NEXT SLIDE: Yash will now cover our streaming HTTP/1.1 parser, framing rules, and supported protocol subset.</a:t>
            </a:r>
          </a:p>
          <a:p/>
          <a:p>
            <a:r>
              <a:rPr sz="1200">
                <a:latin typeface="Calibri"/>
              </a:rPr>
              <a:t>ANTICIPATED EXAMINER VIVA FOLLOW-UP:</a:t>
            </a:r>
          </a:p>
          <a:p>
            <a:r>
              <a:rPr sz="1200">
                <a:latin typeface="Calibri"/>
              </a:rPr>
              <a:t>  Q: Why is `while (q-&gt;count == 0)` used around `pthread_cond_timedwait` instead of `if`?</a:t>
            </a:r>
          </a:p>
          <a:p>
            <a:r>
              <a:rPr sz="1200">
                <a:latin typeface="Calibri"/>
              </a:rPr>
              <a:t>  A: POSIX condition variables can experience spurious wakeups or stolen wakeups when multiple threads contend for the mutex; re-testing the predicate in a `while` loop guarantees invariant safety.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13 explains our streaming HTTP/1.1 parser in `src/http_parser.c`. It supports a documented subset of RFC 9112 (GET, HEAD, POST, keep-alive, and `1*DIGIT` decimal `Content-Length &lt;= 10 MiB`) and maps violations to deterministic status codes: 400, 411, 413, 414, 417, 431, 501, and 505. It requires a single `Host` header, rejects `Transfer-Encoding` plus `Content-Length` with 400 to prevent smuggling, returns 501 on chunked requests, and closes the socket on any framing error.</a:t>
            </a:r>
          </a:p>
          <a:p/>
          <a:p>
            <a:r>
              <a:rPr sz="1200">
                <a:latin typeface="Calibri"/>
              </a:rPr>
              <a:t>KEY TECHNICAL &amp; CHART/DIAGRAM EXPLANATION:</a:t>
            </a:r>
          </a:p>
          <a:p>
            <a:r>
              <a:rPr sz="1200">
                <a:latin typeface="Calibri"/>
              </a:rPr>
              <a:t>• State clearly that returning `501` for `Transfer-Encoding: chunked` is a deliberate scope boundary and an explicit deviation from full RFC 9112 §6.1/§7.1 conformance.</a:t>
            </a:r>
          </a:p>
          <a:p/>
          <a:p>
            <a:r>
              <a:rPr sz="1200">
                <a:latin typeface="Calibri"/>
              </a:rPr>
              <a:t>TRANSITION TO NEXT SLIDE: Anjini will now explain endpoint routing, static file serving, and our five-layer security sandbox.</a:t>
            </a:r>
          </a:p>
          <a:p/>
          <a:p>
            <a:r>
              <a:rPr sz="1200">
                <a:latin typeface="Calibri"/>
              </a:rPr>
              <a:t>ANTICIPATED EXAMINER VIVA FOLLOW-UP:</a:t>
            </a:r>
          </a:p>
          <a:p>
            <a:r>
              <a:rPr sz="1200">
                <a:latin typeface="Calibri"/>
              </a:rPr>
              <a:t>  Q: Why do you close the connection after any 4xx/5xx parser framing error?</a:t>
            </a:r>
          </a:p>
          <a:p>
            <a:r>
              <a:rPr sz="1200">
                <a:latin typeface="Calibri"/>
              </a:rPr>
              <a:t>  A: Once framing is invalid or oversized, the server cannot safely determine where the next request starts in the TCP byte stream; closing with `Connection: close` prevents request smuggling.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14 covers routing in `src/router.c` and static-file security in `src/static_files.c`. The router strips query strings and enforces allowed methods across `/health`, `/metrics`, `/api/echo`, and static files, passing `lat = -1.0` on `/metrics` so dashboard polling never contaminates latency percentiles. Below, `src/static_files.c` enforces five layers of path-traversal defense: segment-aware `..` checks, `%00`/backslash rejection, post-decode recheck, `realpath()` containment, and `O_NOFOLLOW` plus `fstat()` inode verification.</a:t>
            </a:r>
          </a:p>
          <a:p/>
          <a:p>
            <a:r>
              <a:rPr sz="1200">
                <a:latin typeface="Calibri"/>
              </a:rPr>
              <a:t>KEY TECHNICAL &amp; CHART/DIAGRAM EXPLANATION:</a:t>
            </a:r>
          </a:p>
          <a:p>
            <a:r>
              <a:rPr sz="1200">
                <a:latin typeface="Calibri"/>
              </a:rPr>
              <a:t>• All 5 security layers are verified by 12 integration tests in `tests/test_security.py`.</a:t>
            </a:r>
          </a:p>
          <a:p/>
          <a:p>
            <a:r>
              <a:rPr sz="1200">
                <a:latin typeface="Calibri"/>
              </a:rPr>
              <a:t>TRANSITION TO NEXT SLIDE: Yash will now summarize our build configuration, codebase module map, and testbed environments.</a:t>
            </a:r>
          </a:p>
          <a:p/>
          <a:p>
            <a:r>
              <a:rPr sz="1200">
                <a:latin typeface="Calibri"/>
              </a:rPr>
              <a:t>ANTICIPATED EXAMINER VIVA FOLLOW-UP:</a:t>
            </a:r>
          </a:p>
          <a:p>
            <a:r>
              <a:rPr sz="1200">
                <a:latin typeface="Calibri"/>
              </a:rPr>
              <a:t>  Q: Why do you check both `realpath()` and `O_NOFOLLOW` + `fstat()` inode equality?</a:t>
            </a:r>
          </a:p>
          <a:p>
            <a:r>
              <a:rPr sz="1200">
                <a:latin typeface="Calibri"/>
              </a:rPr>
              <a:t>  A: `realpath()` verifies that the resolved path is inside `public_root` at check time, while `O_NOFOLLOW` and `fstat(st_dev, st_ino)` prevent a time-of-check to time-of-use (TOCTOU) race where a regular file is replaced by a symlink before `open()`.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15 summarizes our build setup, 12-module codebase map, and testbed environments. The C17 codebase totals 3,569 lines in the Report Table 4.3 snapshot (3,573 lines in the current ZIP) and compiles with zero `gcc -fanalyzer` warnings. Note that `config/server.conf.example` sets `max_header_size` and `io_buffer_size` to 8,192 bytes (compiled fallback is 16,384 bytes). On the right, we keep our historical v4 WSL2 host, our 1-vCPU verification sandbox, and our AMD EPYC 9V74 fresh rerun host strictly separate.</a:t>
            </a:r>
          </a:p>
          <a:p/>
          <a:p>
            <a:r>
              <a:rPr sz="1200">
                <a:latin typeface="Calibri"/>
              </a:rPr>
              <a:t>KEY TECHNICAL &amp; CHART/DIAGRAM EXPLANATION:</a:t>
            </a:r>
          </a:p>
          <a:p>
            <a:r>
              <a:rPr sz="1200">
                <a:latin typeface="Calibri"/>
              </a:rPr>
              <a:t>• Mention that our live-demo workflow uses two terminals on a verified free port (e.g., 18080), with full step-by-step commands in the companion Demo Runbook.</a:t>
            </a:r>
          </a:p>
          <a:p/>
          <a:p>
            <a:r>
              <a:rPr sz="1200">
                <a:latin typeface="Calibri"/>
              </a:rPr>
              <a:t>TRANSITION TO NEXT SLIDE: Anjini will now review the key engineering challenges we diagnosed and solved during implementation.</a:t>
            </a:r>
          </a:p>
          <a:p/>
          <a:p>
            <a:r>
              <a:rPr sz="1200">
                <a:latin typeface="Calibri"/>
              </a:rPr>
              <a:t>ANTICIPATED EXAMINER VIVA FOLLOW-UP:</a:t>
            </a:r>
          </a:p>
          <a:p>
            <a:r>
              <a:rPr sz="1200">
                <a:latin typeface="Calibri"/>
              </a:rPr>
              <a:t>  Q: Why are there slight line-count differences (e.g., 3,569 vs 3,573 C lines; 889 vs 1,251 Python test lines) between Table 4.3 and the current ZIP?</a:t>
            </a:r>
          </a:p>
          <a:p>
            <a:r>
              <a:rPr sz="1200">
                <a:latin typeface="Calibri"/>
              </a:rPr>
              <a:t>  A: Table 4.3 recorded the pre-Appendix B.8 snapshot; the current ZIP includes a 4-line parser refinement and the 362-line `tests/test_readiness_check.py` suite documented in Appendix B.8.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16 summarizes six key implementation challenges and solutions from Table 4.4: rewriting the benchmark harness so only verified 2xx responses count as throughput; replacing the early 1-request CAUTION cap with 16-request fair sharing and gating `queue_wait_overload` on `q &gt;= 0.70` to eliminate C = 32 rejections; building the paired fresh-process runner to eliminate thermal drift; separating `get_state()` from `evaluate()`; and refining `wait_for_server()` to verify `/health` JSON identity.</a:t>
            </a:r>
          </a:p>
          <a:p/>
          <a:p>
            <a:r>
              <a:rPr sz="1200">
                <a:latin typeface="Calibri"/>
              </a:rPr>
              <a:t>KEY TECHNICAL &amp; CHART/DIAGRAM EXPLANATION:</a:t>
            </a:r>
          </a:p>
          <a:p>
            <a:r>
              <a:rPr sz="1200">
                <a:latin typeface="Calibri"/>
              </a:rPr>
              <a:t>• Every row in Table 4.4 is backed by a dedicated regression test in our 92-test suite.</a:t>
            </a:r>
          </a:p>
          <a:p/>
          <a:p>
            <a:r>
              <a:rPr sz="1200">
                <a:latin typeface="Calibri"/>
              </a:rPr>
              <a:t>TRANSITION TO NEXT SLIDE: Yash and I will now show the five genuine application screenshots illustrating runtime functionality.</a:t>
            </a:r>
          </a:p>
          <a:p/>
          <a:p>
            <a:r>
              <a:rPr sz="1200">
                <a:latin typeface="Calibri"/>
              </a:rPr>
              <a:t>ANTICIPATED EXAMINER VIVA FOLLOW-UP:</a:t>
            </a:r>
          </a:p>
          <a:p>
            <a:r>
              <a:rPr sz="1200">
                <a:latin typeface="Calibri"/>
              </a:rPr>
              <a:t>  Q: Why can `qlaac_shed_requests` be either larger or smaller than `total_overload_503_sent`?</a:t>
            </a:r>
          </a:p>
          <a:p>
            <a:r>
              <a:rPr sz="1200">
                <a:latin typeface="Calibri"/>
              </a:rPr>
              <a:t>  A: `qlaac_shed_requests` counts accept-gate OVERLOAD decisions, while `total_overload_503_sent` counts completed `tcp_send_all(msg_503)` writes across both QLAAC and queue-full paths. If a client resets before the 503 write finishes, `qlaac_shed_requests` is larger; if a burst overflows the 64-slot queue outside OVERLOAD, `total_overload_503_sent` is larger.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0.5 min</a:t>
            </a:r>
          </a:p>
          <a:p/>
          <a:p>
            <a:r>
              <a:rPr sz="1200">
                <a:latin typeface="Calibri"/>
              </a:rPr>
              <a:t>WHAT TO SAY (ORAL EXPLANATION):</a:t>
            </a:r>
          </a:p>
          <a:p>
            <a:r>
              <a:rPr sz="1200">
                <a:latin typeface="Calibri"/>
              </a:rPr>
              <a:t>Slide 17 presents our first three genuine runtime captures. On the left, `01_dashboard_overview.png` shows the live dashboard at idle (`QLAAC: ENABLED`, 1/4 active workers, 0/64 queue). Note that `— ms (idle)` means no 2xx responses completed in the 5 s rolling window—never 0.00 ms latency—and these captures predate the queue-wait p95 widget. On the right, `02_health_check.png` and `03_post_echo.png` illustrate functional `200 OK` checks for `GET /health` and `POST /api/echo`.</a:t>
            </a:r>
          </a:p>
          <a:p/>
          <a:p>
            <a:r>
              <a:rPr sz="1200">
                <a:latin typeface="Calibri"/>
              </a:rPr>
              <a:t>KEY TECHNICAL &amp; CHART/DIAGRAM EXPLANATION:</a:t>
            </a:r>
          </a:p>
          <a:p>
            <a:r>
              <a:rPr sz="1200">
                <a:latin typeface="Calibri"/>
              </a:rPr>
              <a:t>• All screenshots are presented strictly as functional illustrations of visible endpoints and telemetry, not as formal benchmark proof.</a:t>
            </a:r>
          </a:p>
          <a:p/>
          <a:p>
            <a:r>
              <a:rPr sz="1200">
                <a:latin typeface="Calibri"/>
              </a:rPr>
              <a:t>TRANSITION TO NEXT SLIDE: Anjini will now present the remaining two genuine screenshots showing manual burst telemetry and the QLAAC panel.</a:t>
            </a:r>
          </a:p>
          <a:p/>
          <a:p>
            <a:r>
              <a:rPr sz="1200">
                <a:latin typeface="Calibri"/>
              </a:rPr>
              <a:t>ANTICIPATED EXAMINER VIVA FOLLOW-UP:</a:t>
            </a:r>
          </a:p>
          <a:p>
            <a:r>
              <a:rPr sz="1200">
                <a:latin typeface="Calibri"/>
              </a:rPr>
              <a:t>  Q: Why does the dashboard show 1 of 4 active workers at idle?</a:t>
            </a:r>
          </a:p>
          <a:p>
            <a:r>
              <a:rPr sz="1200">
                <a:latin typeface="Calibri"/>
              </a:rPr>
              <a:t>  A: Because the browser's `fetch('/metrics')` request itself is being served by one of the four worker threads at the exact instant the `/metrics` JSON snapshot is serialized!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0.5 min</a:t>
            </a:r>
          </a:p>
          <a:p/>
          <a:p>
            <a:r>
              <a:rPr sz="1200">
                <a:latin typeface="Calibri"/>
              </a:rPr>
              <a:t>WHAT TO SAY (ORAL EXPLANATION):</a:t>
            </a:r>
          </a:p>
          <a:p>
            <a:r>
              <a:rPr sz="1200">
                <a:latin typeface="Calibri"/>
              </a:rPr>
              <a:t>Slide 18 shows screenshots `04_live_metrics.png` and `05_qlaac_load_test.png`. On the left, `04_live_metrics.png` shows populated 2xx percentiles (`p50: 0.12 ms, p95: 0.44 ms, p99: 0.82 ms`) after a short manual burst—used only as a functional telemetry illustration, not a formal benchmark. On the right, despite its filename, `05_qlaac_load_test.png` shows `CURRENT CONTROLLER STATE: NORMAL` at idle (25% worker saturation, 0% queue, 0 shed), never claimed as CAUTION or OVERLOAD.</a:t>
            </a:r>
          </a:p>
          <a:p/>
          <a:p>
            <a:r>
              <a:rPr sz="1200">
                <a:latin typeface="Calibri"/>
              </a:rPr>
              <a:t>KEY TECHNICAL &amp; CHART/DIAGRAM EXPLANATION:</a:t>
            </a:r>
          </a:p>
          <a:p>
            <a:r>
              <a:rPr sz="1200">
                <a:latin typeface="Calibri"/>
              </a:rPr>
              <a:t>• Note also that `06_test_results.png` is omitted per Report Appendix B.2 (p. 46) because it could not be verified as an authentic terminal capture.</a:t>
            </a:r>
          </a:p>
          <a:p/>
          <a:p>
            <a:r>
              <a:rPr sz="1200">
                <a:latin typeface="Calibri"/>
              </a:rPr>
              <a:t>TRANSITION TO NEXT SLIDE: Yash will now open Section 7 on our experimental scenarios and performance metrics.</a:t>
            </a:r>
          </a:p>
          <a:p/>
          <a:p>
            <a:r>
              <a:rPr sz="1200">
                <a:latin typeface="Calibri"/>
              </a:rPr>
              <a:t>ANTICIPATED EXAMINER VIVA FOLLOW-UP:</a:t>
            </a:r>
          </a:p>
          <a:p>
            <a:r>
              <a:rPr sz="1200">
                <a:latin typeface="Calibri"/>
              </a:rPr>
              <a:t>  Q: Where is your proof of CAUTION and OVERLOAD state transitions if `05_qlaac_load_test.png` is in NORMAL state?</a:t>
            </a:r>
          </a:p>
          <a:p>
            <a:r>
              <a:rPr sz="1200">
                <a:latin typeface="Calibri"/>
              </a:rPr>
              <a:t>  A: In the `diagnostic_timeline_qlaac_*.csv` files (plotted in Report Figure 5.6 and summarized on Slide 25) and in our 13 C unit tests in `tests/test_controller.c` (`bin/test_controller`).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19 opens Section 7 on our scenarios and metrics. Using `benchmark/run_reproducible_evaluation.py`, we test `GET /health` (89 bytes) over loopback at C = 2, 8, 32, and 64 across Standard (immediate reconnect) and Retry-Aware (`Retry-After: 5` sleep) clients. Each cell runs 5 matched pairs of 10-second trials (80 trials per dataset) on fresh `bin/server` processes with a 1 s warm-up, alternating Baseline/QLAAC order across odd and even pairs. The historical v4 and fresh rerun datasets remain separate.</a:t>
            </a:r>
          </a:p>
          <a:p/>
          <a:p>
            <a:r>
              <a:rPr sz="1200">
                <a:latin typeface="Calibri"/>
              </a:rPr>
              <a:t>KEY TECHNICAL &amp; CHART/DIAGRAM EXPLANATION:</a:t>
            </a:r>
          </a:p>
          <a:p>
            <a:r>
              <a:rPr sz="1200">
                <a:latin typeface="Calibri"/>
              </a:rPr>
              <a:t>• Keep this slide focused on experimental design; numerical outcomes follow in Section 8.</a:t>
            </a:r>
          </a:p>
          <a:p/>
          <a:p>
            <a:r>
              <a:rPr sz="1200">
                <a:latin typeface="Calibri"/>
              </a:rPr>
              <a:t>TRANSITION TO NEXT SLIDE: Anjini will now define our performance metrics and explain why throughput, latency, and rejections must be read jointly.</a:t>
            </a:r>
          </a:p>
          <a:p/>
          <a:p>
            <a:r>
              <a:rPr sz="1200">
                <a:latin typeface="Calibri"/>
              </a:rPr>
              <a:t>ANTICIPATED EXAMINER VIVA FOLLOW-UP:</a:t>
            </a:r>
          </a:p>
          <a:p>
            <a:r>
              <a:rPr sz="1200">
                <a:latin typeface="Calibri"/>
              </a:rPr>
              <a:t>  Q: Why did you alternate Baseline and QLAAC order across odd and even trial pairs?</a:t>
            </a:r>
          </a:p>
          <a:p>
            <a:r>
              <a:rPr sz="1200">
                <a:latin typeface="Calibri"/>
              </a:rPr>
              <a:t>  A: In earlier sequential runs (`v3`, Appendix B.6), running 40 standard trials followed 502 seconds later by 40 retry-aware trials caused a 39% baseline drift (21,653 vs 13,149 req/s at C = 2) due to host thermal/clock drift. Interleaving pairs on fresh processes eliminated that bias.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20 defines our evaluation metrics from Table 5.1. Successful throughput counts only HTTP 2xx responses per second (`success_2xx / 10.0 s`). Latency percentiles (`p50, p95, p99`) are computed per trial over 2xx responses only and reported as mean ± sample SD. Crucially, because 2xx latency percentiles exclude rejected 503 attempts and `Retry-After` sleep, survivorship bias requires interpreting latency jointly with 2xx throughput, 503 rejection rate, and client back-off time.</a:t>
            </a:r>
          </a:p>
          <a:p/>
          <a:p>
            <a:r>
              <a:rPr sz="1200">
                <a:latin typeface="Calibri"/>
              </a:rPr>
              <a:t>KEY TECHNICAL &amp; CHART/DIAGRAM EXPLANATION:</a:t>
            </a:r>
          </a:p>
          <a:p>
            <a:r>
              <a:rPr sz="1200">
                <a:latin typeface="Calibri"/>
              </a:rPr>
              <a:t>• Note both improvement sign conventions: Report Table 5.3 normalizes direction so positive (+) means improvement for both throughput and latency, whereas Table 5.4 uses signed percentage change (negative Δ latency = lower latency).</a:t>
            </a:r>
          </a:p>
          <a:p/>
          <a:p>
            <a:r>
              <a:rPr sz="1200">
                <a:latin typeface="Calibri"/>
              </a:rPr>
              <a:t>TRANSITION TO NEXT SLIDE: Yash will now open Section 8 with our baseline-versus-QLAAC results at low and medium concurrency.</a:t>
            </a:r>
          </a:p>
          <a:p/>
          <a:p>
            <a:r>
              <a:rPr sz="1200">
                <a:latin typeface="Calibri"/>
              </a:rPr>
              <a:t>ANTICIPATED EXAMINER VIVA FOLLOW-UP:</a:t>
            </a:r>
          </a:p>
          <a:p>
            <a:r>
              <a:rPr sz="1200">
                <a:latin typeface="Calibri"/>
              </a:rPr>
              <a:t>  Q: Why is there a small difference between 56.94% / 0.80% in Table 5.4 and 56.95% / 0.86% in `verify_benchmark_statistics.py`?</a:t>
            </a:r>
          </a:p>
          <a:p>
            <a:r>
              <a:rPr sz="1200">
                <a:latin typeface="Calibri"/>
              </a:rPr>
              <a:t>  A: Table 5.4 computes the ratio of 5-trial means (`mean 503s / mean attempts`), whereas `verify_benchmark_statistics.py` averages the 5 per-trial ratios (`mean(503_i / attempts_i)`). Both are documented in Report Section 5.3 (p. 29).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21 opens Section 8 with our historical v4 paired results at low load (C = 2) and medium load (C = 8). Across all 40 trials, QLAAC stays in NORMAL in every polled sample and sends zero HTTP 503 rejections. At C = 2, 2xx throughput is 13,806.78 vs 13,230.22 req/s (-4.2% Standard) and 14,136.06 vs 14,115.42 req/s (-0.1% Retry-Aware) with p99 at 0.41–0.46 ms. At C = 8 (`q = 4/64 &lt; 0.20`), throughput changes by +1.7% and -4.3% with p99 at 28.02–29.49 ms.</a:t>
            </a:r>
          </a:p>
          <a:p/>
          <a:p>
            <a:r>
              <a:rPr sz="1200">
                <a:latin typeface="Calibri"/>
              </a:rPr>
              <a:t>KEY TECHNICAL &amp; CHART/DIAGRAM EXPLANATION:</a:t>
            </a:r>
          </a:p>
          <a:p>
            <a:r>
              <a:rPr sz="1200">
                <a:latin typeface="Calibri"/>
              </a:rPr>
              <a:t>• Contrast this with the superseded v1 controller (Report Table B.4), which falsely triggered CAUTION on worker saturation alone at C = 8.</a:t>
            </a:r>
          </a:p>
          <a:p/>
          <a:p>
            <a:r>
              <a:rPr sz="1200">
                <a:latin typeface="Calibri"/>
              </a:rPr>
              <a:t>TRANSITION TO NEXT SLIDE: Anjini will now present our C = 32 results, where CAUTION keep-alive rotation activates.</a:t>
            </a:r>
          </a:p>
          <a:p/>
          <a:p>
            <a:r>
              <a:rPr sz="1200">
                <a:latin typeface="Calibri"/>
              </a:rPr>
              <a:t>ANTICIPATED EXAMINER VIVA FOLLOW-UP:</a:t>
            </a:r>
          </a:p>
          <a:p>
            <a:r>
              <a:rPr sz="1200">
                <a:latin typeface="Calibri"/>
              </a:rPr>
              <a:t>  Q: Why doesn't QLAAC intervene at C = 8 even though p99 latency is ~28.5 ms?</a:t>
            </a:r>
          </a:p>
          <a:p>
            <a:r>
              <a:rPr sz="1200">
                <a:latin typeface="Calibri"/>
              </a:rPr>
              <a:t>  A: At C = 8, only 4 connections sit in the 64-slot queue (`q = 4/64 = 0.0625 &lt; 0.20`). Because `has_queue_presence` requires `q &gt;= 0.20`, QLAAC treats a 4-connection queue as normal short-queue operation.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0.7 min</a:t>
            </a:r>
          </a:p>
          <a:p/>
          <a:p>
            <a:r>
              <a:rPr sz="1200">
                <a:latin typeface="Calibri"/>
              </a:rPr>
              <a:t>WHAT TO SAY (ORAL EXPLANATION):</a:t>
            </a:r>
          </a:p>
          <a:p>
            <a:r>
              <a:rPr sz="1200">
                <a:latin typeface="Calibri"/>
              </a:rPr>
              <a:t>Slide 22 presents our centerpiece historical v4 result at C = 32. QLAAC transitions to CAUTION at ~0.7 seconds and records zero HTTP 503 rejections (`0.00%`) across all 10 trials. Capping keep-alive at 16 requests reduces p99 tail latency by 61.3% in both modes: from 201.93 to 78.17 ms in Standard mode and from 206.97 to 80.15 ms in Retry-Aware mode. In exchange, 2xx throughput falls by 13.7% and 13.4%, and p95 rises from ~1.3 ms to ~73–75 ms as 1 in 16 requests now waits in the queue.</a:t>
            </a:r>
          </a:p>
          <a:p/>
          <a:p>
            <a:r>
              <a:rPr sz="1200">
                <a:latin typeface="Calibri"/>
              </a:rPr>
              <a:t>KEY TECHNICAL &amp; CHART/DIAGRAM EXPLANATION:</a:t>
            </a:r>
          </a:p>
          <a:p>
            <a:r>
              <a:rPr sz="1200">
                <a:latin typeface="Calibri"/>
              </a:rPr>
              <a:t>• Highlight that Table 5.3 Improvement% is +61.3% (positive = lower latency), while Table 5.4 signed change Δ is -61.3%.</a:t>
            </a:r>
          </a:p>
          <a:p/>
          <a:p>
            <a:r>
              <a:rPr sz="1200">
                <a:latin typeface="Calibri"/>
              </a:rPr>
              <a:t>TRANSITION TO NEXT SLIDE: Yash will now present the C = 64 overload results, where Standard and Retry-Aware clients diverge sharply.</a:t>
            </a:r>
          </a:p>
          <a:p/>
          <a:p>
            <a:r>
              <a:rPr sz="1200">
                <a:latin typeface="Calibri"/>
              </a:rPr>
              <a:t>ANTICIPATED EXAMINER VIVA FOLLOW-UP:</a:t>
            </a:r>
          </a:p>
          <a:p>
            <a:r>
              <a:rPr sz="1200">
                <a:latin typeface="Calibri"/>
              </a:rPr>
              <a:t>  Q: Why are Standard and Retry-Aware results nearly identical at C = 32?</a:t>
            </a:r>
          </a:p>
          <a:p>
            <a:r>
              <a:rPr sz="1200">
                <a:latin typeface="Calibri"/>
              </a:rPr>
              <a:t>  A: Because QLAAC stays in CAUTION at C = 32 and sends zero HTTP 503 responses (`0.00%` rejection rate), so the `Retry-After` sleep code path in Retry-Aware clients is never triggered.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0.7 min</a:t>
            </a:r>
          </a:p>
          <a:p/>
          <a:p>
            <a:r>
              <a:rPr sz="1200">
                <a:latin typeface="Calibri"/>
              </a:rPr>
              <a:t>WHAT TO SAY (ORAL EXPLANATION):</a:t>
            </a:r>
          </a:p>
          <a:p>
            <a:r>
              <a:rPr sz="1200">
                <a:latin typeface="Calibri"/>
              </a:rPr>
              <a:t>Slide 23 shows the C = 64 overload divergence (`q = 60/64 = 0.94 &gt;= 0.90`). In Standard mode, immediate reconnects after 503 create a reconnect storm of 17,126.8 rejections per trial (56.94% of attempts; 56.95% mean of ratios), collapsing throughput by 81.3% (6,922.30 to 1,295.26 req/s) for only a 9.4% p99 reduction—an unsuccessful outcome. In Retry-Aware mode, clients sleep 5 seconds on `Retry-After: 5`, recording exactly 128 rejections per trial (0.80%; 0.86% mean of ratios) and 511.91 s of backoff, cutting admitted p99 by 60.6% (444.17 to 175.15 ms) at a 76.6% throughput cost.</a:t>
            </a:r>
          </a:p>
          <a:p/>
          <a:p>
            <a:r>
              <a:rPr sz="1200">
                <a:latin typeface="Calibri"/>
              </a:rPr>
              <a:t>KEY TECHNICAL &amp; CHART/DIAGRAM EXPLANATION:</a:t>
            </a:r>
          </a:p>
          <a:p>
            <a:r>
              <a:rPr sz="1200">
                <a:latin typeface="Calibri"/>
              </a:rPr>
              <a:t>• Point out why every Retry-Aware trial at C = 64 has exactly 128.0 ± 0.0 rejections: 64 threads × 2 OVERLOAD waves = 128 rejections.</a:t>
            </a:r>
          </a:p>
          <a:p/>
          <a:p>
            <a:r>
              <a:rPr sz="1200">
                <a:latin typeface="Calibri"/>
              </a:rPr>
              <a:t>TRANSITION TO NEXT SLIDE: Anjini will now present the separate verification-host rerun results on port 18080.</a:t>
            </a:r>
          </a:p>
          <a:p/>
          <a:p>
            <a:r>
              <a:rPr sz="1200">
                <a:latin typeface="Calibri"/>
              </a:rPr>
              <a:t>ANTICIPATED EXAMINER VIVA FOLLOW-UP:</a:t>
            </a:r>
          </a:p>
          <a:p>
            <a:r>
              <a:rPr sz="1200">
                <a:latin typeface="Calibri"/>
              </a:rPr>
              <a:t>  Q: Why does a latency improvement of 60.6% in Retry-Aware mode at C = 64 not automatically mean better overall performance?</a:t>
            </a:r>
          </a:p>
          <a:p>
            <a:r>
              <a:rPr sz="1200">
                <a:latin typeface="Calibri"/>
              </a:rPr>
              <a:t>  A: Because of survivorship bias and client back-off: that 175.15 ms p99 applies only to the 15,915 admitted 2xx requests per trial while clients spent 511.91 seconds (~80% of trial time) sleeping on `Retry-After: 5`, reducing 2xx throughput by 76.6%.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Anjini Pandey (24BCE0714) | RECOMMENDED TIME: 0.7 min</a:t>
            </a:r>
          </a:p>
          <a:p/>
          <a:p>
            <a:r>
              <a:t>WHAT TO SAY (ORAL EXPLANATION):</a:t>
            </a:r>
          </a:p>
          <a:p>
            <a:r>
              <a:t>Slide 24 presents our separate verification-host rerun (`fresh_rerun_20261021`, Appendix B.7, Tables B.7–B.8) on the AMD EPYC 9V74 host on port 18080. Although baseline throughput is ~3.8× higher (~25k–37k req/s)—so the two datasets are never pooled—the exact same qualitative regimes hold across all 80 trials: NORMAL at C = 2, 8 (0 shed); CAUTION at C = 32 (0 shed, p99 lower by 58.4% / 59.4%, RPS lower by 13.2% / 10.8%); and OVERLOAD at C = 64 (Standard: 54.24% shed and RPS lower by 82.2%; Retry-Aware: 128 503s/trial, 452.48 s backoff, p99 lower by 70.9%, RPS lower by 66.3%).</a:t>
            </a:r>
          </a:p>
          <a:p/>
          <a:p>
            <a:r>
              <a:t>KEY TECHNICAL &amp; CHART/DIAGRAM EXPLANATION:</a:t>
            </a:r>
          </a:p>
          <a:p>
            <a:r>
              <a:t>• The right-hand chart shows raw baseline and QLAAC p99 values; the table’s `p99 Red%` column reports the corresponding reduction as a positive percentage.</a:t>
            </a:r>
          </a:p>
          <a:p>
            <a:r>
              <a:t>• Emphasize that keeping `historical_v4_20261019` and `fresh_rerun_20261021` separate avoids artificial cross-host variance while demonstrating the same qualitative trade-off on a separate host.</a:t>
            </a:r>
          </a:p>
          <a:p/>
          <a:p>
            <a:r>
              <a:t>TRANSITION TO NEXT SLIDE: Yash will now open Section 9 to analyze the physical trade-offs, survivorship bias, and limitations.</a:t>
            </a:r>
          </a:p>
          <a:p/>
          <a:p>
            <a:r>
              <a:t>ANTICIPATED EXAMINER VIVA FOLLOW-UP:</a:t>
            </a:r>
          </a:p>
          <a:p>
            <a:r>
              <a:t>  Q: Why must the Historical v4 and Fresh Rerun datasets never be averaged together?</a:t>
            </a:r>
          </a:p>
          <a:p>
            <a:r>
              <a:t>  A: Because the two hosts have ~3.8× different per-request speeds (~6.9k vs ~26k req/s), and the historical v4 CSVs did not log CPU model, clock frequency, or thermal telemetry needed for cross-host normalization.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0.7 min</a:t>
            </a:r>
          </a:p>
          <a:p/>
          <a:p>
            <a:r>
              <a:rPr sz="1200">
                <a:latin typeface="Calibri"/>
              </a:rPr>
              <a:t>WHAT TO SAY (ORAL EXPLANATION):</a:t>
            </a:r>
          </a:p>
          <a:p>
            <a:r>
              <a:rPr sz="1200">
                <a:latin typeface="Calibri"/>
              </a:rPr>
              <a:t>Slide 25 opens Section 9 by analyzing the trade-offs and failure conditions. First, why does C = 32 cut p99 by 61.3% while raising p95 from 1.31 ms to 72.99 ms? In baseline, only 1 in 50 requests (2%) waits in the queue, so p95 stays in the fast group. In CAUTION, 1 in 16 requests (6.25% &gt; 5%) waits in the queue, shifting p95 into the waiting group with approximate wait `T_wait ≈ 7 × (4 × 16 / X) × 1000 ms ≈ 74.8 ms` (v4 Std; ~19.6 ms Fresh Std). Below, Card 3 lists the five explicit conditions where QLAAC reduces performance.</a:t>
            </a:r>
          </a:p>
          <a:p/>
          <a:p>
            <a:r>
              <a:rPr sz="1200">
                <a:latin typeface="Calibri"/>
              </a:rPr>
              <a:t>KEY TECHNICAL &amp; CHART/DIAGRAM EXPLANATION:</a:t>
            </a:r>
          </a:p>
          <a:p>
            <a:r>
              <a:rPr sz="1200">
                <a:latin typeface="Calibri"/>
              </a:rPr>
              <a:t>• Both `T_wait` calculations (`74.8 ms` for Historical v4 and `19.6 ms` for Fresh Rerun) are approximate consistency models using measured 2xx RPS X.</a:t>
            </a:r>
          </a:p>
          <a:p/>
          <a:p>
            <a:r>
              <a:rPr sz="1200">
                <a:latin typeface="Calibri"/>
              </a:rPr>
              <a:t>TRANSITION TO NEXT SLIDE: Anjini will now cover the protocol, concurrency, and single-host loopback threats to validity.</a:t>
            </a:r>
          </a:p>
          <a:p/>
          <a:p>
            <a:r>
              <a:rPr sz="1200">
                <a:latin typeface="Calibri"/>
              </a:rPr>
              <a:t>ANTICIPATED EXAMINER VIVA FOLLOW-UP:</a:t>
            </a:r>
          </a:p>
          <a:p>
            <a:r>
              <a:rPr sz="1200">
                <a:latin typeface="Calibri"/>
              </a:rPr>
              <a:t>  Q: Why is the queue-wait signal in QLAAC described as a lagging indicator?</a:t>
            </a:r>
          </a:p>
          <a:p>
            <a:r>
              <a:rPr sz="1200">
                <a:latin typeface="Calibri"/>
              </a:rPr>
              <a:t>  A: Because `metrics_record_queue_wait()` is called when a worker dequeues a connection; connections still sitting in the queue have not yet recorded their wait time.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26 states our protocol, concurrency, and measurement threats to validity from Sections 1.4, 5.5, and 6.2. Our parser implements a documented HTTP/1.1 subset: returning 501 on `Transfer-Encoding: chunked` is an explicit deviation from full RFC 9112 conformance, TLS and HTTP/2/3 are outside scope, and our 4 blocking worker threads remain vulnerable to slow-trickle clients. Experimentally, our results are scoped to a single-host loopback testbed (`127.0.0.1`), an 89-byte `/health` payload, closed-loop Python threads, and 10 s windows.</a:t>
            </a:r>
          </a:p>
          <a:p/>
          <a:p>
            <a:r>
              <a:rPr sz="1200">
                <a:latin typeface="Calibri"/>
              </a:rPr>
              <a:t>KEY TECHNICAL &amp; CHART/DIAGRAM EXPLANATION:</a:t>
            </a:r>
          </a:p>
          <a:p>
            <a:r>
              <a:rPr sz="1200">
                <a:latin typeface="Calibri"/>
              </a:rPr>
              <a:t>• Being upfront about these boundaries prevents overclaiming and directly strengthens our viva defense.</a:t>
            </a:r>
          </a:p>
          <a:p/>
          <a:p>
            <a:r>
              <a:rPr sz="1200">
                <a:latin typeface="Calibri"/>
              </a:rPr>
              <a:t>TRANSITION TO NEXT SLIDE: Yash will now explain our automated test chronology and the distinction between readiness validation and performance benchmarking.</a:t>
            </a:r>
          </a:p>
          <a:p/>
          <a:p>
            <a:r>
              <a:rPr sz="1200">
                <a:latin typeface="Calibri"/>
              </a:rPr>
              <a:t>ANTICIPATED EXAMINER VIVA FOLLOW-UP:</a:t>
            </a:r>
          </a:p>
          <a:p>
            <a:r>
              <a:rPr sz="1200">
                <a:latin typeface="Calibri"/>
              </a:rPr>
              <a:t>  Q: How could an attacker exploit the 4-worker thread pool without exceeding the 5-second recv timeout?</a:t>
            </a:r>
          </a:p>
          <a:p>
            <a:r>
              <a:rPr sz="1200">
                <a:latin typeface="Calibri"/>
              </a:rPr>
              <a:t>  A: By opening 4 connections and sending 1 byte every 4.9 seconds (`Slowloris`-style attack), keeping all 4 workers occupied until `max_header_size` is reached. Mitigating this requires moving idle/reading sockets to an event-driven `epoll` loop.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 RECOMMENDED TIME: 0.6 min</a:t>
            </a:r>
          </a:p>
          <a:p/>
          <a:p>
            <a:r>
              <a:rPr sz="1200">
                <a:latin typeface="Calibri"/>
              </a:rPr>
              <a:t>WHAT TO SAY (ORAL EXPLANATION):</a:t>
            </a:r>
          </a:p>
          <a:p>
            <a:r>
              <a:rPr sz="1200">
                <a:latin typeface="Calibri"/>
              </a:rPr>
              <a:t>Slide 27 distinguishes our test chronology and readiness validation from our performance benchmarks. Stage 1 (Appendix B.2, pre-rerun) passed 80 tests (44 C + 36 Python; 15 pass / 21 skip offline) plus ASan, UBSan, TSan, and `gcc -fanalyzer`. Stage 2 (Appendix B.8, post-rerun) added `wait_for_server()` `/health` JSON identity checks and 12 readiness tests: the server-active suite passes 92 of 92 tests (0 skipped), while an offline Python run passes 26 and skips 22. The 80-trial benchmark was not rerun after Stage 2.</a:t>
            </a:r>
          </a:p>
          <a:p/>
          <a:p>
            <a:r>
              <a:rPr sz="1200">
                <a:latin typeface="Calibri"/>
              </a:rPr>
              <a:t>KEY TECHNICAL &amp; CHART/DIAGRAM EXPLANATION:</a:t>
            </a:r>
          </a:p>
          <a:p>
            <a:r>
              <a:rPr sz="1200">
                <a:latin typeface="Calibri"/>
              </a:rPr>
              <a:t>• Explicitly note that `wait_for_server()` bounds per-operation socket timeouts (`min(rem, 1.0)`), not a hard preemptive cutoff against a byte-trickling peer.</a:t>
            </a:r>
          </a:p>
          <a:p/>
          <a:p>
            <a:r>
              <a:rPr sz="1200">
                <a:latin typeface="Calibri"/>
              </a:rPr>
              <a:t>TRANSITION TO NEXT SLIDE: Anjini will now open Section 10 with our conclusions, future enhancement proposals, and IEEE references.</a:t>
            </a:r>
          </a:p>
          <a:p/>
          <a:p>
            <a:r>
              <a:rPr sz="1200">
                <a:latin typeface="Calibri"/>
              </a:rPr>
              <a:t>ANTICIPATED EXAMINER VIVA FOLLOW-UP:</a:t>
            </a:r>
          </a:p>
          <a:p>
            <a:r>
              <a:rPr sz="1200">
                <a:latin typeface="Calibri"/>
              </a:rPr>
              <a:t>  Q: Why do all 12 tests in `tests/test_readiness_check.py` pass even when port 8080 is offline or occupied?</a:t>
            </a:r>
          </a:p>
          <a:p>
            <a:r>
              <a:rPr sz="1200">
                <a:latin typeface="Calibri"/>
              </a:rPr>
              <a:t>  A: Because `test_readiness_check.py` binds its mock servers and its live `bin/server` subprocess (Case 7) to port 0 (OS-assigned ephemeral ports), making it completely independent of port 8080.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Anjini Pandey (24BCE0714) | RECOMMENDED TIME: 0.6 min</a:t>
            </a:r>
          </a:p>
          <a:p/>
          <a:p>
            <a:r>
              <a:rPr sz="1200">
                <a:latin typeface="Calibri"/>
              </a:rPr>
              <a:t>WHAT TO SAY (ORAL EXPLANATION):</a:t>
            </a:r>
          </a:p>
          <a:p>
            <a:r>
              <a:rPr sz="1200">
                <a:latin typeface="Calibri"/>
              </a:rPr>
              <a:t>Slide 28 opens Section 10 with our conclusions and future work proposals. We delivered a complete C17 HTTP/1.1 server on raw POSIX sockets (3,569 snapshot / 3,573 ZIP C lines, 92/92 tests) and showed across two independent 80-trial datasets that QLAAC cuts C = 32 p99 by ~58–61% with zero rejections via keep-alive rotation, while C = 64 shedding requires `Retry-After` client cooperation. On the right, we list five unimplemented future proposals, led by a leading head-of-queue age signal.</a:t>
            </a:r>
          </a:p>
          <a:p/>
          <a:p>
            <a:r>
              <a:rPr sz="1200">
                <a:latin typeface="Calibri"/>
              </a:rPr>
              <a:t>KEY TECHNICAL &amp; CHART/DIAGRAM EXPLANATION:</a:t>
            </a:r>
          </a:p>
          <a:p>
            <a:r>
              <a:rPr sz="1200">
                <a:latin typeface="Calibri"/>
              </a:rPr>
              <a:t>• Every future item is explicitly marked 'Proposal:' so none can be mistaken for already-implemented features.</a:t>
            </a:r>
          </a:p>
          <a:p/>
          <a:p>
            <a:r>
              <a:rPr sz="1200">
                <a:latin typeface="Calibri"/>
              </a:rPr>
              <a:t>TRANSITION TO NEXT SLIDE: Yash will now present our final slide containing all 11 IEEE references and our closing line.</a:t>
            </a:r>
          </a:p>
          <a:p/>
          <a:p>
            <a:r>
              <a:rPr sz="1200">
                <a:latin typeface="Calibri"/>
              </a:rPr>
              <a:t>ANTICIPATED EXAMINER VIVA FOLLOW-UP:</a:t>
            </a:r>
          </a:p>
          <a:p>
            <a:r>
              <a:rPr sz="1200">
                <a:latin typeface="Calibri"/>
              </a:rPr>
              <a:t>  Q: How would Proposal 1 (inspecting the oldest connection in the queue) be implemented in `src/connection_queue.c`?</a:t>
            </a:r>
          </a:p>
          <a:p>
            <a:r>
              <a:rPr sz="1200">
                <a:latin typeface="Calibri"/>
              </a:rPr>
              <a:t>  A: By locking `q-&gt;lock`, checking `if (q-&gt;count &gt; 0)`, and computing `(monotonic_ns() - q-&gt;buffer[q-&gt;head].enqueued_ns) / 1e6` in O(1) time without dequeuing the socket.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SPEAKER: Yash Pradhan (24BCE0702) &amp; Anjini Pandey (24BCE0714) | RECOMMENDED TIME: 0.6 min</a:t>
            </a:r>
          </a:p>
          <a:p/>
          <a:p>
            <a:r>
              <a:rPr sz="1200">
                <a:latin typeface="Calibri"/>
              </a:rPr>
              <a:t>WHAT TO SAY (ORAL EXPLANATION):</a:t>
            </a:r>
          </a:p>
          <a:p>
            <a:r>
              <a:rPr sz="1200">
                <a:latin typeface="Calibri"/>
              </a:rPr>
              <a:t>Slide 29 concludes Section 10 with our complete 11-entry IEEE bibliography from Section 7 of the report: RFC 9112, RFC 9110, and RFC 9293 for HTTP/1.1 and TCP specifications, Welsh and Culler's SEDA overload papers, Schroeder and Harchol-Balter on scheduling, Pariag et al. on server architectures, Nichols, Jacobson, and Gettys on CoDel and bufferbloat, Dean and Barroso on tail latency, and Little's Law. Thank you, Professor—we are ready for our live demonstration and viva questions.</a:t>
            </a:r>
          </a:p>
          <a:p/>
          <a:p>
            <a:r>
              <a:rPr sz="1200">
                <a:latin typeface="Calibri"/>
              </a:rPr>
              <a:t>KEY TECHNICAL &amp; CHART/DIAGRAM EXPLANATION:</a:t>
            </a:r>
          </a:p>
          <a:p>
            <a:r>
              <a:rPr sz="1200">
                <a:latin typeface="Calibri"/>
              </a:rPr>
              <a:t>• All 11 references remain strictly inside Section 10 with a closing line at the bottom of Slide 29—no separate appendix or post-Section-10 slide is added.</a:t>
            </a:r>
          </a:p>
          <a:p/>
          <a:p>
            <a:r>
              <a:rPr sz="1200">
                <a:latin typeface="Calibri"/>
              </a:rPr>
              <a:t>TRANSITION TO NEXT SLIDE: Switch to Terminal 1 and Terminal 2 for the live server demonstration.</a:t>
            </a:r>
          </a:p>
          <a:p/>
          <a:p>
            <a:r>
              <a:rPr sz="1200">
                <a:latin typeface="Calibri"/>
              </a:rPr>
              <a:t>ANTICIPATED EXAMINER VIVA FOLLOW-UP:</a:t>
            </a:r>
          </a:p>
          <a:p>
            <a:r>
              <a:rPr sz="1200">
                <a:latin typeface="Calibri"/>
              </a:rPr>
              <a:t>  Q: Which reference in your bibliography directly defines the HTTP 503 status code and Retry-After header semantics?</a:t>
            </a:r>
          </a:p>
          <a:p>
            <a:r>
              <a:rPr sz="1200">
                <a:latin typeface="Calibri"/>
              </a:rPr>
              <a:t>  A: Reference [2]: IETF RFC 9110 ('HTTP Semantics', STD 97, June 2022), specifically Section 15.6.4 (`503 Service Unavailable`) and Section 10.2.3 (`Retry-After`).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777240" y="594360"/>
            <a:ext cx="6766560" cy="420624"/>
          </a:xfrm>
          <a:prstGeom prst="roundRect">
            <a:avLst>
              <a:gd name="adj" fmla="val 25000"/>
            </a:avLst>
          </a:prstGeom>
          <a:solidFill>
            <a:srgbClr val="16325C"/>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164592" tIns="0" rIns="164592" bIns="0">
            <a:noAutofit/>
          </a:bodyPr>
          <a:lstStyle/>
          <a:p>
            <a:pPr algn="ctr"/>
            <a:r>
              <a:rPr sz="1150" b="1">
                <a:solidFill>
                  <a:srgbClr val="5FD3DD"/>
                </a:solidFill>
                <a:latin typeface="Calibri"/>
              </a:rPr>
              <a:t>SECTION 1 · TITLE AND TEAM  |  BCSE308P — COMPUTER NETWORKS LAB (FALL 2026–27)</a:t>
            </a:r>
          </a:p>
        </p:txBody>
      </p:sp>
      <p:sp>
        <p:nvSpPr>
          <p:cNvPr id="4" name="TextBox 3"/>
          <p:cNvSpPr txBox="1"/>
          <p:nvPr/>
        </p:nvSpPr>
        <p:spPr>
          <a:xfrm>
            <a:off x="777240" y="1280160"/>
            <a:ext cx="10607040" cy="2331720"/>
          </a:xfrm>
          <a:prstGeom prst="rect">
            <a:avLst/>
          </a:prstGeom>
          <a:noFill/>
        </p:spPr>
        <p:txBody>
          <a:bodyPr wrap="square" anchor="t" lIns="0" tIns="0" rIns="0" bIns="0">
            <a:noAutofit/>
          </a:bodyPr>
          <a:lstStyle/>
          <a:p>
            <a:pPr>
              <a:spcAft>
                <a:spcPts val="1400"/>
              </a:spcAft>
            </a:pPr>
            <a:r>
              <a:rPr sz="3400" b="1">
                <a:solidFill>
                  <a:srgbClr val="FFFFFF"/>
                </a:solidFill>
                <a:latin typeface="Cambria"/>
              </a:rPr>
              <a:t>Design and Implementation of a Multi-Threaded
HTTP/1.1 Web Server from Scratch Using Raw TCP Sockets</a:t>
            </a:r>
          </a:p>
          <a:p>
            <a:r>
              <a:rPr sz="1750">
                <a:solidFill>
                  <a:srgbClr val="9FB3CC"/>
                </a:solidFill>
                <a:latin typeface="Calibri"/>
              </a:rPr>
              <a:t>Bounded pthread worker-pool concurrency, RFC 9112 byte-stream framing, and Queue-and-Latency-Aware Admission Control (QLAAC) in ISO C17 on POSIX sockets</a:t>
            </a:r>
          </a:p>
        </p:txBody>
      </p:sp>
      <p:sp>
        <p:nvSpPr>
          <p:cNvPr id="5" name="Rounded Rectangle 4"/>
          <p:cNvSpPr/>
          <p:nvPr/>
        </p:nvSpPr>
        <p:spPr>
          <a:xfrm>
            <a:off x="777240" y="3931920"/>
            <a:ext cx="5166360" cy="1508760"/>
          </a:xfrm>
          <a:prstGeom prst="roundRect">
            <a:avLst>
              <a:gd name="adj" fmla="val 4000"/>
            </a:avLst>
          </a:prstGeom>
          <a:solidFill>
            <a:srgbClr val="16325C"/>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41832" y="4041648"/>
            <a:ext cx="4837176" cy="1289304"/>
          </a:xfrm>
          <a:prstGeom prst="rect">
            <a:avLst/>
          </a:prstGeom>
          <a:noFill/>
        </p:spPr>
        <p:txBody>
          <a:bodyPr wrap="square" anchor="t" lIns="0" tIns="0" rIns="0" bIns="0">
            <a:noAutofit/>
          </a:bodyPr>
          <a:lstStyle/>
          <a:p>
            <a:pPr algn="l">
              <a:spcAft>
                <a:spcPts val="350"/>
              </a:spcAft>
            </a:pPr>
            <a:r>
              <a:rPr sz="1800" b="1">
                <a:solidFill>
                  <a:srgbClr val="5FD3DD"/>
                </a:solidFill>
                <a:latin typeface="Cambria"/>
              </a:rPr>
              <a:t>Yash Pradhan — 24BCE0702</a:t>
            </a:r>
          </a:p>
          <a:p>
            <a:pPr algn="l">
              <a:spcAft>
                <a:spcPts val="200"/>
              </a:spcAft>
            </a:pPr>
            <a:r>
              <a:rPr sz="1150" b="1">
                <a:solidFill>
                  <a:srgbClr val="F8FAFC"/>
                </a:solidFill>
                <a:latin typeface="Calibri"/>
              </a:rPr>
              <a:t>Programme: </a:t>
            </a:r>
            <a:r>
              <a:rPr sz="1150" b="0">
                <a:solidFill>
                  <a:srgbClr val="9FB3CC"/>
                </a:solidFill>
                <a:latin typeface="Calibri"/>
              </a:rPr>
              <a:t>B.Tech. in Computer Science and Engineering</a:t>
            </a:r>
          </a:p>
          <a:p>
            <a:pPr algn="l">
              <a:spcAft>
                <a:spcPts val="200"/>
              </a:spcAft>
            </a:pPr>
            <a:r>
              <a:rPr sz="1150" b="1">
                <a:solidFill>
                  <a:srgbClr val="F8FAFC"/>
                </a:solidFill>
                <a:latin typeface="Calibri"/>
              </a:rPr>
              <a:t>School: </a:t>
            </a:r>
            <a:r>
              <a:rPr sz="1150" b="0">
                <a:solidFill>
                  <a:srgbClr val="9FB3CC"/>
                </a:solidFill>
                <a:latin typeface="Calibri"/>
              </a:rPr>
              <a:t>School of Computer Science and Engineering (SCOPE), VIT</a:t>
            </a:r>
          </a:p>
          <a:p>
            <a:pPr algn="l">
              <a:spcAft>
                <a:spcPts val="0"/>
              </a:spcAft>
            </a:pPr>
            <a:r>
              <a:rPr sz="1150" b="1">
                <a:solidFill>
                  <a:srgbClr val="F8FAFC"/>
                </a:solidFill>
                <a:latin typeface="Calibri"/>
              </a:rPr>
              <a:t>Course: </a:t>
            </a:r>
            <a:r>
              <a:rPr sz="1150" b="0">
                <a:solidFill>
                  <a:srgbClr val="9FB3CC"/>
                </a:solidFill>
                <a:latin typeface="Calibri"/>
              </a:rPr>
              <a:t>Innovative Evaluation Practices for BCSE308P — Computer Networks Lab</a:t>
            </a:r>
          </a:p>
        </p:txBody>
      </p:sp>
      <p:sp>
        <p:nvSpPr>
          <p:cNvPr id="7" name="Rounded Rectangle 6"/>
          <p:cNvSpPr/>
          <p:nvPr/>
        </p:nvSpPr>
        <p:spPr>
          <a:xfrm>
            <a:off x="6217920" y="3931920"/>
            <a:ext cx="5166360" cy="1508760"/>
          </a:xfrm>
          <a:prstGeom prst="roundRect">
            <a:avLst>
              <a:gd name="adj" fmla="val 4000"/>
            </a:avLst>
          </a:prstGeom>
          <a:solidFill>
            <a:srgbClr val="16325C"/>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382512" y="4041648"/>
            <a:ext cx="4837176" cy="1289304"/>
          </a:xfrm>
          <a:prstGeom prst="rect">
            <a:avLst/>
          </a:prstGeom>
          <a:noFill/>
        </p:spPr>
        <p:txBody>
          <a:bodyPr wrap="square" anchor="t" lIns="0" tIns="0" rIns="0" bIns="0">
            <a:noAutofit/>
          </a:bodyPr>
          <a:lstStyle/>
          <a:p>
            <a:pPr algn="l">
              <a:spcAft>
                <a:spcPts val="350"/>
              </a:spcAft>
            </a:pPr>
            <a:r>
              <a:rPr sz="1800" b="1">
                <a:solidFill>
                  <a:srgbClr val="5FD3DD"/>
                </a:solidFill>
                <a:latin typeface="Cambria"/>
              </a:rPr>
              <a:t>Anjini Pandey — 24BCE0714</a:t>
            </a:r>
          </a:p>
          <a:p>
            <a:pPr algn="l">
              <a:spcAft>
                <a:spcPts val="200"/>
              </a:spcAft>
            </a:pPr>
            <a:r>
              <a:rPr sz="1150" b="1">
                <a:solidFill>
                  <a:srgbClr val="F8FAFC"/>
                </a:solidFill>
                <a:latin typeface="Calibri"/>
              </a:rPr>
              <a:t>Programme: </a:t>
            </a:r>
            <a:r>
              <a:rPr sz="1150" b="0">
                <a:solidFill>
                  <a:srgbClr val="9FB3CC"/>
                </a:solidFill>
                <a:latin typeface="Calibri"/>
              </a:rPr>
              <a:t>B.Tech. in Computer Science and Engineering</a:t>
            </a:r>
          </a:p>
          <a:p>
            <a:pPr algn="l">
              <a:spcAft>
                <a:spcPts val="200"/>
              </a:spcAft>
            </a:pPr>
            <a:r>
              <a:rPr sz="1150" b="1">
                <a:solidFill>
                  <a:srgbClr val="F8FAFC"/>
                </a:solidFill>
                <a:latin typeface="Calibri"/>
              </a:rPr>
              <a:t>School: </a:t>
            </a:r>
            <a:r>
              <a:rPr sz="1150" b="0">
                <a:solidFill>
                  <a:srgbClr val="9FB3CC"/>
                </a:solidFill>
                <a:latin typeface="Calibri"/>
              </a:rPr>
              <a:t>School of Computer Science and Engineering (SCOPE), VIT</a:t>
            </a:r>
          </a:p>
          <a:p>
            <a:pPr algn="l">
              <a:spcAft>
                <a:spcPts val="0"/>
              </a:spcAft>
            </a:pPr>
            <a:r>
              <a:rPr sz="1150" b="1">
                <a:solidFill>
                  <a:srgbClr val="F8FAFC"/>
                </a:solidFill>
                <a:latin typeface="Calibri"/>
              </a:rPr>
              <a:t>Semester: </a:t>
            </a:r>
            <a:r>
              <a:rPr sz="1150" b="0">
                <a:solidFill>
                  <a:srgbClr val="9FB3CC"/>
                </a:solidFill>
                <a:latin typeface="Calibri"/>
              </a:rPr>
              <a:t>Fall Semester 2026–27 · Final Project Submission &amp; Evaluation</a:t>
            </a:r>
          </a:p>
        </p:txBody>
      </p:sp>
      <p:sp>
        <p:nvSpPr>
          <p:cNvPr id="9" name="TextBox 8"/>
          <p:cNvSpPr txBox="1"/>
          <p:nvPr/>
        </p:nvSpPr>
        <p:spPr>
          <a:xfrm>
            <a:off x="777240" y="5687568"/>
            <a:ext cx="10607040" cy="411480"/>
          </a:xfrm>
          <a:prstGeom prst="rect">
            <a:avLst/>
          </a:prstGeom>
          <a:noFill/>
        </p:spPr>
        <p:txBody>
          <a:bodyPr wrap="square" anchor="t" lIns="0" tIns="0" rIns="0" bIns="0">
            <a:noAutofit/>
          </a:bodyPr>
          <a:lstStyle/>
          <a:p>
            <a:r>
              <a:rPr sz="1300" b="1">
                <a:solidFill>
                  <a:srgbClr val="5FD3DD"/>
                </a:solidFill>
                <a:latin typeface="Calibri"/>
              </a:rPr>
              <a:t>ISO C17 &amp; POSIX.1-2008  ·  4 Worker Pthreads &amp; 64-Slot Bounded FIFO Queue  ·  Same Executable Baseline vs. QLAAC (-a)  ·  80 Historical v4 + 80 Fresh Rerun Trials  ·  92 Automated Tests</a:t>
            </a:r>
          </a:p>
        </p:txBody>
      </p:sp>
      <p:sp>
        <p:nvSpPr>
          <p:cNvPr id="10" name="TextBox 9"/>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9FB3CC"/>
                </a:solidFill>
                <a:latin typeface="Calibri"/>
              </a:rPr>
              <a:t>Source: BCSE308P Computer Networks Lab · Fall Semester 2026–27 · VIT</a:t>
            </a:r>
          </a:p>
        </p:txBody>
      </p:sp>
      <p:sp>
        <p:nvSpPr>
          <p:cNvPr id="11" name="TextBox 10"/>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9FB3C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2 · PROBLEM AND MOTIVATION</a:t>
            </a:r>
          </a:p>
          <a:p>
            <a:pPr algn="l">
              <a:spcAft>
                <a:spcPts val="300"/>
              </a:spcAft>
            </a:pPr>
            <a:r>
              <a:rPr sz="2700" b="1">
                <a:solidFill>
                  <a:srgbClr val="0B1F3A"/>
                </a:solidFill>
                <a:latin typeface="Cambria"/>
              </a:rPr>
              <a:t>Problem &amp; Motivation: Queueing Delay Dominates Tail Latency</a:t>
            </a:r>
          </a:p>
          <a:p>
            <a:pPr algn="l"/>
            <a:r>
              <a:rPr sz="1500" b="0">
                <a:solidFill>
                  <a:srgbClr val="5B6676"/>
                </a:solidFill>
                <a:latin typeface="Calibri"/>
              </a:rPr>
              <a:t>Why bounded thread-pool servers experience severe connection-queue wait and p99 inflation when clients exceed workers</a:t>
            </a:r>
          </a:p>
        </p:txBody>
      </p:sp>
      <p:sp>
        <p:nvSpPr>
          <p:cNvPr id="4" name="Rounded Rectangle 3"/>
          <p:cNvSpPr/>
          <p:nvPr/>
        </p:nvSpPr>
        <p:spPr>
          <a:xfrm>
            <a:off x="594360" y="2011680"/>
            <a:ext cx="5303520" cy="269748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121408"/>
            <a:ext cx="4974336" cy="2478024"/>
          </a:xfrm>
          <a:prstGeom prst="rect">
            <a:avLst/>
          </a:prstGeom>
          <a:noFill/>
        </p:spPr>
        <p:txBody>
          <a:bodyPr wrap="square" anchor="t" lIns="0" tIns="0" rIns="0" bIns="0">
            <a:noAutofit/>
          </a:bodyPr>
          <a:lstStyle/>
          <a:p>
            <a:pPr algn="l">
              <a:spcAft>
                <a:spcPts val="350"/>
              </a:spcAft>
            </a:pPr>
            <a:r>
              <a:rPr sz="1500" b="1">
                <a:solidFill>
                  <a:srgbClr val="0B1F3A"/>
                </a:solidFill>
                <a:latin typeface="Cambria"/>
              </a:rPr>
              <a:t>Finite Worker Pool vs. Persistent Keep-Alive Clients</a:t>
            </a:r>
          </a:p>
          <a:p>
            <a:pPr algn="l" marL="182880" indent="-182880">
              <a:spcAft>
                <a:spcPts val="200"/>
              </a:spcAft>
              <a:buFont typeface="Calibri"/>
              <a:buChar char="•"/>
            </a:pPr>
            <a:r>
              <a:rPr sz="1170" b="1">
                <a:solidFill>
                  <a:srgbClr val="0B1F3A"/>
                </a:solidFill>
                <a:latin typeface="Calibri"/>
              </a:rPr>
              <a:t>TCP Byte Stream &amp; Worker Pinning: </a:t>
            </a:r>
            <a:r>
              <a:rPr sz="1170" b="0">
                <a:solidFill>
                  <a:srgbClr val="1F2937"/>
                </a:solidFill>
                <a:latin typeface="Calibri"/>
              </a:rPr>
              <a:t>In a synchronous thread-pool server, each accepted persistent HTTP/1.1 connection occupies one worker thread while reading, serving, or waiting between keep-alive requests.</a:t>
            </a:r>
          </a:p>
          <a:p>
            <a:pPr algn="l" marL="182880" indent="-182880">
              <a:spcAft>
                <a:spcPts val="200"/>
              </a:spcAft>
              <a:buFont typeface="Calibri"/>
              <a:buChar char="•"/>
            </a:pPr>
            <a:r>
              <a:rPr sz="1170" b="1">
                <a:solidFill>
                  <a:srgbClr val="0B1F3A"/>
                </a:solidFill>
                <a:latin typeface="Calibri"/>
              </a:rPr>
              <a:t>Fixed Resource Limits (W = 4, Q = 64): </a:t>
            </a:r>
            <a:r>
              <a:rPr sz="1170" b="0">
                <a:solidFill>
                  <a:srgbClr val="1F2937"/>
                </a:solidFill>
                <a:latin typeface="Calibri"/>
              </a:rPr>
              <a:t>To bound memory and file descriptors, practical servers fix the worker pool (W = 4 pthreads) and bound the accept queue (Q = 64 FIFO slots).</a:t>
            </a:r>
          </a:p>
          <a:p>
            <a:pPr algn="l" marL="182880" indent="-182880">
              <a:spcAft>
                <a:spcPts val="0"/>
              </a:spcAft>
              <a:buFont typeface="Calibri"/>
              <a:buChar char="•"/>
            </a:pPr>
            <a:r>
              <a:rPr sz="1170" b="1">
                <a:solidFill>
                  <a:srgbClr val="0B1F3A"/>
                </a:solidFill>
                <a:latin typeface="Calibri"/>
              </a:rPr>
              <a:t>Little's Law (L = λW) &amp; Bufferbloat: </a:t>
            </a:r>
            <a:r>
              <a:rPr sz="1170" b="0">
                <a:solidFill>
                  <a:srgbClr val="1F2937"/>
                </a:solidFill>
                <a:latin typeface="Calibri"/>
              </a:rPr>
              <a:t>Once all W = 4 workers are busy, extra concurrent clients (C − 4) wait in the FIFO queue rather than increasing throughput—creating application-layer bufferbloat [9]–[11].</a:t>
            </a:r>
          </a:p>
        </p:txBody>
      </p:sp>
      <p:sp>
        <p:nvSpPr>
          <p:cNvPr id="6" name="Rounded Rectangle 5"/>
          <p:cNvSpPr/>
          <p:nvPr/>
        </p:nvSpPr>
        <p:spPr>
          <a:xfrm>
            <a:off x="594360" y="4846320"/>
            <a:ext cx="5303520" cy="1325880"/>
          </a:xfrm>
          <a:prstGeom prst="roundRect">
            <a:avLst>
              <a:gd name="adj" fmla="val 4000"/>
            </a:avLst>
          </a:prstGeom>
          <a:solidFill>
            <a:srgbClr val="DDF2F4"/>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4937759"/>
            <a:ext cx="4974336" cy="1143000"/>
          </a:xfrm>
          <a:prstGeom prst="rect">
            <a:avLst/>
          </a:prstGeom>
          <a:noFill/>
        </p:spPr>
        <p:txBody>
          <a:bodyPr wrap="square" anchor="t" lIns="0" tIns="0" rIns="0" bIns="0">
            <a:noAutofit/>
          </a:bodyPr>
          <a:lstStyle/>
          <a:p>
            <a:pPr algn="l">
              <a:spcAft>
                <a:spcPts val="350"/>
              </a:spcAft>
            </a:pPr>
            <a:r>
              <a:rPr sz="1400" b="1">
                <a:solidFill>
                  <a:srgbClr val="0E9AA7"/>
                </a:solidFill>
                <a:latin typeface="Cambria"/>
              </a:rPr>
              <a:t>Motivating Baseline Evidence at C = 64 (Report Table 5.3)</a:t>
            </a:r>
          </a:p>
          <a:p>
            <a:pPr algn="l">
              <a:spcAft>
                <a:spcPts val="0"/>
              </a:spcAft>
            </a:pPr>
            <a:r>
              <a:rPr sz="1130" b="1">
                <a:solidFill>
                  <a:srgbClr val="0B1F3A"/>
                </a:solidFill>
                <a:latin typeface="Calibri"/>
              </a:rPr>
              <a:t>Median p50 = 0.53 ms  vs.  Tail p99 = 434.75 ms: </a:t>
            </a:r>
            <a:r>
              <a:rPr sz="1130" b="0">
                <a:solidFill>
                  <a:srgbClr val="1F2937"/>
                </a:solidFill>
                <a:latin typeface="Calibri"/>
              </a:rPr>
              <a:t>An 820× gap between median and 99th-percentile latency in Standard mode (Retry-Aware: p50 = 0.54 ms vs. p99 = 444.17 ms) while throughput stays flat (~6.9k req/s).</a:t>
            </a:r>
          </a:p>
        </p:txBody>
      </p:sp>
      <p:sp>
        <p:nvSpPr>
          <p:cNvPr id="8" name="Rounded Rectangle 7"/>
          <p:cNvSpPr/>
          <p:nvPr/>
        </p:nvSpPr>
        <p:spPr>
          <a:xfrm>
            <a:off x="6126480" y="2011680"/>
            <a:ext cx="5468112" cy="41605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09360" y="2121408"/>
            <a:ext cx="5102352" cy="384048"/>
          </a:xfrm>
          <a:prstGeom prst="rect">
            <a:avLst/>
          </a:prstGeom>
          <a:noFill/>
        </p:spPr>
        <p:txBody>
          <a:bodyPr wrap="square" anchor="t" lIns="0" tIns="0" rIns="0" bIns="0">
            <a:noAutofit/>
          </a:bodyPr>
          <a:lstStyle/>
          <a:p>
            <a:r>
              <a:rPr sz="1450" b="1">
                <a:solidFill>
                  <a:srgbClr val="0B1F3A"/>
                </a:solidFill>
                <a:latin typeface="Cambria"/>
              </a:rPr>
              <a:t>Baseline p50 vs. p99 Tail Growth (Historical v4, 5 × 10 s Trials)</a:t>
            </a:r>
          </a:p>
        </p:txBody>
      </p:sp>
      <p:graphicFrame>
        <p:nvGraphicFramePr>
          <p:cNvPr id="10" name="Chart 9"/>
          <p:cNvGraphicFramePr>
            <a:graphicFrameLocks noGrp="1"/>
          </p:cNvGraphicFramePr>
          <p:nvPr/>
        </p:nvGraphicFramePr>
        <p:xfrm>
          <a:off x="6245352" y="2560320"/>
          <a:ext cx="5230368" cy="3474720"/>
        </p:xfrm>
        <a:graphic>
          <a:graphicData uri="http://schemas.openxmlformats.org/drawingml/2006/chart">
            <c:chart xmlns:c="http://schemas.openxmlformats.org/drawingml/2006/chart" r:id="rId2"/>
          </a:graphicData>
        </a:graphic>
      </p:graphicFrame>
      <p:sp>
        <p:nvSpPr>
          <p:cNvPr id="11" name="TextBox 10"/>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1.1–1.2 &amp; Table 5.3 (Historical v4 Paired Dataset)</a:t>
            </a:r>
          </a:p>
        </p:txBody>
      </p:sp>
      <p:sp>
        <p:nvSpPr>
          <p:cNvPr id="12" name="TextBox 11"/>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2 · PROBLEM AND MOTIVATION</a:t>
            </a:r>
          </a:p>
          <a:p>
            <a:pPr algn="l">
              <a:spcAft>
                <a:spcPts val="300"/>
              </a:spcAft>
            </a:pPr>
            <a:r>
              <a:rPr sz="2700" b="1">
                <a:solidFill>
                  <a:srgbClr val="0B1F3A"/>
                </a:solidFill>
                <a:latin typeface="Cambria"/>
              </a:rPr>
              <a:t>Research Question, Engineering Objectives &amp; Networking Scope</a:t>
            </a:r>
          </a:p>
          <a:p>
            <a:pPr algn="l"/>
            <a:r>
              <a:rPr sz="1500" b="0">
                <a:solidFill>
                  <a:srgbClr val="5B6676"/>
                </a:solidFill>
                <a:latin typeface="Calibri"/>
              </a:rPr>
              <a:t>Twofold problem formulation, core research question, and mapping to Computer Networks principles (Report Table 1.1)</a:t>
            </a:r>
          </a:p>
        </p:txBody>
      </p:sp>
      <p:sp>
        <p:nvSpPr>
          <p:cNvPr id="4" name="Rounded Rectangle 3"/>
          <p:cNvSpPr/>
          <p:nvPr/>
        </p:nvSpPr>
        <p:spPr>
          <a:xfrm>
            <a:off x="594360" y="2011680"/>
            <a:ext cx="5166360" cy="1965960"/>
          </a:xfrm>
          <a:prstGeom prst="roundRect">
            <a:avLst>
              <a:gd name="adj" fmla="val 4000"/>
            </a:avLst>
          </a:prstGeom>
          <a:solidFill>
            <a:srgbClr val="DDF2F4"/>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093976"/>
            <a:ext cx="4837176" cy="1801368"/>
          </a:xfrm>
          <a:prstGeom prst="rect">
            <a:avLst/>
          </a:prstGeom>
          <a:noFill/>
        </p:spPr>
        <p:txBody>
          <a:bodyPr wrap="square" anchor="t" lIns="0" tIns="0" rIns="0" bIns="0">
            <a:noAutofit/>
          </a:bodyPr>
          <a:lstStyle/>
          <a:p>
            <a:pPr algn="l">
              <a:spcAft>
                <a:spcPts val="300"/>
              </a:spcAft>
            </a:pPr>
            <a:r>
              <a:rPr sz="1600" b="1">
                <a:solidFill>
                  <a:srgbClr val="0E9AA7"/>
                </a:solidFill>
                <a:latin typeface="Cambria"/>
              </a:rPr>
              <a:t>Core Research Question (Report §1.2)</a:t>
            </a:r>
          </a:p>
          <a:p>
            <a:pPr algn="l" marL="182880" indent="-182880">
              <a:spcAft>
                <a:spcPts val="150"/>
              </a:spcAft>
              <a:buFont typeface="Calibri"/>
              <a:buChar char="•"/>
            </a:pPr>
            <a:r>
              <a:rPr sz="1250" b="1">
                <a:solidFill>
                  <a:srgbClr val="0B1F3A"/>
                </a:solidFill>
                <a:latin typeface="Calibri"/>
              </a:rPr>
              <a:t>Tail Protection Under Overload: </a:t>
            </a:r>
            <a:r>
              <a:rPr sz="1250" b="0">
                <a:solidFill>
                  <a:srgbClr val="1F2937"/>
                </a:solidFill>
                <a:latin typeface="Calibri"/>
              </a:rPr>
              <a:t>Can a lightweight in-server feedback controller (QLAAC) using worker utilisation u, queue occupancy q, processing latency p95, and queue-wait p95 bound p99 tail latency when C &gt; W?</a:t>
            </a:r>
          </a:p>
          <a:p>
            <a:pPr algn="l" marL="182880" indent="-182880">
              <a:spcAft>
                <a:spcPts val="0"/>
              </a:spcAft>
              <a:buFont typeface="Calibri"/>
              <a:buChar char="•"/>
            </a:pPr>
            <a:r>
              <a:rPr sz="1250" b="1">
                <a:solidFill>
                  <a:srgbClr val="0B1F3A"/>
                </a:solidFill>
                <a:latin typeface="Calibri"/>
              </a:rPr>
              <a:t>Quantifying the Exact Cost: </a:t>
            </a:r>
            <a:r>
              <a:rPr sz="1250" b="0">
                <a:solidFill>
                  <a:srgbClr val="1F2937"/>
                </a:solidFill>
                <a:latin typeface="Calibri"/>
              </a:rPr>
              <a:t>What is the measurable trade-off in successful 2xx throughput, p50/p95 latency, HTTP 503 rejections, and client Retry-After back-off?</a:t>
            </a:r>
          </a:p>
        </p:txBody>
      </p:sp>
      <p:sp>
        <p:nvSpPr>
          <p:cNvPr id="6" name="Rounded Rectangle 5"/>
          <p:cNvSpPr/>
          <p:nvPr/>
        </p:nvSpPr>
        <p:spPr>
          <a:xfrm>
            <a:off x="594360" y="4096512"/>
            <a:ext cx="5166360" cy="2075688"/>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4178808"/>
            <a:ext cx="4837176" cy="1911095"/>
          </a:xfrm>
          <a:prstGeom prst="rect">
            <a:avLst/>
          </a:prstGeom>
          <a:noFill/>
        </p:spPr>
        <p:txBody>
          <a:bodyPr wrap="square" anchor="t" lIns="0" tIns="0" rIns="0" bIns="0">
            <a:noAutofit/>
          </a:bodyPr>
          <a:lstStyle/>
          <a:p>
            <a:pPr algn="l">
              <a:spcAft>
                <a:spcPts val="350"/>
              </a:spcAft>
            </a:pPr>
            <a:r>
              <a:rPr sz="1500" b="1">
                <a:solidFill>
                  <a:srgbClr val="0B1F3A"/>
                </a:solidFill>
                <a:latin typeface="Cambria"/>
              </a:rPr>
              <a:t>Engineering Objectives (Report §1.3)</a:t>
            </a:r>
          </a:p>
          <a:p>
            <a:pPr algn="l" marL="182880" indent="-182880">
              <a:spcAft>
                <a:spcPts val="200"/>
              </a:spcAft>
              <a:buFont typeface="Calibri"/>
              <a:buChar char="•"/>
            </a:pPr>
            <a:r>
              <a:rPr sz="1120" b="1">
                <a:solidFill>
                  <a:srgbClr val="0B1F3A"/>
                </a:solidFill>
                <a:latin typeface="Calibri"/>
              </a:rPr>
              <a:t>1. Raw POSIX C17 Server: </a:t>
            </a:r>
            <a:r>
              <a:rPr sz="1120" b="0">
                <a:solidFill>
                  <a:srgbClr val="1F2937"/>
                </a:solidFill>
                <a:latin typeface="Calibri"/>
              </a:rPr>
              <a:t>Non-blocking listener, 64-slot mutex/condvar FIFO queue, 4 pthread workers, partial recv/send/writev, and zero-copy sendfile(2).</a:t>
            </a:r>
          </a:p>
          <a:p>
            <a:pPr algn="l" marL="182880" indent="-182880">
              <a:spcAft>
                <a:spcPts val="200"/>
              </a:spcAft>
              <a:buFont typeface="Calibri"/>
              <a:buChar char="•"/>
            </a:pPr>
            <a:r>
              <a:rPr sz="1120" b="1">
                <a:solidFill>
                  <a:srgbClr val="0B1F3A"/>
                </a:solidFill>
                <a:latin typeface="Calibri"/>
              </a:rPr>
              <a:t>2. RFC 9112 Subset &amp; Security: </a:t>
            </a:r>
            <a:r>
              <a:rPr sz="1120" b="0">
                <a:solidFill>
                  <a:srgbClr val="1F2937"/>
                </a:solidFill>
                <a:latin typeface="Calibri"/>
              </a:rPr>
              <a:t>Streaming parser, decimal Content-Length (≤10 MiB), keep-alive, /health, /metrics, /api/echo, and 5-layer traversal sandbox.</a:t>
            </a:r>
          </a:p>
          <a:p>
            <a:pPr algn="l" marL="182880" indent="-182880">
              <a:spcAft>
                <a:spcPts val="0"/>
              </a:spcAft>
              <a:buFont typeface="Calibri"/>
              <a:buChar char="•"/>
            </a:pPr>
            <a:r>
              <a:rPr sz="1120" b="1">
                <a:solidFill>
                  <a:srgbClr val="0B1F3A"/>
                </a:solidFill>
                <a:latin typeface="Calibri"/>
              </a:rPr>
              <a:t>3. Paired Evaluation &amp; 92 Tests: </a:t>
            </a:r>
            <a:r>
              <a:rPr sz="1120" b="0">
                <a:solidFill>
                  <a:srgbClr val="1F2937"/>
                </a:solidFill>
                <a:latin typeface="Calibri"/>
              </a:rPr>
              <a:t>Controlled same-binary evaluation (80 v4 + 80 fresh rerun trials) and 92 automated C/Python tests.</a:t>
            </a:r>
          </a:p>
        </p:txBody>
      </p:sp>
      <p:graphicFrame>
        <p:nvGraphicFramePr>
          <p:cNvPr id="8" name="Table 7"/>
          <p:cNvGraphicFramePr>
            <a:graphicFrameLocks noGrp="1"/>
          </p:cNvGraphicFramePr>
          <p:nvPr/>
        </p:nvGraphicFramePr>
        <p:xfrm>
          <a:off x="5943600" y="2011680"/>
          <a:ext cx="5650992" cy="1024128"/>
        </p:xfrm>
        <a:graphic>
          <a:graphicData uri="http://schemas.openxmlformats.org/drawingml/2006/table">
            <a:tbl>
              <a:tblPr firstRow="1" bandRow="1">
                <a:tableStyleId>{5C22544A-7EE6-4342-B048-85BDC9FD1C3A}</a:tableStyleId>
              </a:tblPr>
              <a:tblGrid>
                <a:gridCol w="2057400"/>
                <a:gridCol w="3593592"/>
              </a:tblGrid>
              <a:tr h="146304">
                <a:tc>
                  <a:txBody>
                    <a:bodyPr/>
                    <a:lstStyle/>
                    <a:p>
                      <a:pPr algn="l"/>
                      <a:r>
                        <a:rPr sz="1150" b="1">
                          <a:solidFill>
                            <a:srgbClr val="FFFFFF"/>
                          </a:solidFill>
                          <a:latin typeface="Calibri"/>
                        </a:rPr>
                        <a:t>Computer Networks Concept</a:t>
                      </a:r>
                    </a:p>
                  </a:txBody>
                  <a:tcPr anchor="ctr" marL="54864" marR="54864" marT="27432" marB="27432">
                    <a:solidFill>
                      <a:srgbClr val="0B1F3A"/>
                    </a:solidFill>
                  </a:tcPr>
                </a:tc>
                <a:tc>
                  <a:txBody>
                    <a:bodyPr/>
                    <a:lstStyle/>
                    <a:p>
                      <a:pPr algn="l"/>
                      <a:r>
                        <a:rPr sz="1150" b="1">
                          <a:solidFill>
                            <a:srgbClr val="FFFFFF"/>
                          </a:solidFill>
                          <a:latin typeface="Calibri"/>
                        </a:rPr>
                        <a:t>Project Implementation &amp; Significance (Report Table 1.1)</a:t>
                      </a:r>
                    </a:p>
                  </a:txBody>
                  <a:tcPr anchor="ctr" marL="54864" marR="54864" marT="27432" marB="27432">
                    <a:solidFill>
                      <a:srgbClr val="0B1F3A"/>
                    </a:solidFill>
                  </a:tcPr>
                </a:tc>
              </a:tr>
              <a:tr h="146304">
                <a:tc>
                  <a:txBody>
                    <a:bodyPr/>
                    <a:lstStyle/>
                    <a:p>
                      <a:pPr algn="l"/>
                      <a:r>
                        <a:rPr sz="1050" b="1">
                          <a:solidFill>
                            <a:srgbClr val="1F2937"/>
                          </a:solidFill>
                          <a:latin typeface="Calibri"/>
                        </a:rPr>
                        <a:t>Transport Layer: TCP Lifecycle &amp; Byte-Stream [3]</a:t>
                      </a:r>
                    </a:p>
                  </a:txBody>
                  <a:tcPr anchor="ctr" marL="54864" marR="54864" marT="27432" marB="27432">
                    <a:solidFill>
                      <a:srgbClr val="F3F6F9"/>
                    </a:solidFill>
                  </a:tcPr>
                </a:tc>
                <a:tc>
                  <a:txBody>
                    <a:bodyPr/>
                    <a:lstStyle/>
                    <a:p>
                      <a:pPr algn="l"/>
                      <a:r>
                        <a:rPr sz="1050" b="0">
                          <a:solidFill>
                            <a:srgbClr val="1F2937"/>
                          </a:solidFill>
                          <a:latin typeface="Calibri"/>
                        </a:rPr>
                        <a:t>src/tcp_socket.c: listen(128), non-blocking accept4, poll deadlines, partial recv/send loops, shutdown(SHUT_WR) lingering close</a:t>
                      </a:r>
                    </a:p>
                  </a:txBody>
                  <a:tcPr anchor="ctr" marL="54864" marR="54864" marT="27432" marB="27432">
                    <a:solidFill>
                      <a:srgbClr val="F3F6F9"/>
                    </a:solidFill>
                  </a:tcPr>
                </a:tc>
              </a:tr>
              <a:tr h="146304">
                <a:tc>
                  <a:txBody>
                    <a:bodyPr/>
                    <a:lstStyle/>
                    <a:p>
                      <a:pPr algn="l"/>
                      <a:r>
                        <a:rPr sz="1050" b="1">
                          <a:solidFill>
                            <a:srgbClr val="1F2937"/>
                          </a:solidFill>
                          <a:latin typeface="Calibri"/>
                        </a:rPr>
                        <a:t>Application Layer: HTTP/1.1 Framing &amp; Status [1,2]</a:t>
                      </a:r>
                    </a:p>
                  </a:txBody>
                  <a:tcPr anchor="ctr" marL="54864" marR="54864" marT="27432" marB="27432">
                    <a:solidFill>
                      <a:srgbClr val="FFFFFF"/>
                    </a:solidFill>
                  </a:tcPr>
                </a:tc>
                <a:tc>
                  <a:txBody>
                    <a:bodyPr/>
                    <a:lstStyle/>
                    <a:p>
                      <a:pPr algn="l"/>
                      <a:r>
                        <a:rPr sz="1050" b="0">
                          <a:solidFill>
                            <a:srgbClr val="1F2937"/>
                          </a:solidFill>
                          <a:latin typeface="Calibri"/>
                        </a:rPr>
                        <a:t>src/http_parser.c, http_response.c: Content-Length framing, keep-alive persistence, deterministic 400/405/411/413/414/417/431/501/505</a:t>
                      </a:r>
                    </a:p>
                  </a:txBody>
                  <a:tcPr anchor="ctr" marL="54864" marR="54864" marT="27432" marB="27432">
                    <a:solidFill>
                      <a:srgbClr val="FFFFFF"/>
                    </a:solidFill>
                  </a:tcPr>
                </a:tc>
              </a:tr>
              <a:tr h="146304">
                <a:tc>
                  <a:txBody>
                    <a:bodyPr/>
                    <a:lstStyle/>
                    <a:p>
                      <a:pPr algn="l"/>
                      <a:r>
                        <a:rPr sz="1050" b="1">
                          <a:solidFill>
                            <a:srgbClr val="1F2937"/>
                          </a:solidFill>
                          <a:latin typeface="Calibri"/>
                        </a:rPr>
                        <a:t>Client–Server Concurrency &amp; Bounded Buffering</a:t>
                      </a:r>
                    </a:p>
                  </a:txBody>
                  <a:tcPr anchor="ctr" marL="54864" marR="54864" marT="27432" marB="27432">
                    <a:solidFill>
                      <a:srgbClr val="F3F6F9"/>
                    </a:solidFill>
                  </a:tcPr>
                </a:tc>
                <a:tc>
                  <a:txBody>
                    <a:bodyPr/>
                    <a:lstStyle/>
                    <a:p>
                      <a:pPr algn="l"/>
                      <a:r>
                        <a:rPr sz="1050" b="0">
                          <a:solidFill>
                            <a:srgbClr val="1F2937"/>
                          </a:solidFill>
                          <a:latin typeface="Calibri"/>
                        </a:rPr>
                        <a:t>src/thread_pool.c, connection_queue.c: 1 listener, 64-slot circular FIFO queue, 4 pre-spawned pthreads, exclusive socket ownership</a:t>
                      </a:r>
                    </a:p>
                  </a:txBody>
                  <a:tcPr anchor="ctr" marL="54864" marR="54864" marT="27432" marB="27432">
                    <a:solidFill>
                      <a:srgbClr val="F3F6F9"/>
                    </a:solidFill>
                  </a:tcPr>
                </a:tc>
              </a:tr>
              <a:tr h="146304">
                <a:tc>
                  <a:txBody>
                    <a:bodyPr/>
                    <a:lstStyle/>
                    <a:p>
                      <a:pPr algn="l"/>
                      <a:r>
                        <a:rPr sz="1050" b="1">
                          <a:solidFill>
                            <a:srgbClr val="1F2937"/>
                          </a:solidFill>
                          <a:latin typeface="Calibri"/>
                        </a:rPr>
                        <a:t>Queueing Delay, Bufferbloat &amp; Overload Control [8,9,11]</a:t>
                      </a:r>
                    </a:p>
                  </a:txBody>
                  <a:tcPr anchor="ctr" marL="54864" marR="54864" marT="27432" marB="27432">
                    <a:solidFill>
                      <a:srgbClr val="FFFFFF"/>
                    </a:solidFill>
                  </a:tcPr>
                </a:tc>
                <a:tc>
                  <a:txBody>
                    <a:bodyPr/>
                    <a:lstStyle/>
                    <a:p>
                      <a:pPr algn="l"/>
                      <a:r>
                        <a:rPr sz="1050" b="0">
                          <a:solidFill>
                            <a:srgbClr val="1F2937"/>
                          </a:solidFill>
                          <a:latin typeface="Calibri"/>
                        </a:rPr>
                        <a:t>src/adaptive_controller.c, server.c: enqueue-to-dequeue wait telemetry, CAUTION fair sharing (≤16 reqs), OVERLOAD 503 + Retry-After: 5</a:t>
                      </a:r>
                    </a:p>
                  </a:txBody>
                  <a:tcPr anchor="ctr" marL="54864" marR="54864" marT="27432" marB="27432">
                    <a:solidFill>
                      <a:srgbClr val="FFFFFF"/>
                    </a:solidFill>
                  </a:tcPr>
                </a:tc>
              </a:tr>
              <a:tr h="146304">
                <a:tc>
                  <a:txBody>
                    <a:bodyPr/>
                    <a:lstStyle/>
                    <a:p>
                      <a:pPr algn="l"/>
                      <a:r>
                        <a:rPr sz="1050" b="1">
                          <a:solidFill>
                            <a:srgbClr val="1F2937"/>
                          </a:solidFill>
                          <a:latin typeface="Calibri"/>
                        </a:rPr>
                        <a:t>Network Performance Measurement &amp; Accounting</a:t>
                      </a:r>
                    </a:p>
                  </a:txBody>
                  <a:tcPr anchor="ctr" marL="54864" marR="54864" marT="27432" marB="27432">
                    <a:solidFill>
                      <a:srgbClr val="F3F6F9"/>
                    </a:solidFill>
                  </a:tcPr>
                </a:tc>
                <a:tc>
                  <a:txBody>
                    <a:bodyPr/>
                    <a:lstStyle/>
                    <a:p>
                      <a:pPr algn="l"/>
                      <a:r>
                        <a:rPr sz="1050" b="0">
                          <a:solidFill>
                            <a:srgbClr val="1F2937"/>
                          </a:solidFill>
                          <a:latin typeface="Calibri"/>
                        </a:rPr>
                        <a:t>benchmark/run_experiment.py, run_reproducible_evaluation.py: strict 2xx RPS, per-trial p50/p95/p99, 503 rate, and client backoff</a:t>
                      </a:r>
                    </a:p>
                  </a:txBody>
                  <a:tcPr anchor="ctr" marL="54864" marR="54864" marT="27432" marB="27432">
                    <a:solidFill>
                      <a:srgbClr val="F3F6F9"/>
                    </a:solidFill>
                  </a:tcPr>
                </a:tc>
              </a:tr>
              <a:tr h="146304">
                <a:tc>
                  <a:txBody>
                    <a:bodyPr/>
                    <a:lstStyle/>
                    <a:p>
                      <a:pPr algn="l"/>
                      <a:r>
                        <a:rPr sz="1050" b="1">
                          <a:solidFill>
                            <a:srgbClr val="1F2937"/>
                          </a:solidFill>
                          <a:latin typeface="Calibri"/>
                        </a:rPr>
                        <a:t>Network Application Security (Path Sandbox)</a:t>
                      </a:r>
                    </a:p>
                  </a:txBody>
                  <a:tcPr anchor="ctr" marL="54864" marR="54864" marT="27432" marB="27432">
                    <a:solidFill>
                      <a:srgbClr val="FFFFFF"/>
                    </a:solidFill>
                  </a:tcPr>
                </a:tc>
                <a:tc>
                  <a:txBody>
                    <a:bodyPr/>
                    <a:lstStyle/>
                    <a:p>
                      <a:pPr algn="l"/>
                      <a:r>
                        <a:rPr sz="1050" b="0">
                          <a:solidFill>
                            <a:srgbClr val="1F2937"/>
                          </a:solidFill>
                          <a:latin typeface="Calibri"/>
                        </a:rPr>
                        <a:t>src/static_files.c: segment-aware '..' check, %00/backslash reject, realpath() root containment, O_NOFOLLOW + fstat inode match</a:t>
                      </a:r>
                    </a:p>
                  </a:txBody>
                  <a:tcPr anchor="ctr" marL="54864" marR="54864" marT="27432" marB="27432">
                    <a:solidFill>
                      <a:srgbClr val="FFFFFF"/>
                    </a:solidFill>
                  </a:tcPr>
                </a:tc>
              </a:tr>
            </a:tbl>
          </a:graphicData>
        </a:graphic>
      </p:graphicFrame>
      <p:sp>
        <p:nvSpPr>
          <p:cNvPr id="9" name="TextBox 8"/>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1.2–1.5 &amp; Table 1.1 (pp. 6–9)</a:t>
            </a:r>
          </a:p>
        </p:txBody>
      </p:sp>
      <p:sp>
        <p:nvSpPr>
          <p:cNvPr id="10" name="TextBox 9"/>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2 · PROBLEM AND MOTIVATION</a:t>
            </a:r>
          </a:p>
          <a:p>
            <a:pPr algn="l">
              <a:spcAft>
                <a:spcPts val="300"/>
              </a:spcAft>
            </a:pPr>
            <a:r>
              <a:rPr sz="2700" b="1">
                <a:solidFill>
                  <a:srgbClr val="0B1F3A"/>
                </a:solidFill>
                <a:latin typeface="Cambria"/>
              </a:rPr>
              <a:t>Literature Context: Standards, Concurrency &amp; Delay Control</a:t>
            </a:r>
          </a:p>
          <a:p>
            <a:pPr algn="l"/>
            <a:r>
              <a:rPr sz="1500" b="0">
                <a:solidFill>
                  <a:srgbClr val="5B6676"/>
                </a:solidFill>
                <a:latin typeface="Calibri"/>
              </a:rPr>
              <a:t>Establishing the motivation and gap from normative IETF RFCs, server architectures, and queue-delay management (Table 2.1)</a:t>
            </a:r>
          </a:p>
        </p:txBody>
      </p:sp>
      <p:graphicFrame>
        <p:nvGraphicFramePr>
          <p:cNvPr id="4" name="Table 3"/>
          <p:cNvGraphicFramePr>
            <a:graphicFrameLocks noGrp="1"/>
          </p:cNvGraphicFramePr>
          <p:nvPr/>
        </p:nvGraphicFramePr>
        <p:xfrm>
          <a:off x="594360" y="2011680"/>
          <a:ext cx="11000232" cy="1024128"/>
        </p:xfrm>
        <a:graphic>
          <a:graphicData uri="http://schemas.openxmlformats.org/drawingml/2006/table">
            <a:tbl>
              <a:tblPr firstRow="1" bandRow="1">
                <a:tableStyleId>{5C22544A-7EE6-4342-B048-85BDC9FD1C3A}</a:tableStyleId>
              </a:tblPr>
              <a:tblGrid>
                <a:gridCol w="685800"/>
                <a:gridCol w="2148840"/>
                <a:gridCol w="2331720"/>
                <a:gridCol w="2697480"/>
                <a:gridCol w="3136392"/>
              </a:tblGrid>
              <a:tr h="146304">
                <a:tc>
                  <a:txBody>
                    <a:bodyPr/>
                    <a:lstStyle/>
                    <a:p>
                      <a:pPr algn="l"/>
                      <a:r>
                        <a:rPr sz="1200" b="1">
                          <a:solidFill>
                            <a:srgbClr val="FFFFFF"/>
                          </a:solidFill>
                          <a:latin typeface="Calibri"/>
                        </a:rPr>
                        <a:t>Ref</a:t>
                      </a:r>
                    </a:p>
                  </a:txBody>
                  <a:tcPr anchor="ctr" marL="54864" marR="54864" marT="27432" marB="27432">
                    <a:solidFill>
                      <a:srgbClr val="0B1F3A"/>
                    </a:solidFill>
                  </a:tcPr>
                </a:tc>
                <a:tc>
                  <a:txBody>
                    <a:bodyPr/>
                    <a:lstStyle/>
                    <a:p>
                      <a:pPr algn="l"/>
                      <a:r>
                        <a:rPr sz="1200" b="1">
                          <a:solidFill>
                            <a:srgbClr val="FFFFFF"/>
                          </a:solidFill>
                          <a:latin typeface="Calibri"/>
                        </a:rPr>
                        <a:t>Authors &amp; Year</a:t>
                      </a:r>
                    </a:p>
                  </a:txBody>
                  <a:tcPr anchor="ctr" marL="54864" marR="54864" marT="27432" marB="27432">
                    <a:solidFill>
                      <a:srgbClr val="0B1F3A"/>
                    </a:solidFill>
                  </a:tcPr>
                </a:tc>
                <a:tc>
                  <a:txBody>
                    <a:bodyPr/>
                    <a:lstStyle/>
                    <a:p>
                      <a:pPr algn="l"/>
                      <a:r>
                        <a:rPr sz="1200" b="1">
                          <a:solidFill>
                            <a:srgbClr val="FFFFFF"/>
                          </a:solidFill>
                          <a:latin typeface="Calibri"/>
                        </a:rPr>
                        <a:t>Standard / Technique</a:t>
                      </a:r>
                    </a:p>
                  </a:txBody>
                  <a:tcPr anchor="ctr" marL="54864" marR="54864" marT="27432" marB="27432">
                    <a:solidFill>
                      <a:srgbClr val="0B1F3A"/>
                    </a:solidFill>
                  </a:tcPr>
                </a:tc>
                <a:tc>
                  <a:txBody>
                    <a:bodyPr/>
                    <a:lstStyle/>
                    <a:p>
                      <a:pPr algn="l"/>
                      <a:r>
                        <a:rPr sz="1200" b="1">
                          <a:solidFill>
                            <a:srgbClr val="FFFFFF"/>
                          </a:solidFill>
                          <a:latin typeface="Calibri"/>
                        </a:rPr>
                        <a:t>Key Principle Used</a:t>
                      </a:r>
                    </a:p>
                  </a:txBody>
                  <a:tcPr anchor="ctr" marL="54864" marR="54864" marT="27432" marB="27432">
                    <a:solidFill>
                      <a:srgbClr val="0B1F3A"/>
                    </a:solidFill>
                  </a:tcPr>
                </a:tc>
                <a:tc>
                  <a:txBody>
                    <a:bodyPr/>
                    <a:lstStyle/>
                    <a:p>
                      <a:pPr algn="l"/>
                      <a:r>
                        <a:rPr sz="1200" b="1">
                          <a:solidFill>
                            <a:srgbClr val="FFFFFF"/>
                          </a:solidFill>
                          <a:latin typeface="Calibri"/>
                        </a:rPr>
                        <a:t>Gap Addressed in Our Project</a:t>
                      </a:r>
                    </a:p>
                  </a:txBody>
                  <a:tcPr anchor="ctr" marL="54864" marR="54864" marT="27432" marB="27432">
                    <a:solidFill>
                      <a:srgbClr val="0B1F3A"/>
                    </a:solidFill>
                  </a:tcPr>
                </a:tc>
              </a:tr>
              <a:tr h="146304">
                <a:tc>
                  <a:txBody>
                    <a:bodyPr/>
                    <a:lstStyle/>
                    <a:p>
                      <a:pPr algn="l"/>
                      <a:r>
                        <a:rPr sz="1100" b="1">
                          <a:solidFill>
                            <a:srgbClr val="1F2937"/>
                          </a:solidFill>
                          <a:latin typeface="Calibri"/>
                        </a:rPr>
                        <a:t>[1,2]</a:t>
                      </a:r>
                    </a:p>
                  </a:txBody>
                  <a:tcPr anchor="ctr" marL="54864" marR="54864" marT="27432" marB="27432">
                    <a:solidFill>
                      <a:srgbClr val="F3F6F9"/>
                    </a:solidFill>
                  </a:tcPr>
                </a:tc>
                <a:tc>
                  <a:txBody>
                    <a:bodyPr/>
                    <a:lstStyle/>
                    <a:p>
                      <a:pPr algn="l"/>
                      <a:r>
                        <a:rPr sz="1100" b="0">
                          <a:solidFill>
                            <a:srgbClr val="1F2937"/>
                          </a:solidFill>
                          <a:latin typeface="Calibri"/>
                        </a:rPr>
                        <a:t>Fielding, Nottingham, Reschke (IETF 2022)</a:t>
                      </a:r>
                    </a:p>
                  </a:txBody>
                  <a:tcPr anchor="ctr" marL="54864" marR="54864" marT="27432" marB="27432">
                    <a:solidFill>
                      <a:srgbClr val="F3F6F9"/>
                    </a:solidFill>
                  </a:tcPr>
                </a:tc>
                <a:tc>
                  <a:txBody>
                    <a:bodyPr/>
                    <a:lstStyle/>
                    <a:p>
                      <a:pPr algn="l"/>
                      <a:r>
                        <a:rPr sz="1100" b="0">
                          <a:solidFill>
                            <a:srgbClr val="1F2937"/>
                          </a:solidFill>
                          <a:latin typeface="Calibri"/>
                        </a:rPr>
                        <a:t>RFC 9112 (HTTP/1.1) &amp; RFC 9110 (HTTP Semantics)</a:t>
                      </a:r>
                    </a:p>
                  </a:txBody>
                  <a:tcPr anchor="ctr" marL="54864" marR="54864" marT="27432" marB="27432">
                    <a:solidFill>
                      <a:srgbClr val="F3F6F9"/>
                    </a:solidFill>
                  </a:tcPr>
                </a:tc>
                <a:tc>
                  <a:txBody>
                    <a:bodyPr/>
                    <a:lstStyle/>
                    <a:p>
                      <a:pPr algn="l"/>
                      <a:r>
                        <a:rPr sz="1100" b="0">
                          <a:solidFill>
                            <a:srgbClr val="1F2937"/>
                          </a:solidFill>
                          <a:latin typeface="Calibri"/>
                        </a:rPr>
                        <a:t>Normative Content-Length framing, persistent connections, 503 &amp; Retry-After</a:t>
                      </a:r>
                    </a:p>
                  </a:txBody>
                  <a:tcPr anchor="ctr" marL="54864" marR="54864" marT="27432" marB="27432">
                    <a:solidFill>
                      <a:srgbClr val="F3F6F9"/>
                    </a:solidFill>
                  </a:tcPr>
                </a:tc>
                <a:tc>
                  <a:txBody>
                    <a:bodyPr/>
                    <a:lstStyle/>
                    <a:p>
                      <a:pPr algn="l"/>
                      <a:r>
                        <a:rPr sz="1100" b="0">
                          <a:solidFill>
                            <a:srgbClr val="1F2937"/>
                          </a:solidFill>
                          <a:latin typeface="Calibri"/>
                        </a:rPr>
                        <a:t>Defines 503/Retry-After syntax but prescribes no server overload admission policy</a:t>
                      </a:r>
                    </a:p>
                  </a:txBody>
                  <a:tcPr anchor="ctr" marL="54864" marR="54864" marT="27432" marB="27432">
                    <a:solidFill>
                      <a:srgbClr val="F3F6F9"/>
                    </a:solidFill>
                  </a:tcPr>
                </a:tc>
              </a:tr>
              <a:tr h="146304">
                <a:tc>
                  <a:txBody>
                    <a:bodyPr/>
                    <a:lstStyle/>
                    <a:p>
                      <a:pPr algn="l"/>
                      <a:r>
                        <a:rPr sz="1100" b="1">
                          <a:solidFill>
                            <a:srgbClr val="1F2937"/>
                          </a:solidFill>
                          <a:latin typeface="Calibri"/>
                        </a:rPr>
                        <a:t>[3]</a:t>
                      </a:r>
                    </a:p>
                  </a:txBody>
                  <a:tcPr anchor="ctr" marL="54864" marR="54864" marT="27432" marB="27432">
                    <a:solidFill>
                      <a:srgbClr val="FFFFFF"/>
                    </a:solidFill>
                  </a:tcPr>
                </a:tc>
                <a:tc>
                  <a:txBody>
                    <a:bodyPr/>
                    <a:lstStyle/>
                    <a:p>
                      <a:pPr algn="l"/>
                      <a:r>
                        <a:rPr sz="1100" b="0">
                          <a:solidFill>
                            <a:srgbClr val="1F2937"/>
                          </a:solidFill>
                          <a:latin typeface="Calibri"/>
                        </a:rPr>
                        <a:t>Eddy, Ed. (IETF 2022)</a:t>
                      </a:r>
                    </a:p>
                  </a:txBody>
                  <a:tcPr anchor="ctr" marL="54864" marR="54864" marT="27432" marB="27432">
                    <a:solidFill>
                      <a:srgbClr val="FFFFFF"/>
                    </a:solidFill>
                  </a:tcPr>
                </a:tc>
                <a:tc>
                  <a:txBody>
                    <a:bodyPr/>
                    <a:lstStyle/>
                    <a:p>
                      <a:pPr algn="l"/>
                      <a:r>
                        <a:rPr sz="1100" b="0">
                          <a:solidFill>
                            <a:srgbClr val="1F2937"/>
                          </a:solidFill>
                          <a:latin typeface="Calibri"/>
                        </a:rPr>
                        <a:t>RFC 9293 (Transmission Control Protocol)</a:t>
                      </a:r>
                    </a:p>
                  </a:txBody>
                  <a:tcPr anchor="ctr" marL="54864" marR="54864" marT="27432" marB="27432">
                    <a:solidFill>
                      <a:srgbClr val="FFFFFF"/>
                    </a:solidFill>
                  </a:tcPr>
                </a:tc>
                <a:tc>
                  <a:txBody>
                    <a:bodyPr/>
                    <a:lstStyle/>
                    <a:p>
                      <a:pPr algn="l"/>
                      <a:r>
                        <a:rPr sz="1100" b="0">
                          <a:solidFill>
                            <a:srgbClr val="1F2937"/>
                          </a:solidFill>
                          <a:latin typeface="Calibri"/>
                        </a:rPr>
                        <a:t>Unstructured byte-stream delivery, listen backlog, half-close FIN vs RST</a:t>
                      </a:r>
                    </a:p>
                  </a:txBody>
                  <a:tcPr anchor="ctr" marL="54864" marR="54864" marT="27432" marB="27432">
                    <a:solidFill>
                      <a:srgbClr val="FFFFFF"/>
                    </a:solidFill>
                  </a:tcPr>
                </a:tc>
                <a:tc>
                  <a:txBody>
                    <a:bodyPr/>
                    <a:lstStyle/>
                    <a:p>
                      <a:pPr algn="l"/>
                      <a:r>
                        <a:rPr sz="1100" b="0">
                          <a:solidFill>
                            <a:srgbClr val="1F2937"/>
                          </a:solidFill>
                          <a:latin typeface="Calibri"/>
                        </a:rPr>
                        <a:t>Requires application-level buffering, partial-I/O loops, and lingering close</a:t>
                      </a:r>
                    </a:p>
                  </a:txBody>
                  <a:tcPr anchor="ctr" marL="54864" marR="54864" marT="27432" marB="27432">
                    <a:solidFill>
                      <a:srgbClr val="FFFFFF"/>
                    </a:solidFill>
                  </a:tcPr>
                </a:tc>
              </a:tr>
              <a:tr h="146304">
                <a:tc>
                  <a:txBody>
                    <a:bodyPr/>
                    <a:lstStyle/>
                    <a:p>
                      <a:pPr algn="l"/>
                      <a:r>
                        <a:rPr sz="1100" b="1">
                          <a:solidFill>
                            <a:srgbClr val="1F2937"/>
                          </a:solidFill>
                          <a:latin typeface="Calibri"/>
                        </a:rPr>
                        <a:t>[4,5]</a:t>
                      </a:r>
                    </a:p>
                  </a:txBody>
                  <a:tcPr anchor="ctr" marL="54864" marR="54864" marT="27432" marB="27432">
                    <a:solidFill>
                      <a:srgbClr val="F3F6F9"/>
                    </a:solidFill>
                  </a:tcPr>
                </a:tc>
                <a:tc>
                  <a:txBody>
                    <a:bodyPr/>
                    <a:lstStyle/>
                    <a:p>
                      <a:pPr algn="l"/>
                      <a:r>
                        <a:rPr sz="1100" b="0">
                          <a:solidFill>
                            <a:srgbClr val="1F2937"/>
                          </a:solidFill>
                          <a:latin typeface="Calibri"/>
                        </a:rPr>
                        <a:t>Welsh, Culler &amp; Brewer (SOSP 2001; USITS 2003)</a:t>
                      </a:r>
                    </a:p>
                  </a:txBody>
                  <a:tcPr anchor="ctr" marL="54864" marR="54864" marT="27432" marB="27432">
                    <a:solidFill>
                      <a:srgbClr val="F3F6F9"/>
                    </a:solidFill>
                  </a:tcPr>
                </a:tc>
                <a:tc>
                  <a:txBody>
                    <a:bodyPr/>
                    <a:lstStyle/>
                    <a:p>
                      <a:pPr algn="l"/>
                      <a:r>
                        <a:rPr sz="1100" b="0">
                          <a:solidFill>
                            <a:srgbClr val="1F2937"/>
                          </a:solidFill>
                          <a:latin typeface="Calibri"/>
                        </a:rPr>
                        <a:t>SEDA Staged Event-Driven Architecture &amp; Stage Control</a:t>
                      </a:r>
                    </a:p>
                  </a:txBody>
                  <a:tcPr anchor="ctr" marL="54864" marR="54864" marT="27432" marB="27432">
                    <a:solidFill>
                      <a:srgbClr val="F3F6F9"/>
                    </a:solidFill>
                  </a:tcPr>
                </a:tc>
                <a:tc>
                  <a:txBody>
                    <a:bodyPr/>
                    <a:lstStyle/>
                    <a:p>
                      <a:pPr algn="l"/>
                      <a:r>
                        <a:rPr sz="1100" b="0">
                          <a:solidFill>
                            <a:srgbClr val="1F2937"/>
                          </a:solidFill>
                          <a:latin typeface="Calibri"/>
                        </a:rPr>
                        <a:t>Explicit bounded queues and 90th-percentile latency feedback shedding</a:t>
                      </a:r>
                    </a:p>
                  </a:txBody>
                  <a:tcPr anchor="ctr" marL="54864" marR="54864" marT="27432" marB="27432">
                    <a:solidFill>
                      <a:srgbClr val="F3F6F9"/>
                    </a:solidFill>
                  </a:tcPr>
                </a:tc>
                <a:tc>
                  <a:txBody>
                    <a:bodyPr/>
                    <a:lstStyle/>
                    <a:p>
                      <a:pPr algn="l"/>
                      <a:r>
                        <a:rPr sz="1100" b="0">
                          <a:solidFill>
                            <a:srgbClr val="1F2937"/>
                          </a:solidFill>
                          <a:latin typeface="Calibri"/>
                        </a:rPr>
                        <a:t>Coupled to multi-stage event pipelines rather than a flat POSIX thread pool with keep-alive rotation</a:t>
                      </a:r>
                    </a:p>
                  </a:txBody>
                  <a:tcPr anchor="ctr" marL="54864" marR="54864" marT="27432" marB="27432">
                    <a:solidFill>
                      <a:srgbClr val="F3F6F9"/>
                    </a:solidFill>
                  </a:tcPr>
                </a:tc>
              </a:tr>
              <a:tr h="146304">
                <a:tc>
                  <a:txBody>
                    <a:bodyPr/>
                    <a:lstStyle/>
                    <a:p>
                      <a:pPr algn="l"/>
                      <a:r>
                        <a:rPr sz="1100" b="1">
                          <a:solidFill>
                            <a:srgbClr val="1F2937"/>
                          </a:solidFill>
                          <a:latin typeface="Calibri"/>
                        </a:rPr>
                        <a:t>[6]</a:t>
                      </a:r>
                    </a:p>
                  </a:txBody>
                  <a:tcPr anchor="ctr" marL="54864" marR="54864" marT="27432" marB="27432">
                    <a:solidFill>
                      <a:srgbClr val="FFFFFF"/>
                    </a:solidFill>
                  </a:tcPr>
                </a:tc>
                <a:tc>
                  <a:txBody>
                    <a:bodyPr/>
                    <a:lstStyle/>
                    <a:p>
                      <a:pPr algn="l"/>
                      <a:r>
                        <a:rPr sz="1100" b="0">
                          <a:solidFill>
                            <a:srgbClr val="1F2937"/>
                          </a:solidFill>
                          <a:latin typeface="Calibri"/>
                        </a:rPr>
                        <a:t>Schroeder &amp; Harchol-Balter (ACM TOIT 2006)</a:t>
                      </a:r>
                    </a:p>
                  </a:txBody>
                  <a:tcPr anchor="ctr" marL="54864" marR="54864" marT="27432" marB="27432">
                    <a:solidFill>
                      <a:srgbClr val="FFFFFF"/>
                    </a:solidFill>
                  </a:tcPr>
                </a:tc>
                <a:tc>
                  <a:txBody>
                    <a:bodyPr/>
                    <a:lstStyle/>
                    <a:p>
                      <a:pPr algn="l"/>
                      <a:r>
                        <a:rPr sz="1100" b="0">
                          <a:solidFill>
                            <a:srgbClr val="1F2937"/>
                          </a:solidFill>
                          <a:latin typeface="Calibri"/>
                        </a:rPr>
                        <a:t>SRPT Connection Scheduling Under Overload</a:t>
                      </a:r>
                    </a:p>
                  </a:txBody>
                  <a:tcPr anchor="ctr" marL="54864" marR="54864" marT="27432" marB="27432">
                    <a:solidFill>
                      <a:srgbClr val="FFFFFF"/>
                    </a:solidFill>
                  </a:tcPr>
                </a:tc>
                <a:tc>
                  <a:txBody>
                    <a:bodyPr/>
                    <a:lstStyle/>
                    <a:p>
                      <a:pPr algn="l"/>
                      <a:r>
                        <a:rPr sz="1100" b="0">
                          <a:solidFill>
                            <a:srgbClr val="1F2937"/>
                          </a:solidFill>
                          <a:latin typeface="Calibri"/>
                        </a:rPr>
                        <a:t>Size-based scheduling reduces mean response time during overload</a:t>
                      </a:r>
                    </a:p>
                  </a:txBody>
                  <a:tcPr anchor="ctr" marL="54864" marR="54864" marT="27432" marB="27432">
                    <a:solidFill>
                      <a:srgbClr val="FFFFFF"/>
                    </a:solidFill>
                  </a:tcPr>
                </a:tc>
                <a:tc>
                  <a:txBody>
                    <a:bodyPr/>
                    <a:lstStyle/>
                    <a:p>
                      <a:pPr algn="l"/>
                      <a:r>
                        <a:rPr sz="1100" b="0">
                          <a:solidFill>
                            <a:srgbClr val="1F2937"/>
                          </a:solidFill>
                          <a:latin typeface="Calibri"/>
                        </a:rPr>
                        <a:t>Requires known static file sizes; does not bound queue depth or shed excess arrivals</a:t>
                      </a:r>
                    </a:p>
                  </a:txBody>
                  <a:tcPr anchor="ctr" marL="54864" marR="54864" marT="27432" marB="27432">
                    <a:solidFill>
                      <a:srgbClr val="FFFFFF"/>
                    </a:solidFill>
                  </a:tcPr>
                </a:tc>
              </a:tr>
              <a:tr h="146304">
                <a:tc>
                  <a:txBody>
                    <a:bodyPr/>
                    <a:lstStyle/>
                    <a:p>
                      <a:pPr algn="l"/>
                      <a:r>
                        <a:rPr sz="1100" b="1">
                          <a:solidFill>
                            <a:srgbClr val="1F2937"/>
                          </a:solidFill>
                          <a:latin typeface="Calibri"/>
                        </a:rPr>
                        <a:t>[7]</a:t>
                      </a:r>
                    </a:p>
                  </a:txBody>
                  <a:tcPr anchor="ctr" marL="54864" marR="54864" marT="27432" marB="27432">
                    <a:solidFill>
                      <a:srgbClr val="F3F6F9"/>
                    </a:solidFill>
                  </a:tcPr>
                </a:tc>
                <a:tc>
                  <a:txBody>
                    <a:bodyPr/>
                    <a:lstStyle/>
                    <a:p>
                      <a:pPr algn="l"/>
                      <a:r>
                        <a:rPr sz="1100" b="0">
                          <a:solidFill>
                            <a:srgbClr val="1F2937"/>
                          </a:solidFill>
                          <a:latin typeface="Calibri"/>
                        </a:rPr>
                        <a:t>Pariag et al. (ACM EuroSys 2007)</a:t>
                      </a:r>
                    </a:p>
                  </a:txBody>
                  <a:tcPr anchor="ctr" marL="54864" marR="54864" marT="27432" marB="27432">
                    <a:solidFill>
                      <a:srgbClr val="F3F6F9"/>
                    </a:solidFill>
                  </a:tcPr>
                </a:tc>
                <a:tc>
                  <a:txBody>
                    <a:bodyPr/>
                    <a:lstStyle/>
                    <a:p>
                      <a:pPr algn="l"/>
                      <a:r>
                        <a:rPr sz="1100" b="0">
                          <a:solidFill>
                            <a:srgbClr val="1F2937"/>
                          </a:solidFill>
                          <a:latin typeface="Calibri"/>
                        </a:rPr>
                        <a:t>Comparison of Thread-per-Conn, Event &amp; Hybrid Servers</a:t>
                      </a:r>
                    </a:p>
                  </a:txBody>
                  <a:tcPr anchor="ctr" marL="54864" marR="54864" marT="27432" marB="27432">
                    <a:solidFill>
                      <a:srgbClr val="F3F6F9"/>
                    </a:solidFill>
                  </a:tcPr>
                </a:tc>
                <a:tc>
                  <a:txBody>
                    <a:bodyPr/>
                    <a:lstStyle/>
                    <a:p>
                      <a:pPr algn="l"/>
                      <a:r>
                        <a:rPr sz="1100" b="0">
                          <a:solidFill>
                            <a:srgbClr val="1F2937"/>
                          </a:solidFill>
                          <a:latin typeface="Calibri"/>
                        </a:rPr>
                        <a:t>Shows concurrency tuning matters as much as server architecture</a:t>
                      </a:r>
                    </a:p>
                  </a:txBody>
                  <a:tcPr anchor="ctr" marL="54864" marR="54864" marT="27432" marB="27432">
                    <a:solidFill>
                      <a:srgbClr val="F3F6F9"/>
                    </a:solidFill>
                  </a:tcPr>
                </a:tc>
                <a:tc>
                  <a:txBody>
                    <a:bodyPr/>
                    <a:lstStyle/>
                    <a:p>
                      <a:pPr algn="l"/>
                      <a:r>
                        <a:rPr sz="1100" b="0">
                          <a:solidFill>
                            <a:srgbClr val="1F2937"/>
                          </a:solidFill>
                          <a:latin typeface="Calibri"/>
                        </a:rPr>
                        <a:t>Evaluates peak capacity tuning; does not study 503 admission control or Retry-After clients</a:t>
                      </a:r>
                    </a:p>
                  </a:txBody>
                  <a:tcPr anchor="ctr" marL="54864" marR="54864" marT="27432" marB="27432">
                    <a:solidFill>
                      <a:srgbClr val="F3F6F9"/>
                    </a:solidFill>
                  </a:tcPr>
                </a:tc>
              </a:tr>
              <a:tr h="146304">
                <a:tc>
                  <a:txBody>
                    <a:bodyPr/>
                    <a:lstStyle/>
                    <a:p>
                      <a:pPr algn="l"/>
                      <a:r>
                        <a:rPr sz="1100" b="1">
                          <a:solidFill>
                            <a:srgbClr val="1F2937"/>
                          </a:solidFill>
                          <a:latin typeface="Calibri"/>
                        </a:rPr>
                        <a:t>[8,9]</a:t>
                      </a:r>
                    </a:p>
                  </a:txBody>
                  <a:tcPr anchor="ctr" marL="54864" marR="54864" marT="27432" marB="27432">
                    <a:solidFill>
                      <a:srgbClr val="FFFFFF"/>
                    </a:solidFill>
                  </a:tcPr>
                </a:tc>
                <a:tc>
                  <a:txBody>
                    <a:bodyPr/>
                    <a:lstStyle/>
                    <a:p>
                      <a:pPr algn="l"/>
                      <a:r>
                        <a:rPr sz="1100" b="0">
                          <a:solidFill>
                            <a:srgbClr val="1F2937"/>
                          </a:solidFill>
                          <a:latin typeface="Calibri"/>
                        </a:rPr>
                        <a:t>Nichols &amp; Jacobson (2012); Gettys (2011)</a:t>
                      </a:r>
                    </a:p>
                  </a:txBody>
                  <a:tcPr anchor="ctr" marL="54864" marR="54864" marT="27432" marB="27432">
                    <a:solidFill>
                      <a:srgbClr val="FFFFFF"/>
                    </a:solidFill>
                  </a:tcPr>
                </a:tc>
                <a:tc>
                  <a:txBody>
                    <a:bodyPr/>
                    <a:lstStyle/>
                    <a:p>
                      <a:pPr algn="l"/>
                      <a:r>
                        <a:rPr sz="1100" b="0">
                          <a:solidFill>
                            <a:srgbClr val="1F2937"/>
                          </a:solidFill>
                          <a:latin typeface="Calibri"/>
                        </a:rPr>
                        <a:t>CoDel Delay-Based AQM &amp; Bufferbloat Analysis</a:t>
                      </a:r>
                    </a:p>
                  </a:txBody>
                  <a:tcPr anchor="ctr" marL="54864" marR="54864" marT="27432" marB="27432">
                    <a:solidFill>
                      <a:srgbClr val="FFFFFF"/>
                    </a:solidFill>
                  </a:tcPr>
                </a:tc>
                <a:tc>
                  <a:txBody>
                    <a:bodyPr/>
                    <a:lstStyle/>
                    <a:p>
                      <a:pPr algn="l"/>
                      <a:r>
                        <a:rPr sz="1100" b="0">
                          <a:solidFill>
                            <a:srgbClr val="1F2937"/>
                          </a:solidFill>
                          <a:latin typeface="Calibri"/>
                        </a:rPr>
                        <a:t>Measures queueing sojourn time rather than raw queue length alone</a:t>
                      </a:r>
                    </a:p>
                  </a:txBody>
                  <a:tcPr anchor="ctr" marL="54864" marR="54864" marT="27432" marB="27432">
                    <a:solidFill>
                      <a:srgbClr val="FFFFFF"/>
                    </a:solidFill>
                  </a:tcPr>
                </a:tc>
                <a:tc>
                  <a:txBody>
                    <a:bodyPr/>
                    <a:lstStyle/>
                    <a:p>
                      <a:pPr algn="l"/>
                      <a:r>
                        <a:rPr sz="1100" b="0">
                          <a:solidFill>
                            <a:srgbClr val="1F2937"/>
                          </a:solidFill>
                          <a:latin typeface="Calibri"/>
                        </a:rPr>
                        <a:t>Targets network packet queues rather than HTTP/1.1 keep-alive connection queues</a:t>
                      </a:r>
                    </a:p>
                  </a:txBody>
                  <a:tcPr anchor="ctr" marL="54864" marR="54864" marT="27432" marB="27432">
                    <a:solidFill>
                      <a:srgbClr val="FFFFFF"/>
                    </a:solidFill>
                  </a:tcPr>
                </a:tc>
              </a:tr>
            </a:tbl>
          </a:graphicData>
        </a:graphic>
      </p:graphicFrame>
      <p:sp>
        <p:nvSpPr>
          <p:cNvPr id="5" name="TextBox 4"/>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2.1–2.3, Table 2.1 (pp. 10–11) &amp; Section 7 References</a:t>
            </a:r>
          </a:p>
        </p:txBody>
      </p:sp>
      <p:sp>
        <p:nvSpPr>
          <p:cNvPr id="6" name="TextBox 5"/>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3 · EXISTING APPROACH (BASELINE) AND ITS GAP</a:t>
            </a:r>
          </a:p>
          <a:p>
            <a:pPr algn="l">
              <a:spcAft>
                <a:spcPts val="300"/>
              </a:spcAft>
            </a:pPr>
            <a:r>
              <a:rPr sz="2700" b="1">
                <a:solidFill>
                  <a:srgbClr val="0B1F3A"/>
                </a:solidFill>
                <a:latin typeface="Cambria"/>
              </a:rPr>
              <a:t>Existing Approach (Baseline): Fixed Policy on Identical Binary</a:t>
            </a:r>
          </a:p>
          <a:p>
            <a:pPr algn="l"/>
            <a:r>
              <a:rPr sz="1500" b="0">
                <a:solidFill>
                  <a:srgbClr val="5B6676"/>
                </a:solidFill>
                <a:latin typeface="Calibri"/>
              </a:rPr>
              <a:t>Controlled baseline: the exact same compiled C17 executable (bin/server) with adaptive_control_enabled = false</a:t>
            </a:r>
          </a:p>
        </p:txBody>
      </p:sp>
      <p:sp>
        <p:nvSpPr>
          <p:cNvPr id="4" name="Rounded Rectangle 3"/>
          <p:cNvSpPr/>
          <p:nvPr/>
        </p:nvSpPr>
        <p:spPr>
          <a:xfrm>
            <a:off x="594360" y="2011680"/>
            <a:ext cx="5669280" cy="41605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121408"/>
            <a:ext cx="5340096" cy="3941063"/>
          </a:xfrm>
          <a:prstGeom prst="rect">
            <a:avLst/>
          </a:prstGeom>
          <a:noFill/>
        </p:spPr>
        <p:txBody>
          <a:bodyPr wrap="square" anchor="t" lIns="0" tIns="0" rIns="0" bIns="0">
            <a:noAutofit/>
          </a:bodyPr>
          <a:lstStyle/>
          <a:p>
            <a:pPr algn="l">
              <a:spcAft>
                <a:spcPts val="350"/>
              </a:spcAft>
            </a:pPr>
            <a:r>
              <a:rPr sz="1650" b="1">
                <a:solidFill>
                  <a:srgbClr val="0B1F3A"/>
                </a:solidFill>
                <a:latin typeface="Cambria"/>
              </a:rPr>
              <a:t>Baseline Architectural Invariants (Report §3.2)</a:t>
            </a:r>
          </a:p>
          <a:p>
            <a:pPr algn="l" marL="182880" indent="-182880">
              <a:spcAft>
                <a:spcPts val="200"/>
              </a:spcAft>
              <a:buFont typeface="Calibri"/>
              <a:buChar char="•"/>
            </a:pPr>
            <a:r>
              <a:rPr sz="1330" b="1">
                <a:solidFill>
                  <a:srgbClr val="0B1F3A"/>
                </a:solidFill>
                <a:latin typeface="Calibri"/>
              </a:rPr>
              <a:t>Same Compiled Executable: </a:t>
            </a:r>
            <a:r>
              <a:rPr sz="1330" b="0">
                <a:solidFill>
                  <a:srgbClr val="1F2937"/>
                </a:solidFill>
                <a:latin typeface="Calibri"/>
              </a:rPr>
              <a:t>Launched via ./bin/server -c config/server.conf.example -p 8080 (without -a). Zero code differences in socket I/O, parser, router, or thread pool.</a:t>
            </a:r>
          </a:p>
          <a:p>
            <a:pPr algn="l" marL="182880" indent="-182880">
              <a:spcAft>
                <a:spcPts val="200"/>
              </a:spcAft>
              <a:buFont typeface="Calibri"/>
              <a:buChar char="•"/>
            </a:pPr>
            <a:r>
              <a:rPr sz="1330" b="1">
                <a:solidFill>
                  <a:srgbClr val="0B1F3A"/>
                </a:solidFill>
                <a:latin typeface="Calibri"/>
              </a:rPr>
              <a:t>Four Fixed pthread Workers: </a:t>
            </a:r>
            <a:r>
              <a:rPr sz="1330" b="0">
                <a:solidFill>
                  <a:srgbClr val="1F2937"/>
                </a:solidFill>
                <a:latin typeface="Calibri"/>
              </a:rPr>
              <a:t>4 pre-spawned POSIX worker threads (worker_threads = 4). Each worker owns an accepted connection exclusively until it closes.</a:t>
            </a:r>
          </a:p>
          <a:p>
            <a:pPr algn="l" marL="182880" indent="-182880">
              <a:spcAft>
                <a:spcPts val="200"/>
              </a:spcAft>
              <a:buFont typeface="Calibri"/>
              <a:buChar char="•"/>
            </a:pPr>
            <a:r>
              <a:rPr sz="1330" b="1">
                <a:solidFill>
                  <a:srgbClr val="0B1F3A"/>
                </a:solidFill>
                <a:latin typeface="Calibri"/>
              </a:rPr>
              <a:t>Bounded 64-Slot FIFO Queue: </a:t>
            </a:r>
            <a:r>
              <a:rPr sz="1330" b="0">
                <a:solidFill>
                  <a:srgbClr val="1F2937"/>
                </a:solidFill>
                <a:latin typeface="Calibri"/>
              </a:rPr>
              <a:t>Strictly NOT an unbounded queue. src/connection_queue.c enforces capacity = 64 under mutex + condition variables (listen backlog = 128).</a:t>
            </a:r>
          </a:p>
          <a:p>
            <a:pPr algn="l" marL="182880" indent="-182880">
              <a:spcAft>
                <a:spcPts val="200"/>
              </a:spcAft>
              <a:buFont typeface="Calibri"/>
              <a:buChar char="•"/>
            </a:pPr>
            <a:r>
              <a:rPr sz="1330" b="1">
                <a:solidFill>
                  <a:srgbClr val="0B1F3A"/>
                </a:solidFill>
                <a:latin typeface="Calibri"/>
              </a:rPr>
              <a:t>Static Keep-Alive Behaviour: </a:t>
            </a:r>
            <a:r>
              <a:rPr sz="1330" b="0">
                <a:solidFill>
                  <a:srgbClr val="1F2937"/>
                </a:solidFill>
                <a:latin typeface="Calibri"/>
              </a:rPr>
              <a:t>Allows up to 100 sequential requests per persistent connection with a 5-second idle timeout at all load levels.</a:t>
            </a:r>
          </a:p>
          <a:p>
            <a:pPr algn="l" marL="182880" indent="-182880">
              <a:spcAft>
                <a:spcPts val="0"/>
              </a:spcAft>
              <a:buFont typeface="Calibri"/>
              <a:buChar char="•"/>
            </a:pPr>
            <a:r>
              <a:rPr sz="1330" b="1">
                <a:solidFill>
                  <a:srgbClr val="0B1F3A"/>
                </a:solidFill>
                <a:latin typeface="Calibri"/>
              </a:rPr>
              <a:t>Passive Queue-Full 503 Path Only: </a:t>
            </a:r>
            <a:r>
              <a:rPr sz="1330" b="0">
                <a:solidFill>
                  <a:srgbClr val="1F2937"/>
                </a:solidFill>
                <a:latin typeface="Calibri"/>
              </a:rPr>
              <a:t>Listener sends 503 (Retry-After: 5) only if connection_queue_push(..., 0) returns non-zero when the queue is 64/64 full. No latency or queue-wait feedback.</a:t>
            </a:r>
          </a:p>
        </p:txBody>
      </p:sp>
      <p:sp>
        <p:nvSpPr>
          <p:cNvPr id="6" name="Rounded Rectangle 5"/>
          <p:cNvSpPr/>
          <p:nvPr/>
        </p:nvSpPr>
        <p:spPr>
          <a:xfrm>
            <a:off x="6492240" y="2011680"/>
            <a:ext cx="5102352" cy="2148840"/>
          </a:xfrm>
          <a:prstGeom prst="roundRect">
            <a:avLst>
              <a:gd name="adj" fmla="val 4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675120" y="2139696"/>
            <a:ext cx="4736592" cy="365760"/>
          </a:xfrm>
          <a:prstGeom prst="rect">
            <a:avLst/>
          </a:prstGeom>
          <a:noFill/>
        </p:spPr>
        <p:txBody>
          <a:bodyPr wrap="square" anchor="t" lIns="0" tIns="0" rIns="0" bIns="0">
            <a:noAutofit/>
          </a:bodyPr>
          <a:lstStyle/>
          <a:p>
            <a:r>
              <a:rPr sz="1800" b="1">
                <a:solidFill>
                  <a:srgbClr val="0B1F3A"/>
                </a:solidFill>
                <a:latin typeface="Cambria"/>
              </a:rPr>
              <a:t>Baseline Request Path (Fixed Policy)</a:t>
            </a:r>
          </a:p>
        </p:txBody>
      </p:sp>
      <p:sp>
        <p:nvSpPr>
          <p:cNvPr id="8" name="Rounded Rectangle 7"/>
          <p:cNvSpPr/>
          <p:nvPr/>
        </p:nvSpPr>
        <p:spPr>
          <a:xfrm>
            <a:off x="6675120" y="2606040"/>
            <a:ext cx="1325880" cy="777240"/>
          </a:xfrm>
          <a:prstGeom prst="roundRect">
            <a:avLst>
              <a:gd name="adj" fmla="val 8000"/>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400" b="1">
                <a:solidFill>
                  <a:srgbClr val="0B1F3A"/>
                </a:solidFill>
                <a:latin typeface="Cambria"/>
              </a:rPr>
              <a:t>Accept Gate</a:t>
            </a:r>
          </a:p>
          <a:p>
            <a:pPr algn="ctr">
              <a:spcAft>
                <a:spcPts val="50"/>
              </a:spcAft>
            </a:pPr>
            <a:r>
              <a:rPr sz="1150" b="0">
                <a:solidFill>
                  <a:srgbClr val="1F2937"/>
                </a:solidFill>
                <a:latin typeface="Calibri"/>
              </a:rPr>
              <a:t>Always ADMIT</a:t>
            </a:r>
          </a:p>
          <a:p>
            <a:pPr algn="ctr">
              <a:spcAft>
                <a:spcPts val="0"/>
              </a:spcAft>
            </a:pPr>
            <a:r>
              <a:rPr sz="1150" b="0">
                <a:solidFill>
                  <a:srgbClr val="1F2937"/>
                </a:solidFill>
                <a:latin typeface="Calibri"/>
              </a:rPr>
              <a:t>(if queue &lt; 64)</a:t>
            </a:r>
          </a:p>
        </p:txBody>
      </p:sp>
      <p:sp>
        <p:nvSpPr>
          <p:cNvPr id="9" name="TextBox 8"/>
          <p:cNvSpPr txBox="1"/>
          <p:nvPr/>
        </p:nvSpPr>
        <p:spPr>
          <a:xfrm>
            <a:off x="8019288" y="2816352"/>
            <a:ext cx="292608" cy="365760"/>
          </a:xfrm>
          <a:prstGeom prst="rect">
            <a:avLst/>
          </a:prstGeom>
          <a:noFill/>
        </p:spPr>
        <p:txBody>
          <a:bodyPr wrap="square" anchor="ctr" lIns="0" tIns="0" rIns="0" bIns="0">
            <a:noAutofit/>
          </a:bodyPr>
          <a:lstStyle/>
          <a:p>
            <a:pPr algn="ctr"/>
            <a:r>
              <a:rPr sz="1600" b="1">
                <a:solidFill>
                  <a:srgbClr val="0B1F3A"/>
                </a:solidFill>
                <a:latin typeface="Calibri"/>
              </a:rPr>
              <a:t>→</a:t>
            </a:r>
          </a:p>
        </p:txBody>
      </p:sp>
      <p:sp>
        <p:nvSpPr>
          <p:cNvPr id="10" name="Rounded Rectangle 9"/>
          <p:cNvSpPr/>
          <p:nvPr/>
        </p:nvSpPr>
        <p:spPr>
          <a:xfrm>
            <a:off x="8330184" y="2606040"/>
            <a:ext cx="1417320" cy="777240"/>
          </a:xfrm>
          <a:prstGeom prst="roundRect">
            <a:avLst>
              <a:gd name="adj" fmla="val 8000"/>
            </a:avLst>
          </a:prstGeom>
          <a:solidFill>
            <a:srgbClr val="FCF1D9"/>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400" b="1">
                <a:solidFill>
                  <a:srgbClr val="9A5B00"/>
                </a:solidFill>
                <a:latin typeface="Cambria"/>
              </a:rPr>
              <a:t>FIFO Queue</a:t>
            </a:r>
          </a:p>
          <a:p>
            <a:pPr algn="ctr">
              <a:spcAft>
                <a:spcPts val="50"/>
              </a:spcAft>
            </a:pPr>
            <a:r>
              <a:rPr sz="1150" b="0">
                <a:solidFill>
                  <a:srgbClr val="1F2937"/>
                </a:solidFill>
                <a:latin typeface="Calibri"/>
              </a:rPr>
              <a:t>Capacity = 64</a:t>
            </a:r>
          </a:p>
          <a:p>
            <a:pPr algn="ctr">
              <a:spcAft>
                <a:spcPts val="0"/>
              </a:spcAft>
            </a:pPr>
            <a:r>
              <a:rPr sz="1150" b="0">
                <a:solidFill>
                  <a:srgbClr val="1F2937"/>
                </a:solidFill>
                <a:latin typeface="Calibri"/>
              </a:rPr>
              <a:t>Wait unmonitored</a:t>
            </a:r>
          </a:p>
        </p:txBody>
      </p:sp>
      <p:sp>
        <p:nvSpPr>
          <p:cNvPr id="11" name="TextBox 10"/>
          <p:cNvSpPr txBox="1"/>
          <p:nvPr/>
        </p:nvSpPr>
        <p:spPr>
          <a:xfrm>
            <a:off x="9765792" y="2816352"/>
            <a:ext cx="292608" cy="365760"/>
          </a:xfrm>
          <a:prstGeom prst="rect">
            <a:avLst/>
          </a:prstGeom>
          <a:noFill/>
        </p:spPr>
        <p:txBody>
          <a:bodyPr wrap="square" anchor="ctr" lIns="0" tIns="0" rIns="0" bIns="0">
            <a:noAutofit/>
          </a:bodyPr>
          <a:lstStyle/>
          <a:p>
            <a:pPr algn="ctr"/>
            <a:r>
              <a:rPr sz="1600" b="1">
                <a:solidFill>
                  <a:srgbClr val="0B1F3A"/>
                </a:solidFill>
                <a:latin typeface="Calibri"/>
              </a:rPr>
              <a:t>→</a:t>
            </a:r>
          </a:p>
        </p:txBody>
      </p:sp>
      <p:sp>
        <p:nvSpPr>
          <p:cNvPr id="12" name="Rounded Rectangle 11"/>
          <p:cNvSpPr/>
          <p:nvPr/>
        </p:nvSpPr>
        <p:spPr>
          <a:xfrm>
            <a:off x="10076688" y="2606040"/>
            <a:ext cx="1325880" cy="777240"/>
          </a:xfrm>
          <a:prstGeom prst="roundRect">
            <a:avLst>
              <a:gd name="adj" fmla="val 8000"/>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400" b="1">
                <a:solidFill>
                  <a:srgbClr val="0B1F3A"/>
                </a:solidFill>
                <a:latin typeface="Cambria"/>
              </a:rPr>
              <a:t>4 Workers</a:t>
            </a:r>
          </a:p>
          <a:p>
            <a:pPr algn="ctr">
              <a:spcAft>
                <a:spcPts val="50"/>
              </a:spcAft>
            </a:pPr>
            <a:r>
              <a:rPr sz="1150" b="0">
                <a:solidFill>
                  <a:srgbClr val="1F2937"/>
                </a:solidFill>
                <a:latin typeface="Calibri"/>
              </a:rPr>
              <a:t>Pinned ≤100 reqs</a:t>
            </a:r>
          </a:p>
          <a:p>
            <a:pPr algn="ctr">
              <a:spcAft>
                <a:spcPts val="0"/>
              </a:spcAft>
            </a:pPr>
            <a:r>
              <a:rPr sz="1150" b="0">
                <a:solidFill>
                  <a:srgbClr val="1F2937"/>
                </a:solidFill>
                <a:latin typeface="Calibri"/>
              </a:rPr>
              <a:t>5 s idle timeout</a:t>
            </a:r>
          </a:p>
        </p:txBody>
      </p:sp>
      <p:sp>
        <p:nvSpPr>
          <p:cNvPr id="13" name="TextBox 12"/>
          <p:cNvSpPr txBox="1"/>
          <p:nvPr/>
        </p:nvSpPr>
        <p:spPr>
          <a:xfrm>
            <a:off x="6675120" y="3456432"/>
            <a:ext cx="4736592" cy="658368"/>
          </a:xfrm>
          <a:prstGeom prst="rect">
            <a:avLst/>
          </a:prstGeom>
          <a:noFill/>
        </p:spPr>
        <p:txBody>
          <a:bodyPr wrap="square" anchor="t" lIns="0" tIns="0" rIns="0" bIns="0">
            <a:noAutofit/>
          </a:bodyPr>
          <a:lstStyle/>
          <a:p>
            <a:r>
              <a:rPr sz="1180" i="1">
                <a:solidFill>
                  <a:srgbClr val="1F2937"/>
                </a:solidFill>
                <a:latin typeface="Calibri"/>
              </a:rPr>
              <a:t>Why queue-full 503 never triggered: In closed-loop tests with C ≤ 64 and W = 4, 4 connections are in service and at most 60 wait in the 64-slot queue (0 5xx in all 40 baseline trials).</a:t>
            </a:r>
          </a:p>
        </p:txBody>
      </p:sp>
      <p:sp>
        <p:nvSpPr>
          <p:cNvPr id="14" name="Rounded Rectangle 13"/>
          <p:cNvSpPr/>
          <p:nvPr/>
        </p:nvSpPr>
        <p:spPr>
          <a:xfrm>
            <a:off x="6492240" y="4297680"/>
            <a:ext cx="5102352" cy="1874519"/>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620256" y="4370832"/>
            <a:ext cx="4846320" cy="1728216"/>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Baseline Config &amp; Gate (config/server.conf.example)</a:t>
            </a:r>
          </a:p>
          <a:p>
            <a:pPr algn="l">
              <a:spcAft>
                <a:spcPts val="50"/>
              </a:spcAft>
            </a:pPr>
            <a:r>
              <a:rPr sz="1050" b="0">
                <a:solidFill>
                  <a:srgbClr val="F8FAFC"/>
                </a:solidFill>
                <a:latin typeface="Consolas"/>
              </a:rPr>
              <a:t>adaptive_control_enabled = false  # Baseline default</a:t>
            </a:r>
          </a:p>
          <a:p>
            <a:pPr algn="l">
              <a:spcAft>
                <a:spcPts val="50"/>
              </a:spcAft>
            </a:pPr>
            <a:r>
              <a:rPr sz="1050" b="0">
                <a:solidFill>
                  <a:srgbClr val="F8FAFC"/>
                </a:solidFill>
                <a:latin typeface="Consolas"/>
              </a:rPr>
              <a:t>worker_threads = 4                # Fixed pthread pool</a:t>
            </a:r>
          </a:p>
          <a:p>
            <a:pPr algn="l">
              <a:spcAft>
                <a:spcPts val="50"/>
              </a:spcAft>
            </a:pPr>
            <a:r>
              <a:rPr sz="1050" b="0">
                <a:solidFill>
                  <a:srgbClr val="F8FAFC"/>
                </a:solidFill>
                <a:latin typeface="Consolas"/>
              </a:rPr>
              <a:t>connection_queue_capacity = 64    # Bounded FIFO cap</a:t>
            </a:r>
          </a:p>
          <a:p>
            <a:pPr algn="l">
              <a:spcAft>
                <a:spcPts val="50"/>
              </a:spcAft>
            </a:pPr>
            <a:r>
              <a:rPr sz="1050" b="0">
                <a:solidFill>
                  <a:srgbClr val="F8FAFC"/>
                </a:solidFill>
                <a:latin typeface="Consolas"/>
              </a:rPr>
              <a:t>keepalive_max_requests = 100      # Harness: 50/conn</a:t>
            </a:r>
          </a:p>
          <a:p>
            <a:pPr algn="l">
              <a:spcAft>
                <a:spcPts val="50"/>
              </a:spcAft>
            </a:pPr>
            <a:r>
              <a:rPr sz="1050" b="0">
                <a:solidFill>
                  <a:srgbClr val="F8FAFC"/>
                </a:solidFill>
                <a:latin typeface="Consolas"/>
              </a:rPr>
              <a:t>keepalive_timeout_sec = 5         # 5s idle timeout</a:t>
            </a:r>
          </a:p>
          <a:p>
            <a:pPr algn="l">
              <a:spcAft>
                <a:spcPts val="0"/>
              </a:spcAft>
            </a:pPr>
            <a:r>
              <a:rPr sz="1050" b="0">
                <a:solidFill>
                  <a:srgbClr val="9FB3CC"/>
                </a:solidFill>
                <a:latin typeface="Consolas"/>
              </a:rPr>
              <a:t>/* Disabled: evaluate() -&gt; QLAAC_ACTION_ADMIT */</a:t>
            </a:r>
          </a:p>
        </p:txBody>
      </p:sp>
      <p:sp>
        <p:nvSpPr>
          <p:cNvPr id="16" name="TextBox 15"/>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3.2 (p. 13); src/server.c; src/connection_queue.c</a:t>
            </a:r>
          </a:p>
        </p:txBody>
      </p:sp>
      <p:sp>
        <p:nvSpPr>
          <p:cNvPr id="17" name="TextBox 16"/>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3 · EXISTING APPROACH (BASELINE) AND ITS GAP</a:t>
            </a:r>
          </a:p>
          <a:p>
            <a:pPr algn="l">
              <a:spcAft>
                <a:spcPts val="300"/>
              </a:spcAft>
            </a:pPr>
            <a:r>
              <a:rPr sz="2700" b="1">
                <a:solidFill>
                  <a:srgbClr val="0B1F3A"/>
                </a:solidFill>
                <a:latin typeface="Cambria"/>
              </a:rPr>
              <a:t>Baseline Bottleneck, Queue-Wait Model &amp; Research Gap</a:t>
            </a:r>
          </a:p>
          <a:p>
            <a:pPr algn="l"/>
            <a:r>
              <a:rPr sz="1500" b="0">
                <a:solidFill>
                  <a:srgbClr val="5B6676"/>
                </a:solidFill>
                <a:latin typeface="Calibri"/>
              </a:rPr>
              <a:t>Why static keep-alive limits cause head-of-line worker pinning and why passive queue-full refusal cannot fix it</a:t>
            </a:r>
          </a:p>
        </p:txBody>
      </p:sp>
      <p:sp>
        <p:nvSpPr>
          <p:cNvPr id="4" name="Rounded Rectangle 3"/>
          <p:cNvSpPr/>
          <p:nvPr/>
        </p:nvSpPr>
        <p:spPr>
          <a:xfrm>
            <a:off x="594360" y="2011680"/>
            <a:ext cx="5257800" cy="41605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121408"/>
            <a:ext cx="4928616" cy="3941063"/>
          </a:xfrm>
          <a:prstGeom prst="rect">
            <a:avLst/>
          </a:prstGeom>
          <a:noFill/>
        </p:spPr>
        <p:txBody>
          <a:bodyPr wrap="square" anchor="t" lIns="0" tIns="0" rIns="0" bIns="0">
            <a:noAutofit/>
          </a:bodyPr>
          <a:lstStyle/>
          <a:p>
            <a:pPr algn="l">
              <a:spcAft>
                <a:spcPts val="300"/>
              </a:spcAft>
            </a:pPr>
            <a:r>
              <a:rPr sz="1600" b="1">
                <a:solidFill>
                  <a:srgbClr val="0B1F3A"/>
                </a:solidFill>
                <a:latin typeface="Cambria"/>
              </a:rPr>
              <a:t>Mechanism of Head-of-Line Pinning &amp; Gap (Report §2.3, §5.4)</a:t>
            </a:r>
          </a:p>
          <a:p>
            <a:pPr algn="l" marL="182880" indent="-182880">
              <a:spcAft>
                <a:spcPts val="150"/>
              </a:spcAft>
              <a:buFont typeface="Calibri"/>
              <a:buChar char="•"/>
            </a:pPr>
            <a:r>
              <a:rPr sz="1270" b="1">
                <a:solidFill>
                  <a:srgbClr val="0B1F3A"/>
                </a:solidFill>
                <a:latin typeface="Calibri"/>
              </a:rPr>
              <a:t>50-Request Keep-Alive Pinning: </a:t>
            </a:r>
            <a:r>
              <a:rPr sz="1270" b="0">
                <a:solidFill>
                  <a:srgbClr val="1F2937"/>
                </a:solidFill>
                <a:latin typeface="Calibri"/>
              </a:rPr>
              <a:t>Each benchmark client sends up to 50 sequential GET /health requests per connection. A worker is pinned to its connection for all 50 requests before dequeuing the next socket.</a:t>
            </a:r>
          </a:p>
          <a:p>
            <a:pPr algn="l" marL="182880" indent="-182880">
              <a:spcAft>
                <a:spcPts val="150"/>
              </a:spcAft>
              <a:buFont typeface="Calibri"/>
              <a:buChar char="•"/>
            </a:pPr>
            <a:r>
              <a:rPr sz="1270" b="1">
                <a:solidFill>
                  <a:srgbClr val="0B1F3A"/>
                </a:solidFill>
                <a:latin typeface="Calibri"/>
              </a:rPr>
              <a:t>Service Rounds of 200 Requests: </a:t>
            </a:r>
            <a:r>
              <a:rPr sz="1270" b="0">
                <a:solidFill>
                  <a:srgbClr val="1F2937"/>
                </a:solidFill>
                <a:latin typeface="Calibri"/>
              </a:rPr>
              <a:t>Four workers complete 4 × 50 = 200 requests per service round while C − 4 connections wait in the FIFO queue for ⌈(C − 4) / 4⌉ rounds.</a:t>
            </a:r>
          </a:p>
          <a:p>
            <a:pPr algn="l" marL="182880" indent="-182880">
              <a:spcAft>
                <a:spcPts val="150"/>
              </a:spcAft>
              <a:buFont typeface="Calibri"/>
              <a:buChar char="•"/>
            </a:pPr>
            <a:r>
              <a:rPr sz="1270" b="1">
                <a:solidFill>
                  <a:srgbClr val="0B1F3A"/>
                </a:solidFill>
                <a:latin typeface="Calibri"/>
              </a:rPr>
              <a:t>Why p50/p95 Stay Tiny While p99 Explodes: </a:t>
            </a:r>
            <a:r>
              <a:rPr sz="1270" b="0">
                <a:solidFill>
                  <a:srgbClr val="1F2937"/>
                </a:solidFill>
                <a:latin typeface="Calibri"/>
              </a:rPr>
              <a:t>Only the 1st request on a newly accepted socket (1 in 50 = 2.0%) waits in the connection queue; the next 49 requests (98%) execute immediately (~0.5 ms). Thus p50 and p95 stay ≤1.34 ms while p99 captures the 2% of requests delayed across rounds.</a:t>
            </a:r>
          </a:p>
          <a:p>
            <a:pPr algn="l" marL="182880" indent="-182880">
              <a:spcAft>
                <a:spcPts val="0"/>
              </a:spcAft>
              <a:buFont typeface="Calibri"/>
              <a:buChar char="•"/>
            </a:pPr>
            <a:r>
              <a:rPr sz="1270" b="1">
                <a:solidFill>
                  <a:srgbClr val="0B1F3A"/>
                </a:solidFill>
                <a:latin typeface="Calibri"/>
              </a:rPr>
              <a:t>The Baseline Gap: </a:t>
            </a:r>
            <a:r>
              <a:rPr sz="1270" b="0">
                <a:solidFill>
                  <a:srgbClr val="1F2937"/>
                </a:solidFill>
                <a:latin typeface="Calibri"/>
              </a:rPr>
              <a:t>Passive queue-full shedding never fires at C ≤ 64 (max 60/64 queued), and static keep-alive (100 reqs) never rotates workers faster when the queue builds.</a:t>
            </a:r>
          </a:p>
        </p:txBody>
      </p:sp>
      <p:graphicFrame>
        <p:nvGraphicFramePr>
          <p:cNvPr id="6" name="Table 5"/>
          <p:cNvGraphicFramePr>
            <a:graphicFrameLocks noGrp="1"/>
          </p:cNvGraphicFramePr>
          <p:nvPr/>
        </p:nvGraphicFramePr>
        <p:xfrm>
          <a:off x="6035040" y="2011680"/>
          <a:ext cx="5559552" cy="1024128"/>
        </p:xfrm>
        <a:graphic>
          <a:graphicData uri="http://schemas.openxmlformats.org/drawingml/2006/table">
            <a:tbl>
              <a:tblPr firstRow="1" bandRow="1">
                <a:tableStyleId>{5C22544A-7EE6-4342-B048-85BDC9FD1C3A}</a:tableStyleId>
              </a:tblPr>
              <a:tblGrid>
                <a:gridCol w="1005840"/>
                <a:gridCol w="713232"/>
                <a:gridCol w="960120"/>
                <a:gridCol w="960120"/>
                <a:gridCol w="960120"/>
                <a:gridCol w="960120"/>
              </a:tblGrid>
              <a:tr h="146304">
                <a:tc>
                  <a:txBody>
                    <a:bodyPr/>
                    <a:lstStyle/>
                    <a:p>
                      <a:pPr algn="l"/>
                      <a:r>
                        <a:rPr sz="1250" b="1">
                          <a:solidFill>
                            <a:srgbClr val="FFFFFF"/>
                          </a:solidFill>
                          <a:latin typeface="Calibri"/>
                        </a:rPr>
                        <a:t>Mode</a:t>
                      </a:r>
                    </a:p>
                  </a:txBody>
                  <a:tcPr anchor="ctr" marL="32004" marR="32004" marT="10972" marB="10972">
                    <a:solidFill>
                      <a:srgbClr val="0B1F3A"/>
                    </a:solidFill>
                  </a:tcPr>
                </a:tc>
                <a:tc>
                  <a:txBody>
                    <a:bodyPr/>
                    <a:lstStyle/>
                    <a:p>
                      <a:pPr algn="r"/>
                      <a:r>
                        <a:rPr sz="1250" b="1">
                          <a:solidFill>
                            <a:srgbClr val="FFFFFF"/>
                          </a:solidFill>
                          <a:latin typeface="Calibri"/>
                        </a:rPr>
                        <a:t>Clients C</a:t>
                      </a:r>
                    </a:p>
                  </a:txBody>
                  <a:tcPr anchor="ctr" marL="32004" marR="32004" marT="10972" marB="10972">
                    <a:solidFill>
                      <a:srgbClr val="0B1F3A"/>
                    </a:solidFill>
                  </a:tcPr>
                </a:tc>
                <a:tc>
                  <a:txBody>
                    <a:bodyPr/>
                    <a:lstStyle/>
                    <a:p>
                      <a:pPr algn="r"/>
                      <a:r>
                        <a:rPr sz="1250" b="1">
                          <a:solidFill>
                            <a:srgbClr val="FFFFFF"/>
                          </a:solidFill>
                          <a:latin typeface="Calibri"/>
                        </a:rPr>
                        <a:t>2xx RPS (X)</a:t>
                      </a:r>
                    </a:p>
                  </a:txBody>
                  <a:tcPr anchor="ctr" marL="32004" marR="32004" marT="10972" marB="10972">
                    <a:solidFill>
                      <a:srgbClr val="0B1F3A"/>
                    </a:solidFill>
                  </a:tcPr>
                </a:tc>
                <a:tc>
                  <a:txBody>
                    <a:bodyPr/>
                    <a:lstStyle/>
                    <a:p>
                      <a:pPr algn="r"/>
                      <a:r>
                        <a:rPr sz="1250" b="1">
                          <a:solidFill>
                            <a:srgbClr val="FFFFFF"/>
                          </a:solidFill>
                          <a:latin typeface="Calibri"/>
                        </a:rPr>
                        <a:t>Rounds ⌈(C−4)/4⌉</a:t>
                      </a:r>
                    </a:p>
                  </a:txBody>
                  <a:tcPr anchor="ctr" marL="32004" marR="32004" marT="10972" marB="10972">
                    <a:solidFill>
                      <a:srgbClr val="0B1F3A"/>
                    </a:solidFill>
                  </a:tcPr>
                </a:tc>
                <a:tc>
                  <a:txBody>
                    <a:bodyPr/>
                    <a:lstStyle/>
                    <a:p>
                      <a:pPr algn="r"/>
                      <a:r>
                        <a:rPr sz="1250" b="1">
                          <a:solidFill>
                            <a:srgbClr val="FFFFFF"/>
                          </a:solidFill>
                          <a:latin typeface="Calibri"/>
                        </a:rPr>
                        <a:t>Predicted Wait (ms)</a:t>
                      </a:r>
                    </a:p>
                  </a:txBody>
                  <a:tcPr anchor="ctr" marL="32004" marR="32004" marT="10972" marB="10972">
                    <a:solidFill>
                      <a:srgbClr val="0B1F3A"/>
                    </a:solidFill>
                  </a:tcPr>
                </a:tc>
                <a:tc>
                  <a:txBody>
                    <a:bodyPr/>
                    <a:lstStyle/>
                    <a:p>
                      <a:pPr algn="r"/>
                      <a:r>
                        <a:rPr sz="1250" b="1">
                          <a:solidFill>
                            <a:srgbClr val="FFFFFF"/>
                          </a:solidFill>
                          <a:latin typeface="Calibri"/>
                        </a:rPr>
                        <a:t>Observed p99 (ms)</a:t>
                      </a:r>
                    </a:p>
                  </a:txBody>
                  <a:tcPr anchor="ctr" marL="32004" marR="32004" marT="10972" marB="10972">
                    <a:solidFill>
                      <a:srgbClr val="0B1F3A"/>
                    </a:solidFill>
                  </a:tcPr>
                </a:tc>
              </a:tr>
              <a:tr h="146304">
                <a:tc>
                  <a:txBody>
                    <a:bodyPr/>
                    <a:lstStyle/>
                    <a:p>
                      <a:pPr algn="l"/>
                      <a:r>
                        <a:rPr sz="1200" b="1">
                          <a:solidFill>
                            <a:srgbClr val="1F2937"/>
                          </a:solidFill>
                          <a:latin typeface="Calibri"/>
                        </a:rPr>
                        <a:t>Standard</a:t>
                      </a:r>
                    </a:p>
                  </a:txBody>
                  <a:tcPr anchor="ctr" marL="32004" marR="32004" marT="10972" marB="10972">
                    <a:solidFill>
                      <a:srgbClr val="F3F6F9"/>
                    </a:solidFill>
                  </a:tcPr>
                </a:tc>
                <a:tc>
                  <a:txBody>
                    <a:bodyPr/>
                    <a:lstStyle/>
                    <a:p>
                      <a:pPr algn="r"/>
                      <a:r>
                        <a:rPr sz="1200" b="0">
                          <a:solidFill>
                            <a:srgbClr val="1F2937"/>
                          </a:solidFill>
                          <a:latin typeface="Calibri"/>
                        </a:rPr>
                        <a:t>8</a:t>
                      </a:r>
                    </a:p>
                  </a:txBody>
                  <a:tcPr anchor="ctr" marL="32004" marR="32004" marT="10972" marB="10972">
                    <a:solidFill>
                      <a:srgbClr val="F3F6F9"/>
                    </a:solidFill>
                  </a:tcPr>
                </a:tc>
                <a:tc>
                  <a:txBody>
                    <a:bodyPr/>
                    <a:lstStyle/>
                    <a:p>
                      <a:pPr algn="r"/>
                      <a:r>
                        <a:rPr sz="1200" b="0">
                          <a:solidFill>
                            <a:srgbClr val="1F2937"/>
                          </a:solidFill>
                          <a:latin typeface="Calibri"/>
                        </a:rPr>
                        <a:t>6,869.56</a:t>
                      </a:r>
                    </a:p>
                  </a:txBody>
                  <a:tcPr anchor="ctr" marL="32004" marR="32004" marT="10972" marB="10972">
                    <a:solidFill>
                      <a:srgbClr val="F3F6F9"/>
                    </a:solidFill>
                  </a:tcPr>
                </a:tc>
                <a:tc>
                  <a:txBody>
                    <a:bodyPr/>
                    <a:lstStyle/>
                    <a:p>
                      <a:pPr algn="r"/>
                      <a:r>
                        <a:rPr sz="1200" b="0">
                          <a:solidFill>
                            <a:srgbClr val="1F2937"/>
                          </a:solidFill>
                          <a:latin typeface="Calibri"/>
                        </a:rPr>
                        <a:t>1</a:t>
                      </a:r>
                    </a:p>
                  </a:txBody>
                  <a:tcPr anchor="ctr" marL="32004" marR="32004" marT="10972" marB="10972">
                    <a:solidFill>
                      <a:srgbClr val="F3F6F9"/>
                    </a:solidFill>
                  </a:tcPr>
                </a:tc>
                <a:tc>
                  <a:txBody>
                    <a:bodyPr/>
                    <a:lstStyle/>
                    <a:p>
                      <a:pPr algn="r"/>
                      <a:r>
                        <a:rPr sz="1200" b="0">
                          <a:solidFill>
                            <a:srgbClr val="1F2937"/>
                          </a:solidFill>
                          <a:latin typeface="Calibri"/>
                        </a:rPr>
                        <a:t>29.1 ms</a:t>
                      </a:r>
                    </a:p>
                  </a:txBody>
                  <a:tcPr anchor="ctr" marL="32004" marR="32004" marT="10972" marB="10972">
                    <a:solidFill>
                      <a:srgbClr val="F3F6F9"/>
                    </a:solidFill>
                  </a:tcPr>
                </a:tc>
                <a:tc>
                  <a:txBody>
                    <a:bodyPr/>
                    <a:lstStyle/>
                    <a:p>
                      <a:pPr algn="r"/>
                      <a:r>
                        <a:rPr sz="1200" b="1">
                          <a:solidFill>
                            <a:srgbClr val="2E8B57"/>
                          </a:solidFill>
                          <a:latin typeface="Calibri"/>
                        </a:rPr>
                        <a:t>28.54 ± 0.72</a:t>
                      </a:r>
                    </a:p>
                  </a:txBody>
                  <a:tcPr anchor="ctr" marL="32004" marR="32004" marT="10972" marB="10972">
                    <a:solidFill>
                      <a:srgbClr val="E3F3EA"/>
                    </a:solidFill>
                  </a:tcPr>
                </a:tc>
              </a:tr>
              <a:tr h="146304">
                <a:tc>
                  <a:txBody>
                    <a:bodyPr/>
                    <a:lstStyle/>
                    <a:p>
                      <a:pPr algn="l"/>
                      <a:r>
                        <a:rPr sz="1200" b="1">
                          <a:solidFill>
                            <a:srgbClr val="1F2937"/>
                          </a:solidFill>
                          <a:latin typeface="Calibri"/>
                        </a:rPr>
                        <a:t>Standard</a:t>
                      </a:r>
                    </a:p>
                  </a:txBody>
                  <a:tcPr anchor="ctr" marL="32004" marR="32004" marT="10972" marB="10972">
                    <a:solidFill>
                      <a:srgbClr val="FFFFFF"/>
                    </a:solidFill>
                  </a:tcPr>
                </a:tc>
                <a:tc>
                  <a:txBody>
                    <a:bodyPr/>
                    <a:lstStyle/>
                    <a:p>
                      <a:pPr algn="r"/>
                      <a:r>
                        <a:rPr sz="1200" b="0">
                          <a:solidFill>
                            <a:srgbClr val="1F2937"/>
                          </a:solidFill>
                          <a:latin typeface="Calibri"/>
                        </a:rPr>
                        <a:t>32</a:t>
                      </a:r>
                    </a:p>
                  </a:txBody>
                  <a:tcPr anchor="ctr" marL="32004" marR="32004" marT="10972" marB="10972">
                    <a:solidFill>
                      <a:srgbClr val="FFFFFF"/>
                    </a:solidFill>
                  </a:tcPr>
                </a:tc>
                <a:tc>
                  <a:txBody>
                    <a:bodyPr/>
                    <a:lstStyle/>
                    <a:p>
                      <a:pPr algn="r"/>
                      <a:r>
                        <a:rPr sz="1200" b="0">
                          <a:solidFill>
                            <a:srgbClr val="1F2937"/>
                          </a:solidFill>
                          <a:latin typeface="Calibri"/>
                        </a:rPr>
                        <a:t>6,938.70</a:t>
                      </a:r>
                    </a:p>
                  </a:txBody>
                  <a:tcPr anchor="ctr" marL="32004" marR="32004" marT="10972" marB="10972">
                    <a:solidFill>
                      <a:srgbClr val="FFFFFF"/>
                    </a:solidFill>
                  </a:tcPr>
                </a:tc>
                <a:tc>
                  <a:txBody>
                    <a:bodyPr/>
                    <a:lstStyle/>
                    <a:p>
                      <a:pPr algn="r"/>
                      <a:r>
                        <a:rPr sz="1200" b="0">
                          <a:solidFill>
                            <a:srgbClr val="1F2937"/>
                          </a:solidFill>
                          <a:latin typeface="Calibri"/>
                        </a:rPr>
                        <a:t>7</a:t>
                      </a:r>
                    </a:p>
                  </a:txBody>
                  <a:tcPr anchor="ctr" marL="32004" marR="32004" marT="10972" marB="10972">
                    <a:solidFill>
                      <a:srgbClr val="FFFFFF"/>
                    </a:solidFill>
                  </a:tcPr>
                </a:tc>
                <a:tc>
                  <a:txBody>
                    <a:bodyPr/>
                    <a:lstStyle/>
                    <a:p>
                      <a:pPr algn="r"/>
                      <a:r>
                        <a:rPr sz="1200" b="0">
                          <a:solidFill>
                            <a:srgbClr val="1F2937"/>
                          </a:solidFill>
                          <a:latin typeface="Calibri"/>
                        </a:rPr>
                        <a:t>201.8 ms</a:t>
                      </a:r>
                    </a:p>
                  </a:txBody>
                  <a:tcPr anchor="ctr" marL="32004" marR="32004" marT="10972" marB="10972">
                    <a:solidFill>
                      <a:srgbClr val="FFFFFF"/>
                    </a:solidFill>
                  </a:tcPr>
                </a:tc>
                <a:tc>
                  <a:txBody>
                    <a:bodyPr/>
                    <a:lstStyle/>
                    <a:p>
                      <a:pPr algn="r"/>
                      <a:r>
                        <a:rPr sz="1200" b="1">
                          <a:solidFill>
                            <a:srgbClr val="9A5B00"/>
                          </a:solidFill>
                          <a:latin typeface="Calibri"/>
                        </a:rPr>
                        <a:t>201.93 ± 6.43</a:t>
                      </a:r>
                    </a:p>
                  </a:txBody>
                  <a:tcPr anchor="ctr" marL="32004" marR="32004" marT="10972" marB="10972">
                    <a:solidFill>
                      <a:srgbClr val="FCF1D9"/>
                    </a:solidFill>
                  </a:tcPr>
                </a:tc>
              </a:tr>
              <a:tr h="146304">
                <a:tc>
                  <a:txBody>
                    <a:bodyPr/>
                    <a:lstStyle/>
                    <a:p>
                      <a:pPr algn="l"/>
                      <a:r>
                        <a:rPr sz="1200" b="1">
                          <a:solidFill>
                            <a:srgbClr val="1F2937"/>
                          </a:solidFill>
                          <a:latin typeface="Calibri"/>
                        </a:rPr>
                        <a:t>Standard</a:t>
                      </a:r>
                    </a:p>
                  </a:txBody>
                  <a:tcPr anchor="ctr" marL="32004" marR="32004" marT="10972" marB="10972">
                    <a:solidFill>
                      <a:srgbClr val="F3F6F9"/>
                    </a:solidFill>
                  </a:tcPr>
                </a:tc>
                <a:tc>
                  <a:txBody>
                    <a:bodyPr/>
                    <a:lstStyle/>
                    <a:p>
                      <a:pPr algn="r"/>
                      <a:r>
                        <a:rPr sz="1200" b="0">
                          <a:solidFill>
                            <a:srgbClr val="1F2937"/>
                          </a:solidFill>
                          <a:latin typeface="Calibri"/>
                        </a:rPr>
                        <a:t>64</a:t>
                      </a:r>
                    </a:p>
                  </a:txBody>
                  <a:tcPr anchor="ctr" marL="32004" marR="32004" marT="10972" marB="10972">
                    <a:solidFill>
                      <a:srgbClr val="F3F6F9"/>
                    </a:solidFill>
                  </a:tcPr>
                </a:tc>
                <a:tc>
                  <a:txBody>
                    <a:bodyPr/>
                    <a:lstStyle/>
                    <a:p>
                      <a:pPr algn="r"/>
                      <a:r>
                        <a:rPr sz="1200" b="0">
                          <a:solidFill>
                            <a:srgbClr val="1F2937"/>
                          </a:solidFill>
                          <a:latin typeface="Calibri"/>
                        </a:rPr>
                        <a:t>6,922.30</a:t>
                      </a:r>
                    </a:p>
                  </a:txBody>
                  <a:tcPr anchor="ctr" marL="32004" marR="32004" marT="10972" marB="10972">
                    <a:solidFill>
                      <a:srgbClr val="F3F6F9"/>
                    </a:solidFill>
                  </a:tcPr>
                </a:tc>
                <a:tc>
                  <a:txBody>
                    <a:bodyPr/>
                    <a:lstStyle/>
                    <a:p>
                      <a:pPr algn="r"/>
                      <a:r>
                        <a:rPr sz="1200" b="0">
                          <a:solidFill>
                            <a:srgbClr val="1F2937"/>
                          </a:solidFill>
                          <a:latin typeface="Calibri"/>
                        </a:rPr>
                        <a:t>15</a:t>
                      </a:r>
                    </a:p>
                  </a:txBody>
                  <a:tcPr anchor="ctr" marL="32004" marR="32004" marT="10972" marB="10972">
                    <a:solidFill>
                      <a:srgbClr val="F3F6F9"/>
                    </a:solidFill>
                  </a:tcPr>
                </a:tc>
                <a:tc>
                  <a:txBody>
                    <a:bodyPr/>
                    <a:lstStyle/>
                    <a:p>
                      <a:pPr algn="r"/>
                      <a:r>
                        <a:rPr sz="1200" b="0">
                          <a:solidFill>
                            <a:srgbClr val="1F2937"/>
                          </a:solidFill>
                          <a:latin typeface="Calibri"/>
                        </a:rPr>
                        <a:t>433.4 ms</a:t>
                      </a:r>
                    </a:p>
                  </a:txBody>
                  <a:tcPr anchor="ctr" marL="32004" marR="32004" marT="10972" marB="10972">
                    <a:solidFill>
                      <a:srgbClr val="F3F6F9"/>
                    </a:solidFill>
                  </a:tcPr>
                </a:tc>
                <a:tc>
                  <a:txBody>
                    <a:bodyPr/>
                    <a:lstStyle/>
                    <a:p>
                      <a:pPr algn="r"/>
                      <a:r>
                        <a:rPr sz="1200" b="1">
                          <a:solidFill>
                            <a:srgbClr val="C8453B"/>
                          </a:solidFill>
                          <a:latin typeface="Calibri"/>
                        </a:rPr>
                        <a:t>434.75 ± 9.41</a:t>
                      </a:r>
                    </a:p>
                  </a:txBody>
                  <a:tcPr anchor="ctr" marL="32004" marR="32004" marT="10972" marB="10972">
                    <a:solidFill>
                      <a:srgbClr val="FBE4E1"/>
                    </a:solidFill>
                  </a:tcPr>
                </a:tc>
              </a:tr>
              <a:tr h="146304">
                <a:tc>
                  <a:txBody>
                    <a:bodyPr/>
                    <a:lstStyle/>
                    <a:p>
                      <a:pPr algn="l"/>
                      <a:r>
                        <a:rPr sz="1200" b="1">
                          <a:solidFill>
                            <a:srgbClr val="1F2937"/>
                          </a:solidFill>
                          <a:latin typeface="Calibri"/>
                        </a:rPr>
                        <a:t>Retry-Aware</a:t>
                      </a:r>
                    </a:p>
                  </a:txBody>
                  <a:tcPr anchor="ctr" marL="32004" marR="32004" marT="10972" marB="10972">
                    <a:solidFill>
                      <a:srgbClr val="FFFFFF"/>
                    </a:solidFill>
                  </a:tcPr>
                </a:tc>
                <a:tc>
                  <a:txBody>
                    <a:bodyPr/>
                    <a:lstStyle/>
                    <a:p>
                      <a:pPr algn="r"/>
                      <a:r>
                        <a:rPr sz="1200" b="0">
                          <a:solidFill>
                            <a:srgbClr val="1F2937"/>
                          </a:solidFill>
                          <a:latin typeface="Calibri"/>
                        </a:rPr>
                        <a:t>8</a:t>
                      </a:r>
                    </a:p>
                  </a:txBody>
                  <a:tcPr anchor="ctr" marL="32004" marR="32004" marT="10972" marB="10972">
                    <a:solidFill>
                      <a:srgbClr val="FFFFFF"/>
                    </a:solidFill>
                  </a:tcPr>
                </a:tc>
                <a:tc>
                  <a:txBody>
                    <a:bodyPr/>
                    <a:lstStyle/>
                    <a:p>
                      <a:pPr algn="r"/>
                      <a:r>
                        <a:rPr sz="1200" b="0">
                          <a:solidFill>
                            <a:srgbClr val="1F2937"/>
                          </a:solidFill>
                          <a:latin typeface="Calibri"/>
                        </a:rPr>
                        <a:t>6,884.42</a:t>
                      </a:r>
                    </a:p>
                  </a:txBody>
                  <a:tcPr anchor="ctr" marL="32004" marR="32004" marT="10972" marB="10972">
                    <a:solidFill>
                      <a:srgbClr val="FFFFFF"/>
                    </a:solidFill>
                  </a:tcPr>
                </a:tc>
                <a:tc>
                  <a:txBody>
                    <a:bodyPr/>
                    <a:lstStyle/>
                    <a:p>
                      <a:pPr algn="r"/>
                      <a:r>
                        <a:rPr sz="1200" b="0">
                          <a:solidFill>
                            <a:srgbClr val="1F2937"/>
                          </a:solidFill>
                          <a:latin typeface="Calibri"/>
                        </a:rPr>
                        <a:t>1</a:t>
                      </a:r>
                    </a:p>
                  </a:txBody>
                  <a:tcPr anchor="ctr" marL="32004" marR="32004" marT="10972" marB="10972">
                    <a:solidFill>
                      <a:srgbClr val="FFFFFF"/>
                    </a:solidFill>
                  </a:tcPr>
                </a:tc>
                <a:tc>
                  <a:txBody>
                    <a:bodyPr/>
                    <a:lstStyle/>
                    <a:p>
                      <a:pPr algn="r"/>
                      <a:r>
                        <a:rPr sz="1200" b="0">
                          <a:solidFill>
                            <a:srgbClr val="1F2937"/>
                          </a:solidFill>
                          <a:latin typeface="Calibri"/>
                        </a:rPr>
                        <a:t>29.1 ms</a:t>
                      </a:r>
                    </a:p>
                  </a:txBody>
                  <a:tcPr anchor="ctr" marL="32004" marR="32004" marT="10972" marB="10972">
                    <a:solidFill>
                      <a:srgbClr val="FFFFFF"/>
                    </a:solidFill>
                  </a:tcPr>
                </a:tc>
                <a:tc>
                  <a:txBody>
                    <a:bodyPr/>
                    <a:lstStyle/>
                    <a:p>
                      <a:pPr algn="r"/>
                      <a:r>
                        <a:rPr sz="1200" b="1">
                          <a:solidFill>
                            <a:srgbClr val="2E8B57"/>
                          </a:solidFill>
                          <a:latin typeface="Calibri"/>
                        </a:rPr>
                        <a:t>28.40 ± 0.22</a:t>
                      </a:r>
                    </a:p>
                  </a:txBody>
                  <a:tcPr anchor="ctr" marL="32004" marR="32004" marT="10972" marB="10972">
                    <a:solidFill>
                      <a:srgbClr val="E3F3EA"/>
                    </a:solidFill>
                  </a:tcPr>
                </a:tc>
              </a:tr>
              <a:tr h="146304">
                <a:tc>
                  <a:txBody>
                    <a:bodyPr/>
                    <a:lstStyle/>
                    <a:p>
                      <a:pPr algn="l"/>
                      <a:r>
                        <a:rPr sz="1200" b="1">
                          <a:solidFill>
                            <a:srgbClr val="1F2937"/>
                          </a:solidFill>
                          <a:latin typeface="Calibri"/>
                        </a:rPr>
                        <a:t>Retry-Aware</a:t>
                      </a:r>
                    </a:p>
                  </a:txBody>
                  <a:tcPr anchor="ctr" marL="32004" marR="32004" marT="10972" marB="10972">
                    <a:solidFill>
                      <a:srgbClr val="F3F6F9"/>
                    </a:solidFill>
                  </a:tcPr>
                </a:tc>
                <a:tc>
                  <a:txBody>
                    <a:bodyPr/>
                    <a:lstStyle/>
                    <a:p>
                      <a:pPr algn="r"/>
                      <a:r>
                        <a:rPr sz="1200" b="0">
                          <a:solidFill>
                            <a:srgbClr val="1F2937"/>
                          </a:solidFill>
                          <a:latin typeface="Calibri"/>
                        </a:rPr>
                        <a:t>32</a:t>
                      </a:r>
                    </a:p>
                  </a:txBody>
                  <a:tcPr anchor="ctr" marL="32004" marR="32004" marT="10972" marB="10972">
                    <a:solidFill>
                      <a:srgbClr val="F3F6F9"/>
                    </a:solidFill>
                  </a:tcPr>
                </a:tc>
                <a:tc>
                  <a:txBody>
                    <a:bodyPr/>
                    <a:lstStyle/>
                    <a:p>
                      <a:pPr algn="r"/>
                      <a:r>
                        <a:rPr sz="1200" b="0">
                          <a:solidFill>
                            <a:srgbClr val="1F2937"/>
                          </a:solidFill>
                          <a:latin typeface="Calibri"/>
                        </a:rPr>
                        <a:t>6,767.70</a:t>
                      </a:r>
                    </a:p>
                  </a:txBody>
                  <a:tcPr anchor="ctr" marL="32004" marR="32004" marT="10972" marB="10972">
                    <a:solidFill>
                      <a:srgbClr val="F3F6F9"/>
                    </a:solidFill>
                  </a:tcPr>
                </a:tc>
                <a:tc>
                  <a:txBody>
                    <a:bodyPr/>
                    <a:lstStyle/>
                    <a:p>
                      <a:pPr algn="r"/>
                      <a:r>
                        <a:rPr sz="1200" b="0">
                          <a:solidFill>
                            <a:srgbClr val="1F2937"/>
                          </a:solidFill>
                          <a:latin typeface="Calibri"/>
                        </a:rPr>
                        <a:t>7</a:t>
                      </a:r>
                    </a:p>
                  </a:txBody>
                  <a:tcPr anchor="ctr" marL="32004" marR="32004" marT="10972" marB="10972">
                    <a:solidFill>
                      <a:srgbClr val="F3F6F9"/>
                    </a:solidFill>
                  </a:tcPr>
                </a:tc>
                <a:tc>
                  <a:txBody>
                    <a:bodyPr/>
                    <a:lstStyle/>
                    <a:p>
                      <a:pPr algn="r"/>
                      <a:r>
                        <a:rPr sz="1200" b="0">
                          <a:solidFill>
                            <a:srgbClr val="1F2937"/>
                          </a:solidFill>
                          <a:latin typeface="Calibri"/>
                        </a:rPr>
                        <a:t>206.9 ms</a:t>
                      </a:r>
                    </a:p>
                  </a:txBody>
                  <a:tcPr anchor="ctr" marL="32004" marR="32004" marT="10972" marB="10972">
                    <a:solidFill>
                      <a:srgbClr val="F3F6F9"/>
                    </a:solidFill>
                  </a:tcPr>
                </a:tc>
                <a:tc>
                  <a:txBody>
                    <a:bodyPr/>
                    <a:lstStyle/>
                    <a:p>
                      <a:pPr algn="r"/>
                      <a:r>
                        <a:rPr sz="1200" b="1">
                          <a:solidFill>
                            <a:srgbClr val="9A5B00"/>
                          </a:solidFill>
                          <a:latin typeface="Calibri"/>
                        </a:rPr>
                        <a:t>206.97 ± 7.90</a:t>
                      </a:r>
                    </a:p>
                  </a:txBody>
                  <a:tcPr anchor="ctr" marL="32004" marR="32004" marT="10972" marB="10972">
                    <a:solidFill>
                      <a:srgbClr val="FCF1D9"/>
                    </a:solidFill>
                  </a:tcPr>
                </a:tc>
              </a:tr>
              <a:tr h="146304">
                <a:tc>
                  <a:txBody>
                    <a:bodyPr/>
                    <a:lstStyle/>
                    <a:p>
                      <a:pPr algn="l"/>
                      <a:r>
                        <a:rPr sz="1200" b="1">
                          <a:solidFill>
                            <a:srgbClr val="1F2937"/>
                          </a:solidFill>
                          <a:latin typeface="Calibri"/>
                        </a:rPr>
                        <a:t>Retry-Aware</a:t>
                      </a:r>
                    </a:p>
                  </a:txBody>
                  <a:tcPr anchor="ctr" marL="32004" marR="32004" marT="10972" marB="10972">
                    <a:solidFill>
                      <a:srgbClr val="FFFFFF"/>
                    </a:solidFill>
                  </a:tcPr>
                </a:tc>
                <a:tc>
                  <a:txBody>
                    <a:bodyPr/>
                    <a:lstStyle/>
                    <a:p>
                      <a:pPr algn="r"/>
                      <a:r>
                        <a:rPr sz="1200" b="0">
                          <a:solidFill>
                            <a:srgbClr val="1F2937"/>
                          </a:solidFill>
                          <a:latin typeface="Calibri"/>
                        </a:rPr>
                        <a:t>64</a:t>
                      </a:r>
                    </a:p>
                  </a:txBody>
                  <a:tcPr anchor="ctr" marL="32004" marR="32004" marT="10972" marB="10972">
                    <a:solidFill>
                      <a:srgbClr val="FFFFFF"/>
                    </a:solidFill>
                  </a:tcPr>
                </a:tc>
                <a:tc>
                  <a:txBody>
                    <a:bodyPr/>
                    <a:lstStyle/>
                    <a:p>
                      <a:pPr algn="r"/>
                      <a:r>
                        <a:rPr sz="1200" b="0">
                          <a:solidFill>
                            <a:srgbClr val="1F2937"/>
                          </a:solidFill>
                          <a:latin typeface="Calibri"/>
                        </a:rPr>
                        <a:t>6,805.68</a:t>
                      </a:r>
                    </a:p>
                  </a:txBody>
                  <a:tcPr anchor="ctr" marL="32004" marR="32004" marT="10972" marB="10972">
                    <a:solidFill>
                      <a:srgbClr val="FFFFFF"/>
                    </a:solidFill>
                  </a:tcPr>
                </a:tc>
                <a:tc>
                  <a:txBody>
                    <a:bodyPr/>
                    <a:lstStyle/>
                    <a:p>
                      <a:pPr algn="r"/>
                      <a:r>
                        <a:rPr sz="1200" b="0">
                          <a:solidFill>
                            <a:srgbClr val="1F2937"/>
                          </a:solidFill>
                          <a:latin typeface="Calibri"/>
                        </a:rPr>
                        <a:t>15</a:t>
                      </a:r>
                    </a:p>
                  </a:txBody>
                  <a:tcPr anchor="ctr" marL="32004" marR="32004" marT="10972" marB="10972">
                    <a:solidFill>
                      <a:srgbClr val="FFFFFF"/>
                    </a:solidFill>
                  </a:tcPr>
                </a:tc>
                <a:tc>
                  <a:txBody>
                    <a:bodyPr/>
                    <a:lstStyle/>
                    <a:p>
                      <a:pPr algn="r"/>
                      <a:r>
                        <a:rPr sz="1200" b="0">
                          <a:solidFill>
                            <a:srgbClr val="1F2937"/>
                          </a:solidFill>
                          <a:latin typeface="Calibri"/>
                        </a:rPr>
                        <a:t>440.8 ms</a:t>
                      </a:r>
                    </a:p>
                  </a:txBody>
                  <a:tcPr anchor="ctr" marL="32004" marR="32004" marT="10972" marB="10972">
                    <a:solidFill>
                      <a:srgbClr val="FFFFFF"/>
                    </a:solidFill>
                  </a:tcPr>
                </a:tc>
                <a:tc>
                  <a:txBody>
                    <a:bodyPr/>
                    <a:lstStyle/>
                    <a:p>
                      <a:pPr algn="r"/>
                      <a:r>
                        <a:rPr sz="1200" b="1">
                          <a:solidFill>
                            <a:srgbClr val="C8453B"/>
                          </a:solidFill>
                          <a:latin typeface="Calibri"/>
                        </a:rPr>
                        <a:t>444.17 ± 7.13</a:t>
                      </a:r>
                    </a:p>
                  </a:txBody>
                  <a:tcPr anchor="ctr" marL="32004" marR="32004" marT="10972" marB="10972">
                    <a:solidFill>
                      <a:srgbClr val="FBE4E1"/>
                    </a:solidFill>
                  </a:tcPr>
                </a:tc>
              </a:tr>
            </a:tbl>
          </a:graphicData>
        </a:graphic>
      </p:graphicFrame>
      <p:sp>
        <p:nvSpPr>
          <p:cNvPr id="7" name="Rounded Rectangle 6"/>
          <p:cNvSpPr/>
          <p:nvPr/>
        </p:nvSpPr>
        <p:spPr>
          <a:xfrm>
            <a:off x="6035040" y="4937760"/>
            <a:ext cx="5559552" cy="1243584"/>
          </a:xfrm>
          <a:prstGeom prst="roundRect">
            <a:avLst>
              <a:gd name="adj" fmla="val 4000"/>
            </a:avLst>
          </a:prstGeom>
          <a:solidFill>
            <a:srgbClr val="DDF2F4"/>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199632" y="5010912"/>
            <a:ext cx="5230368" cy="1097280"/>
          </a:xfrm>
          <a:prstGeom prst="rect">
            <a:avLst/>
          </a:prstGeom>
          <a:noFill/>
        </p:spPr>
        <p:txBody>
          <a:bodyPr wrap="square" anchor="t" lIns="0" tIns="0" rIns="0" bIns="0">
            <a:noAutofit/>
          </a:bodyPr>
          <a:lstStyle/>
          <a:p>
            <a:pPr algn="l">
              <a:spcAft>
                <a:spcPts val="350"/>
              </a:spcAft>
            </a:pPr>
            <a:r>
              <a:rPr sz="1450" b="1">
                <a:solidFill>
                  <a:srgbClr val="0B1F3A"/>
                </a:solidFill>
                <a:latin typeface="Cambria"/>
              </a:rPr>
              <a:t>Approximate Consistency Check (Report Table 5.5)</a:t>
            </a:r>
          </a:p>
          <a:p>
            <a:pPr algn="l">
              <a:spcAft>
                <a:spcPts val="0"/>
              </a:spcAft>
            </a:pPr>
            <a:r>
              <a:rPr sz="1200" b="1">
                <a:solidFill>
                  <a:srgbClr val="0B1F3A"/>
                </a:solidFill>
                <a:latin typeface="Calibri"/>
              </a:rPr>
              <a:t>Predicted Wait ≈ ⌈(C − 4) / 4⌉ × (200 / X) × 1000 ms: </a:t>
            </a:r>
            <a:r>
              <a:rPr sz="1200" b="0">
                <a:solidFill>
                  <a:srgbClr val="1F2937"/>
                </a:solidFill>
                <a:latin typeface="Calibri"/>
              </a:rPr>
              <a:t>Approximate consistency check using measured 2xx RPS (X): C = 8 differs by ~2.0% (Standard: 29.1 vs 28.54 ms) and ~2.3% (Retry-Aware: 29.1 vs 28.40 ms); C = 32 and C = 64 lie within ~1% of observed p99.</a:t>
            </a:r>
          </a:p>
        </p:txBody>
      </p:sp>
      <p:sp>
        <p:nvSpPr>
          <p:cNvPr id="9" name="TextBox 8"/>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2.3 (p. 11), Section 5.4 &amp; Table 5.5 (p. 33)</a:t>
            </a:r>
          </a:p>
        </p:txBody>
      </p:sp>
      <p:sp>
        <p:nvSpPr>
          <p:cNvPr id="10" name="TextBox 9"/>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4 · PROPOSED NOVELTY</a:t>
            </a:r>
          </a:p>
          <a:p>
            <a:pPr algn="l">
              <a:spcAft>
                <a:spcPts val="300"/>
              </a:spcAft>
            </a:pPr>
            <a:r>
              <a:rPr sz="2700" b="1">
                <a:solidFill>
                  <a:srgbClr val="0B1F3A"/>
                </a:solidFill>
                <a:latin typeface="Cambria"/>
              </a:rPr>
              <a:t>Proposed Novelty: Queue-and-Latency-Aware Admission Control</a:t>
            </a:r>
          </a:p>
          <a:p>
            <a:pPr algn="l"/>
            <a:r>
              <a:rPr sz="1500" b="0">
                <a:solidFill>
                  <a:srgbClr val="5B6676"/>
                </a:solidFill>
                <a:latin typeface="Calibri"/>
              </a:rPr>
              <a:t>Four implemented mechanisms differentiating QLAAC from the baseline within the same C17 binary (Report §3.4)</a:t>
            </a:r>
          </a:p>
        </p:txBody>
      </p:sp>
      <p:sp>
        <p:nvSpPr>
          <p:cNvPr id="4" name="Rounded Rectangle 3"/>
          <p:cNvSpPr/>
          <p:nvPr/>
        </p:nvSpPr>
        <p:spPr>
          <a:xfrm>
            <a:off x="594360" y="2011680"/>
            <a:ext cx="5376672" cy="169164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103120"/>
            <a:ext cx="5047488" cy="1508760"/>
          </a:xfrm>
          <a:prstGeom prst="rect">
            <a:avLst/>
          </a:prstGeom>
          <a:noFill/>
        </p:spPr>
        <p:txBody>
          <a:bodyPr wrap="square" anchor="t" lIns="0" tIns="0" rIns="0" bIns="0">
            <a:noAutofit/>
          </a:bodyPr>
          <a:lstStyle/>
          <a:p>
            <a:pPr algn="l">
              <a:spcAft>
                <a:spcPts val="350"/>
              </a:spcAft>
            </a:pPr>
            <a:r>
              <a:rPr sz="1550" b="1">
                <a:solidFill>
                  <a:srgbClr val="0E9AA7"/>
                </a:solidFill>
                <a:latin typeface="Cambria"/>
              </a:rPr>
              <a:t>1. Dual Latency &amp; Queue-Wait Telemetry (1,000 ms Sampler)</a:t>
            </a:r>
          </a:p>
          <a:p>
            <a:pPr algn="l">
              <a:spcAft>
                <a:spcPts val="0"/>
              </a:spcAft>
            </a:pPr>
            <a:r>
              <a:rPr sz="1230" b="1">
                <a:solidFill>
                  <a:srgbClr val="0B1F3A"/>
                </a:solidFill>
                <a:latin typeface="Calibri"/>
              </a:rPr>
              <a:t>Four In-Process Signals: </a:t>
            </a:r>
            <a:r>
              <a:rPr sz="1230" b="0">
                <a:solidFill>
                  <a:srgbClr val="1F2937"/>
                </a:solidFill>
                <a:latin typeface="Calibri"/>
              </a:rPr>
              <a:t>Sampler thread wakes every 1,000 ms and evaluates worker utilisation u (active/4), queue occupancy q (depth/64), 5 s rolling p95 request processing latency, and 5 s rolling p95 enqueue-to-dequeue queue wait (1,024-sample reservoirs).</a:t>
            </a:r>
          </a:p>
        </p:txBody>
      </p:sp>
      <p:sp>
        <p:nvSpPr>
          <p:cNvPr id="6" name="Rounded Rectangle 5"/>
          <p:cNvSpPr/>
          <p:nvPr/>
        </p:nvSpPr>
        <p:spPr>
          <a:xfrm>
            <a:off x="6217920" y="2011680"/>
            <a:ext cx="5376672" cy="1691640"/>
          </a:xfrm>
          <a:prstGeom prst="roundRect">
            <a:avLst>
              <a:gd name="adj" fmla="val 4000"/>
            </a:avLst>
          </a:prstGeom>
          <a:solidFill>
            <a:srgbClr val="FCF1D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82512" y="2103120"/>
            <a:ext cx="5047488" cy="1508760"/>
          </a:xfrm>
          <a:prstGeom prst="rect">
            <a:avLst/>
          </a:prstGeom>
          <a:noFill/>
        </p:spPr>
        <p:txBody>
          <a:bodyPr wrap="square" anchor="t" lIns="0" tIns="0" rIns="0" bIns="0">
            <a:noAutofit/>
          </a:bodyPr>
          <a:lstStyle/>
          <a:p>
            <a:pPr algn="l">
              <a:spcAft>
                <a:spcPts val="350"/>
              </a:spcAft>
            </a:pPr>
            <a:r>
              <a:rPr sz="1600" b="1">
                <a:solidFill>
                  <a:srgbClr val="9A5B00"/>
                </a:solidFill>
                <a:latin typeface="Cambria"/>
              </a:rPr>
              <a:t>2. Keep-Alive Rotation / Fair Sharing in CAUTION (≤16 Reqs)</a:t>
            </a:r>
          </a:p>
          <a:p>
            <a:pPr algn="l">
              <a:spcAft>
                <a:spcPts val="0"/>
              </a:spcAft>
            </a:pPr>
            <a:r>
              <a:rPr sz="1280" b="1">
                <a:solidFill>
                  <a:srgbClr val="0B1F3A"/>
                </a:solidFill>
                <a:latin typeface="Calibri"/>
              </a:rPr>
              <a:t>Faster Worker Turnover Without Shedding: </a:t>
            </a:r>
            <a:r>
              <a:rPr sz="1280" b="0">
                <a:solidFill>
                  <a:srgbClr val="1F2937"/>
                </a:solidFill>
                <a:latin typeface="Calibri"/>
              </a:rPr>
              <a:t>In CAUTION, QLAAC admits all connections (0 rejections) but caps keep-alive at ≤16 requests with a 2 s idle timeout (down from 100 reqs / 5 s), rotating waiting connections across the 4 workers ~3× faster.</a:t>
            </a:r>
          </a:p>
        </p:txBody>
      </p:sp>
      <p:sp>
        <p:nvSpPr>
          <p:cNvPr id="8" name="Rounded Rectangle 7"/>
          <p:cNvSpPr/>
          <p:nvPr/>
        </p:nvSpPr>
        <p:spPr>
          <a:xfrm>
            <a:off x="594360" y="3840480"/>
            <a:ext cx="5376672" cy="1691640"/>
          </a:xfrm>
          <a:prstGeom prst="roundRect">
            <a:avLst>
              <a:gd name="adj" fmla="val 4000"/>
            </a:avLst>
          </a:prstGeom>
          <a:solidFill>
            <a:srgbClr val="FBE4E1"/>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3931920"/>
            <a:ext cx="5047488" cy="1508760"/>
          </a:xfrm>
          <a:prstGeom prst="rect">
            <a:avLst/>
          </a:prstGeom>
          <a:noFill/>
        </p:spPr>
        <p:txBody>
          <a:bodyPr wrap="square" anchor="t" lIns="0" tIns="0" rIns="0" bIns="0">
            <a:noAutofit/>
          </a:bodyPr>
          <a:lstStyle/>
          <a:p>
            <a:pPr algn="l">
              <a:spcAft>
                <a:spcPts val="350"/>
              </a:spcAft>
            </a:pPr>
            <a:r>
              <a:rPr sz="1500" b="1">
                <a:solidFill>
                  <a:srgbClr val="C8453B"/>
                </a:solidFill>
                <a:latin typeface="Cambria"/>
              </a:rPr>
              <a:t>3. Accept-Gate HTTP 503 + Retry-After: 5 in OVERLOAD</a:t>
            </a:r>
          </a:p>
          <a:p>
            <a:pPr algn="l">
              <a:spcAft>
                <a:spcPts val="0"/>
              </a:spcAft>
            </a:pPr>
            <a:r>
              <a:rPr sz="1180" b="1">
                <a:solidFill>
                  <a:srgbClr val="0B1F3A"/>
                </a:solidFill>
                <a:latin typeface="Calibri"/>
              </a:rPr>
              <a:t>Pre-Queue Shedding &amp; Cooperative Back-Off: </a:t>
            </a:r>
            <a:r>
              <a:rPr sz="1180" b="0">
                <a:solidFill>
                  <a:srgbClr val="1F2937"/>
                </a:solidFill>
                <a:latin typeface="Calibri"/>
              </a:rPr>
              <a:t>In OVERLOAD, the listener rejects newly accepted sockets immediately with HTTP 503 Service Unavailable and Retry-After: 5 before they occupy a queue slot, while tightening held connections to ≤16 requests and 1 s idle.</a:t>
            </a:r>
          </a:p>
        </p:txBody>
      </p:sp>
      <p:sp>
        <p:nvSpPr>
          <p:cNvPr id="10" name="Rounded Rectangle 9"/>
          <p:cNvSpPr/>
          <p:nvPr/>
        </p:nvSpPr>
        <p:spPr>
          <a:xfrm>
            <a:off x="6217920" y="3840480"/>
            <a:ext cx="5376672" cy="1691640"/>
          </a:xfrm>
          <a:prstGeom prst="roundRect">
            <a:avLst>
              <a:gd name="adj" fmla="val 4000"/>
            </a:avLst>
          </a:prstGeom>
          <a:solidFill>
            <a:srgbClr val="E3F3EA"/>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3931920"/>
            <a:ext cx="5047488" cy="1508760"/>
          </a:xfrm>
          <a:prstGeom prst="rect">
            <a:avLst/>
          </a:prstGeom>
          <a:noFill/>
        </p:spPr>
        <p:txBody>
          <a:bodyPr wrap="square" anchor="t" lIns="0" tIns="0" rIns="0" bIns="0">
            <a:noAutofit/>
          </a:bodyPr>
          <a:lstStyle/>
          <a:p>
            <a:pPr algn="l">
              <a:spcAft>
                <a:spcPts val="350"/>
              </a:spcAft>
            </a:pPr>
            <a:r>
              <a:rPr sz="1500" b="1">
                <a:solidFill>
                  <a:srgbClr val="2E8B57"/>
                </a:solidFill>
                <a:latin typeface="Cambria"/>
              </a:rPr>
              <a:t>4. Asymmetric Escalation &amp; 5-Window Recovery Hysteresis</a:t>
            </a:r>
          </a:p>
          <a:p>
            <a:pPr algn="l">
              <a:spcAft>
                <a:spcPts val="0"/>
              </a:spcAft>
            </a:pPr>
            <a:r>
              <a:rPr sz="1180" b="1">
                <a:solidFill>
                  <a:srgbClr val="0B1F3A"/>
                </a:solidFill>
                <a:latin typeface="Calibri"/>
              </a:rPr>
              <a:t>Dampening State Oscillation: </a:t>
            </a:r>
            <a:r>
              <a:rPr sz="1180" b="0">
                <a:solidFill>
                  <a:srgbClr val="1F2937"/>
                </a:solidFill>
                <a:latin typeface="Calibri"/>
              </a:rPr>
              <a:t>Escalates immediately on single-window CAUTION/OVERLOAD triggers (or 3 consecutive sustained-pressure windows), but requires 5 consecutive healthy 1 s windows per single-step de-escalation (OVERLOAD → CAUTION → NORMAL).</a:t>
            </a:r>
          </a:p>
        </p:txBody>
      </p:sp>
      <p:sp>
        <p:nvSpPr>
          <p:cNvPr id="12" name="Rounded Rectangle 11"/>
          <p:cNvSpPr/>
          <p:nvPr/>
        </p:nvSpPr>
        <p:spPr>
          <a:xfrm>
            <a:off x="594360" y="5623560"/>
            <a:ext cx="11002975" cy="594360"/>
          </a:xfrm>
          <a:prstGeom prst="roundRect">
            <a:avLst>
              <a:gd name="adj" fmla="val 4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8952" y="5678424"/>
            <a:ext cx="10673791" cy="484632"/>
          </a:xfrm>
          <a:prstGeom prst="rect">
            <a:avLst/>
          </a:prstGeom>
          <a:noFill/>
        </p:spPr>
        <p:txBody>
          <a:bodyPr wrap="square" anchor="t" lIns="0" tIns="0" rIns="0" bIns="0">
            <a:noAutofit/>
          </a:bodyPr>
          <a:lstStyle/>
          <a:p>
            <a:pPr algn="l">
              <a:spcAft>
                <a:spcPts val="0"/>
              </a:spcAft>
            </a:pPr>
            <a:r>
              <a:rPr sz="1300" b="1">
                <a:solidFill>
                  <a:srgbClr val="0B1F3A"/>
                </a:solidFill>
                <a:latin typeface="Calibri"/>
              </a:rPr>
              <a:t>Honest Scope of Contribution (Report §2.3 &amp; §3.4): </a:t>
            </a:r>
            <a:r>
              <a:rPr sz="1300" b="0">
                <a:solidFill>
                  <a:srgbClr val="1F2937"/>
                </a:solidFill>
                <a:latin typeface="Calibri"/>
              </a:rPr>
              <a:t>QLAAC is a measured systems integration of delay-based signals [8], admission control [5], and keep-alive rotation—not a wholly new algorithm class or universal performance improvement.</a:t>
            </a:r>
          </a:p>
        </p:txBody>
      </p:sp>
      <p:sp>
        <p:nvSpPr>
          <p:cNvPr id="14" name="TextBox 13"/>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2.3, 3.3, 3.4 &amp; Table 3.2 (pp. 11, 13–17)</a:t>
            </a:r>
          </a:p>
        </p:txBody>
      </p:sp>
      <p:sp>
        <p:nvSpPr>
          <p:cNvPr id="15" name="TextBox 14"/>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5 · ARCHITECTURE OR ALGORITHM</a:t>
            </a:r>
          </a:p>
          <a:p>
            <a:pPr algn="l">
              <a:spcAft>
                <a:spcPts val="300"/>
              </a:spcAft>
            </a:pPr>
            <a:r>
              <a:rPr sz="2700" b="1">
                <a:solidFill>
                  <a:srgbClr val="0B1F3A"/>
                </a:solidFill>
                <a:latin typeface="Cambria"/>
              </a:rPr>
              <a:t>End-to-End Request-Handling &amp; Feedback Architecture</a:t>
            </a:r>
          </a:p>
          <a:p>
            <a:pPr algn="l"/>
            <a:r>
              <a:rPr sz="1500" b="0">
                <a:solidFill>
                  <a:srgbClr val="5B6676"/>
                </a:solidFill>
                <a:latin typeface="Calibri"/>
              </a:rPr>
              <a:t>Editable data-flow and closed-loop telemetry diagram across our C17 modules (Report Figure 3.1)</a:t>
            </a:r>
          </a:p>
        </p:txBody>
      </p:sp>
      <p:sp>
        <p:nvSpPr>
          <p:cNvPr id="4" name="Rounded Rectangle 3"/>
          <p:cNvSpPr/>
          <p:nvPr/>
        </p:nvSpPr>
        <p:spPr>
          <a:xfrm>
            <a:off x="594360" y="1965960"/>
            <a:ext cx="11002975" cy="21031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029968"/>
            <a:ext cx="10607040" cy="292608"/>
          </a:xfrm>
          <a:prstGeom prst="rect">
            <a:avLst/>
          </a:prstGeom>
          <a:noFill/>
        </p:spPr>
        <p:txBody>
          <a:bodyPr wrap="square" anchor="t" lIns="0" tIns="0" rIns="0" bIns="0">
            <a:noAutofit/>
          </a:bodyPr>
          <a:lstStyle/>
          <a:p>
            <a:r>
              <a:rPr sz="1150" b="1">
                <a:solidFill>
                  <a:srgbClr val="0B1F3A"/>
                </a:solidFill>
                <a:latin typeface="Calibri"/>
              </a:rPr>
              <a:t>SYNCHRONOUS REQUEST PATH (SOLID ARROWS) &amp; OVERLOAD REJECTION PATH (RED)</a:t>
            </a:r>
          </a:p>
        </p:txBody>
      </p:sp>
      <p:sp>
        <p:nvSpPr>
          <p:cNvPr id="6" name="Rounded Rectangle 5"/>
          <p:cNvSpPr/>
          <p:nvPr/>
        </p:nvSpPr>
        <p:spPr>
          <a:xfrm>
            <a:off x="731520" y="2377440"/>
            <a:ext cx="1143000" cy="960120"/>
          </a:xfrm>
          <a:prstGeom prst="roundRect">
            <a:avLst>
              <a:gd name="adj" fmla="val 8000"/>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050" b="1">
                <a:solidFill>
                  <a:srgbClr val="0B1F3A"/>
                </a:solidFill>
                <a:latin typeface="Cambria"/>
              </a:rPr>
              <a:t>1. TCP Clients</a:t>
            </a:r>
          </a:p>
          <a:p>
            <a:pPr algn="ctr">
              <a:spcAft>
                <a:spcPts val="50"/>
              </a:spcAft>
            </a:pPr>
            <a:r>
              <a:rPr sz="1019" b="0">
                <a:solidFill>
                  <a:srgbClr val="1F2937"/>
                </a:solidFill>
                <a:latin typeface="Calibri"/>
              </a:rPr>
              <a:t>Persistent HTTP/1.1</a:t>
            </a:r>
          </a:p>
          <a:p>
            <a:pPr algn="ctr">
              <a:spcAft>
                <a:spcPts val="0"/>
              </a:spcAft>
            </a:pPr>
            <a:r>
              <a:rPr sz="1019" b="0">
                <a:solidFill>
                  <a:srgbClr val="1F2937"/>
                </a:solidFill>
                <a:latin typeface="Calibri"/>
              </a:rPr>
              <a:t>Standard / Retry-Aware</a:t>
            </a:r>
          </a:p>
        </p:txBody>
      </p:sp>
      <p:sp>
        <p:nvSpPr>
          <p:cNvPr id="7" name="Rounded Rectangle 6"/>
          <p:cNvSpPr/>
          <p:nvPr/>
        </p:nvSpPr>
        <p:spPr>
          <a:xfrm>
            <a:off x="2121408" y="2377440"/>
            <a:ext cx="1143000" cy="960120"/>
          </a:xfrm>
          <a:prstGeom prst="roundRect">
            <a:avLst>
              <a:gd name="adj" fmla="val 8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200" b="1">
                <a:solidFill>
                  <a:srgbClr val="0B1F3A"/>
                </a:solidFill>
                <a:latin typeface="Cambria"/>
              </a:rPr>
              <a:t>2. Listener</a:t>
            </a:r>
          </a:p>
          <a:p>
            <a:pPr algn="ctr">
              <a:spcAft>
                <a:spcPts val="50"/>
              </a:spcAft>
            </a:pPr>
            <a:r>
              <a:rPr sz="980" b="0">
                <a:solidFill>
                  <a:srgbClr val="1F2937"/>
                </a:solidFill>
                <a:latin typeface="Calibri"/>
              </a:rPr>
              <a:t>src/server.c</a:t>
            </a:r>
          </a:p>
          <a:p>
            <a:pPr algn="ctr">
              <a:spcAft>
                <a:spcPts val="0"/>
              </a:spcAft>
            </a:pPr>
            <a:r>
              <a:rPr sz="980" b="0">
                <a:solidFill>
                  <a:srgbClr val="1F2937"/>
                </a:solidFill>
                <a:latin typeface="Calibri"/>
              </a:rPr>
              <a:t>poll + accept4()</a:t>
            </a:r>
          </a:p>
        </p:txBody>
      </p:sp>
      <p:sp>
        <p:nvSpPr>
          <p:cNvPr id="8" name="Rounded Rectangle 7"/>
          <p:cNvSpPr/>
          <p:nvPr/>
        </p:nvSpPr>
        <p:spPr>
          <a:xfrm>
            <a:off x="3511296" y="2377440"/>
            <a:ext cx="1143000" cy="960120"/>
          </a:xfrm>
          <a:prstGeom prst="roundRect">
            <a:avLst>
              <a:gd name="adj" fmla="val 8000"/>
            </a:avLst>
          </a:prstGeom>
          <a:solidFill>
            <a:srgbClr val="FBE4E1"/>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100" b="1">
                <a:solidFill>
                  <a:srgbClr val="C8453B"/>
                </a:solidFill>
                <a:latin typeface="Cambria"/>
              </a:rPr>
              <a:t>3. QLAAC Gate</a:t>
            </a:r>
          </a:p>
          <a:p>
            <a:pPr algn="ctr">
              <a:spcAft>
                <a:spcPts val="50"/>
              </a:spcAft>
            </a:pPr>
            <a:r>
              <a:rPr sz="1019" b="0">
                <a:solidFill>
                  <a:srgbClr val="1F2937"/>
                </a:solidFill>
                <a:latin typeface="Calibri"/>
              </a:rPr>
              <a:t>adaptive_controller</a:t>
            </a:r>
          </a:p>
          <a:p>
            <a:pPr algn="ctr">
              <a:spcAft>
                <a:spcPts val="0"/>
              </a:spcAft>
            </a:pPr>
            <a:r>
              <a:rPr sz="1019" b="0">
                <a:solidFill>
                  <a:srgbClr val="1F2937"/>
                </a:solidFill>
                <a:latin typeface="Calibri"/>
              </a:rPr>
              <a:t>evaluate() gate</a:t>
            </a:r>
          </a:p>
        </p:txBody>
      </p:sp>
      <p:sp>
        <p:nvSpPr>
          <p:cNvPr id="9" name="Rounded Rectangle 8"/>
          <p:cNvSpPr/>
          <p:nvPr/>
        </p:nvSpPr>
        <p:spPr>
          <a:xfrm>
            <a:off x="4901184" y="2377440"/>
            <a:ext cx="1143000" cy="960120"/>
          </a:xfrm>
          <a:prstGeom prst="roundRect">
            <a:avLst>
              <a:gd name="adj" fmla="val 8000"/>
            </a:avLst>
          </a:prstGeom>
          <a:solidFill>
            <a:srgbClr val="FCF1D9"/>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200" b="1">
                <a:solidFill>
                  <a:srgbClr val="9A5B00"/>
                </a:solidFill>
                <a:latin typeface="Cambria"/>
              </a:rPr>
              <a:t>4. FIFO Queue</a:t>
            </a:r>
          </a:p>
          <a:p>
            <a:pPr algn="ctr">
              <a:spcAft>
                <a:spcPts val="50"/>
              </a:spcAft>
            </a:pPr>
            <a:r>
              <a:rPr sz="980" b="0">
                <a:solidFill>
                  <a:srgbClr val="1F2937"/>
                </a:solidFill>
                <a:latin typeface="Calibri"/>
              </a:rPr>
              <a:t>connection_queue</a:t>
            </a:r>
          </a:p>
          <a:p>
            <a:pPr algn="ctr">
              <a:spcAft>
                <a:spcPts val="0"/>
              </a:spcAft>
            </a:pPr>
            <a:r>
              <a:rPr sz="980" b="0">
                <a:solidFill>
                  <a:srgbClr val="1F2937"/>
                </a:solidFill>
                <a:latin typeface="Calibri"/>
              </a:rPr>
              <a:t>64 slots (enq_ns)</a:t>
            </a:r>
          </a:p>
        </p:txBody>
      </p:sp>
      <p:sp>
        <p:nvSpPr>
          <p:cNvPr id="10" name="Rounded Rectangle 9"/>
          <p:cNvSpPr/>
          <p:nvPr/>
        </p:nvSpPr>
        <p:spPr>
          <a:xfrm>
            <a:off x="6291072" y="2377440"/>
            <a:ext cx="1143000" cy="960120"/>
          </a:xfrm>
          <a:prstGeom prst="roundRect">
            <a:avLst>
              <a:gd name="adj" fmla="val 8000"/>
            </a:avLst>
          </a:prstGeom>
          <a:solidFill>
            <a:srgbClr val="DDF2F4"/>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200" b="1">
                <a:solidFill>
                  <a:srgbClr val="0E9AA7"/>
                </a:solidFill>
                <a:latin typeface="Cambria"/>
              </a:rPr>
              <a:t>5. 4 Workers</a:t>
            </a:r>
          </a:p>
          <a:p>
            <a:pPr algn="ctr">
              <a:spcAft>
                <a:spcPts val="50"/>
              </a:spcAft>
            </a:pPr>
            <a:r>
              <a:rPr sz="980" b="0">
                <a:solidFill>
                  <a:srgbClr val="1F2937"/>
                </a:solidFill>
                <a:latin typeface="Calibri"/>
              </a:rPr>
              <a:t>src/thread_pool.c</a:t>
            </a:r>
          </a:p>
          <a:p>
            <a:pPr algn="ctr">
              <a:spcAft>
                <a:spcPts val="0"/>
              </a:spcAft>
            </a:pPr>
            <a:r>
              <a:rPr sz="980" b="0">
                <a:solidFill>
                  <a:srgbClr val="1F2937"/>
                </a:solidFill>
                <a:latin typeface="Calibri"/>
              </a:rPr>
              <a:t>pthreads (deq_ns)</a:t>
            </a:r>
          </a:p>
        </p:txBody>
      </p:sp>
      <p:sp>
        <p:nvSpPr>
          <p:cNvPr id="11" name="Rounded Rectangle 10"/>
          <p:cNvSpPr/>
          <p:nvPr/>
        </p:nvSpPr>
        <p:spPr>
          <a:xfrm>
            <a:off x="7680960" y="2377440"/>
            <a:ext cx="1143000" cy="960120"/>
          </a:xfrm>
          <a:prstGeom prst="roundRect">
            <a:avLst>
              <a:gd name="adj" fmla="val 8000"/>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050" b="1">
                <a:solidFill>
                  <a:srgbClr val="0B1F3A"/>
                </a:solidFill>
                <a:latin typeface="Cambria"/>
              </a:rPr>
              <a:t>6. HTTP Parser</a:t>
            </a:r>
          </a:p>
          <a:p>
            <a:pPr algn="ctr">
              <a:spcAft>
                <a:spcPts val="50"/>
              </a:spcAft>
            </a:pPr>
            <a:r>
              <a:rPr sz="1019" b="0">
                <a:solidFill>
                  <a:srgbClr val="1F2937"/>
                </a:solidFill>
                <a:latin typeface="Calibri"/>
              </a:rPr>
              <a:t>src/http_parser.c</a:t>
            </a:r>
          </a:p>
          <a:p>
            <a:pPr algn="ctr">
              <a:spcAft>
                <a:spcPts val="0"/>
              </a:spcAft>
            </a:pPr>
            <a:r>
              <a:rPr sz="1019" b="0">
                <a:solidFill>
                  <a:srgbClr val="1F2937"/>
                </a:solidFill>
                <a:latin typeface="Calibri"/>
              </a:rPr>
              <a:t>Streaming RFC 9112</a:t>
            </a:r>
          </a:p>
        </p:txBody>
      </p:sp>
      <p:sp>
        <p:nvSpPr>
          <p:cNvPr id="12" name="Rounded Rectangle 11"/>
          <p:cNvSpPr/>
          <p:nvPr/>
        </p:nvSpPr>
        <p:spPr>
          <a:xfrm>
            <a:off x="9070848" y="2377440"/>
            <a:ext cx="1143000" cy="960120"/>
          </a:xfrm>
          <a:prstGeom prst="roundRect">
            <a:avLst>
              <a:gd name="adj" fmla="val 8000"/>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200" b="1">
                <a:solidFill>
                  <a:srgbClr val="0B1F3A"/>
                </a:solidFill>
                <a:latin typeface="Cambria"/>
              </a:rPr>
              <a:t>7. Router</a:t>
            </a:r>
          </a:p>
          <a:p>
            <a:pPr algn="ctr">
              <a:spcAft>
                <a:spcPts val="50"/>
              </a:spcAft>
            </a:pPr>
            <a:r>
              <a:rPr sz="980" b="0">
                <a:solidFill>
                  <a:srgbClr val="1F2937"/>
                </a:solidFill>
                <a:latin typeface="Calibri"/>
              </a:rPr>
              <a:t>src/router.c</a:t>
            </a:r>
          </a:p>
          <a:p>
            <a:pPr algn="ctr">
              <a:spcAft>
                <a:spcPts val="0"/>
              </a:spcAft>
            </a:pPr>
            <a:r>
              <a:rPr sz="980" b="0">
                <a:solidFill>
                  <a:srgbClr val="1F2937"/>
                </a:solidFill>
                <a:latin typeface="Calibri"/>
              </a:rPr>
              <a:t>/health /metrics /echo</a:t>
            </a:r>
          </a:p>
        </p:txBody>
      </p:sp>
      <p:sp>
        <p:nvSpPr>
          <p:cNvPr id="13" name="Rounded Rectangle 12"/>
          <p:cNvSpPr/>
          <p:nvPr/>
        </p:nvSpPr>
        <p:spPr>
          <a:xfrm>
            <a:off x="10405872" y="2377440"/>
            <a:ext cx="1051560" cy="960120"/>
          </a:xfrm>
          <a:prstGeom prst="roundRect">
            <a:avLst>
              <a:gd name="adj" fmla="val 8000"/>
            </a:avLst>
          </a:prstGeom>
          <a:solidFill>
            <a:srgbClr val="E3F3EA"/>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200" b="1">
                <a:solidFill>
                  <a:srgbClr val="2E8B57"/>
                </a:solidFill>
                <a:latin typeface="Cambria"/>
              </a:rPr>
              <a:t>8. Response</a:t>
            </a:r>
          </a:p>
          <a:p>
            <a:pPr algn="ctr">
              <a:spcAft>
                <a:spcPts val="50"/>
              </a:spcAft>
            </a:pPr>
            <a:r>
              <a:rPr sz="980" b="0">
                <a:solidFill>
                  <a:srgbClr val="1F2937"/>
                </a:solidFill>
                <a:latin typeface="Calibri"/>
              </a:rPr>
              <a:t>http_response.c</a:t>
            </a:r>
          </a:p>
          <a:p>
            <a:pPr algn="ctr">
              <a:spcAft>
                <a:spcPts val="0"/>
              </a:spcAft>
            </a:pPr>
            <a:r>
              <a:rPr sz="980" b="0">
                <a:solidFill>
                  <a:srgbClr val="1F2937"/>
                </a:solidFill>
                <a:latin typeface="Calibri"/>
              </a:rPr>
              <a:t>sendfile / writev</a:t>
            </a:r>
          </a:p>
        </p:txBody>
      </p:sp>
      <p:sp>
        <p:nvSpPr>
          <p:cNvPr id="14" name="TextBox 13"/>
          <p:cNvSpPr txBox="1"/>
          <p:nvPr/>
        </p:nvSpPr>
        <p:spPr>
          <a:xfrm>
            <a:off x="1883664" y="2697480"/>
            <a:ext cx="228600" cy="320040"/>
          </a:xfrm>
          <a:prstGeom prst="rect">
            <a:avLst/>
          </a:prstGeom>
          <a:noFill/>
        </p:spPr>
        <p:txBody>
          <a:bodyPr wrap="square" anchor="ctr" lIns="0" tIns="0" rIns="0" bIns="0">
            <a:noAutofit/>
          </a:bodyPr>
          <a:lstStyle/>
          <a:p>
            <a:pPr algn="ctr"/>
            <a:r>
              <a:rPr sz="1300" b="1">
                <a:solidFill>
                  <a:srgbClr val="16325C"/>
                </a:solidFill>
                <a:latin typeface="Calibri"/>
              </a:rPr>
              <a:t>→</a:t>
            </a:r>
          </a:p>
        </p:txBody>
      </p:sp>
      <p:sp>
        <p:nvSpPr>
          <p:cNvPr id="15" name="TextBox 14"/>
          <p:cNvSpPr txBox="1"/>
          <p:nvPr/>
        </p:nvSpPr>
        <p:spPr>
          <a:xfrm>
            <a:off x="3273552" y="2697480"/>
            <a:ext cx="228600" cy="320040"/>
          </a:xfrm>
          <a:prstGeom prst="rect">
            <a:avLst/>
          </a:prstGeom>
          <a:noFill/>
        </p:spPr>
        <p:txBody>
          <a:bodyPr wrap="square" anchor="ctr" lIns="0" tIns="0" rIns="0" bIns="0">
            <a:noAutofit/>
          </a:bodyPr>
          <a:lstStyle/>
          <a:p>
            <a:pPr algn="ctr"/>
            <a:r>
              <a:rPr sz="1300" b="1">
                <a:solidFill>
                  <a:srgbClr val="16325C"/>
                </a:solidFill>
                <a:latin typeface="Calibri"/>
              </a:rPr>
              <a:t>→</a:t>
            </a:r>
          </a:p>
        </p:txBody>
      </p:sp>
      <p:sp>
        <p:nvSpPr>
          <p:cNvPr id="16" name="TextBox 15"/>
          <p:cNvSpPr txBox="1"/>
          <p:nvPr/>
        </p:nvSpPr>
        <p:spPr>
          <a:xfrm>
            <a:off x="4663440" y="2697480"/>
            <a:ext cx="228600" cy="320040"/>
          </a:xfrm>
          <a:prstGeom prst="rect">
            <a:avLst/>
          </a:prstGeom>
          <a:noFill/>
        </p:spPr>
        <p:txBody>
          <a:bodyPr wrap="square" anchor="ctr" lIns="0" tIns="0" rIns="0" bIns="0">
            <a:noAutofit/>
          </a:bodyPr>
          <a:lstStyle/>
          <a:p>
            <a:pPr algn="ctr"/>
            <a:r>
              <a:rPr sz="1300" b="1">
                <a:solidFill>
                  <a:srgbClr val="16325C"/>
                </a:solidFill>
                <a:latin typeface="Calibri"/>
              </a:rPr>
              <a:t>→</a:t>
            </a:r>
          </a:p>
        </p:txBody>
      </p:sp>
      <p:sp>
        <p:nvSpPr>
          <p:cNvPr id="17" name="TextBox 16"/>
          <p:cNvSpPr txBox="1"/>
          <p:nvPr/>
        </p:nvSpPr>
        <p:spPr>
          <a:xfrm>
            <a:off x="6053328" y="2697480"/>
            <a:ext cx="228600" cy="320040"/>
          </a:xfrm>
          <a:prstGeom prst="rect">
            <a:avLst/>
          </a:prstGeom>
          <a:noFill/>
        </p:spPr>
        <p:txBody>
          <a:bodyPr wrap="square" anchor="ctr" lIns="0" tIns="0" rIns="0" bIns="0">
            <a:noAutofit/>
          </a:bodyPr>
          <a:lstStyle/>
          <a:p>
            <a:pPr algn="ctr"/>
            <a:r>
              <a:rPr sz="1300" b="1">
                <a:solidFill>
                  <a:srgbClr val="16325C"/>
                </a:solidFill>
                <a:latin typeface="Calibri"/>
              </a:rPr>
              <a:t>→</a:t>
            </a:r>
          </a:p>
        </p:txBody>
      </p:sp>
      <p:sp>
        <p:nvSpPr>
          <p:cNvPr id="18" name="TextBox 17"/>
          <p:cNvSpPr txBox="1"/>
          <p:nvPr/>
        </p:nvSpPr>
        <p:spPr>
          <a:xfrm>
            <a:off x="7443216" y="2697480"/>
            <a:ext cx="228600" cy="320040"/>
          </a:xfrm>
          <a:prstGeom prst="rect">
            <a:avLst/>
          </a:prstGeom>
          <a:noFill/>
        </p:spPr>
        <p:txBody>
          <a:bodyPr wrap="square" anchor="ctr" lIns="0" tIns="0" rIns="0" bIns="0">
            <a:noAutofit/>
          </a:bodyPr>
          <a:lstStyle/>
          <a:p>
            <a:pPr algn="ctr"/>
            <a:r>
              <a:rPr sz="1300" b="1">
                <a:solidFill>
                  <a:srgbClr val="16325C"/>
                </a:solidFill>
                <a:latin typeface="Calibri"/>
              </a:rPr>
              <a:t>→</a:t>
            </a:r>
          </a:p>
        </p:txBody>
      </p:sp>
      <p:sp>
        <p:nvSpPr>
          <p:cNvPr id="19" name="TextBox 18"/>
          <p:cNvSpPr txBox="1"/>
          <p:nvPr/>
        </p:nvSpPr>
        <p:spPr>
          <a:xfrm>
            <a:off x="8833104" y="2697480"/>
            <a:ext cx="228600" cy="320040"/>
          </a:xfrm>
          <a:prstGeom prst="rect">
            <a:avLst/>
          </a:prstGeom>
          <a:noFill/>
        </p:spPr>
        <p:txBody>
          <a:bodyPr wrap="square" anchor="ctr" lIns="0" tIns="0" rIns="0" bIns="0">
            <a:noAutofit/>
          </a:bodyPr>
          <a:lstStyle/>
          <a:p>
            <a:pPr algn="ctr"/>
            <a:r>
              <a:rPr sz="1300" b="1">
                <a:solidFill>
                  <a:srgbClr val="16325C"/>
                </a:solidFill>
                <a:latin typeface="Calibri"/>
              </a:rPr>
              <a:t>→</a:t>
            </a:r>
          </a:p>
        </p:txBody>
      </p:sp>
      <p:sp>
        <p:nvSpPr>
          <p:cNvPr id="20" name="TextBox 19"/>
          <p:cNvSpPr txBox="1"/>
          <p:nvPr/>
        </p:nvSpPr>
        <p:spPr>
          <a:xfrm>
            <a:off x="10195560" y="2697480"/>
            <a:ext cx="228600" cy="320040"/>
          </a:xfrm>
          <a:prstGeom prst="rect">
            <a:avLst/>
          </a:prstGeom>
          <a:noFill/>
        </p:spPr>
        <p:txBody>
          <a:bodyPr wrap="square" anchor="ctr" lIns="0" tIns="0" rIns="0" bIns="0">
            <a:noAutofit/>
          </a:bodyPr>
          <a:lstStyle/>
          <a:p>
            <a:pPr algn="ctr"/>
            <a:r>
              <a:rPr sz="1300" b="1">
                <a:solidFill>
                  <a:srgbClr val="16325C"/>
                </a:solidFill>
                <a:latin typeface="Calibri"/>
              </a:rPr>
              <a:t>→</a:t>
            </a:r>
          </a:p>
        </p:txBody>
      </p:sp>
      <p:sp>
        <p:nvSpPr>
          <p:cNvPr id="21" name="TextBox 20"/>
          <p:cNvSpPr txBox="1"/>
          <p:nvPr/>
        </p:nvSpPr>
        <p:spPr>
          <a:xfrm>
            <a:off x="758952" y="3429000"/>
            <a:ext cx="10607040" cy="548640"/>
          </a:xfrm>
          <a:prstGeom prst="rect">
            <a:avLst/>
          </a:prstGeom>
          <a:noFill/>
        </p:spPr>
        <p:txBody>
          <a:bodyPr wrap="square" anchor="t" lIns="0" tIns="0" rIns="0" bIns="0">
            <a:noAutofit/>
          </a:bodyPr>
          <a:lstStyle/>
          <a:p>
            <a:r>
              <a:rPr sz="1220" b="1">
                <a:solidFill>
                  <a:srgbClr val="C8453B"/>
                </a:solidFill>
                <a:latin typeface="Calibri"/>
              </a:rPr>
              <a:t>Early Rejection Path: If QLAAC Gate (3) is in OVERLOAD—or if FIFO Queue (4) is 64/64 full—the listener immediately writes HTTP/1.1 503 Service Unavailable with Connection: close and Retry-After: 5, then performs a 50 ms lingering close.</a:t>
            </a:r>
          </a:p>
        </p:txBody>
      </p:sp>
      <p:sp>
        <p:nvSpPr>
          <p:cNvPr id="22" name="Rounded Rectangle 21"/>
          <p:cNvSpPr/>
          <p:nvPr/>
        </p:nvSpPr>
        <p:spPr>
          <a:xfrm>
            <a:off x="594360" y="4206240"/>
            <a:ext cx="11002975" cy="1965960"/>
          </a:xfrm>
          <a:prstGeom prst="roundRect">
            <a:avLst>
              <a:gd name="adj" fmla="val 4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952" y="4279392"/>
            <a:ext cx="10607040" cy="292608"/>
          </a:xfrm>
          <a:prstGeom prst="rect">
            <a:avLst/>
          </a:prstGeom>
          <a:noFill/>
        </p:spPr>
        <p:txBody>
          <a:bodyPr wrap="square" anchor="t" lIns="0" tIns="0" rIns="0" bIns="0">
            <a:noAutofit/>
          </a:bodyPr>
          <a:lstStyle/>
          <a:p>
            <a:r>
              <a:rPr sz="1150" b="1">
                <a:solidFill>
                  <a:srgbClr val="0E9AA7"/>
                </a:solidFill>
                <a:latin typeface="Calibri"/>
              </a:rPr>
              <a:t>ASYNCHRONOUS TELEMETRY &amp; CLOSED-LOOP FEEDBACK PATH (1,000 ms SAMPLING WINDOW)</a:t>
            </a:r>
          </a:p>
        </p:txBody>
      </p:sp>
      <p:sp>
        <p:nvSpPr>
          <p:cNvPr id="24" name="Rounded Rectangle 23"/>
          <p:cNvSpPr/>
          <p:nvPr/>
        </p:nvSpPr>
        <p:spPr>
          <a:xfrm>
            <a:off x="777240" y="4663440"/>
            <a:ext cx="3154680" cy="1325880"/>
          </a:xfrm>
          <a:prstGeom prst="roundRect">
            <a:avLst>
              <a:gd name="adj" fmla="val 8000"/>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350" b="1">
                <a:solidFill>
                  <a:srgbClr val="0B1F3A"/>
                </a:solidFill>
                <a:latin typeface="Cambria"/>
              </a:rPr>
              <a:t>9. Metrics Collector (src/metrics.c)</a:t>
            </a:r>
          </a:p>
          <a:p>
            <a:pPr algn="ctr">
              <a:spcAft>
                <a:spcPts val="50"/>
              </a:spcAft>
            </a:pPr>
            <a:r>
              <a:rPr sz="1100" b="0">
                <a:solidFill>
                  <a:srgbClr val="1F2937"/>
                </a:solidFill>
                <a:latin typeface="Calibri"/>
              </a:rPr>
              <a:t>• Records 2xx–5xx counters &amp; active workers</a:t>
            </a:r>
          </a:p>
          <a:p>
            <a:pPr algn="ctr">
              <a:spcAft>
                <a:spcPts val="50"/>
              </a:spcAft>
            </a:pPr>
            <a:r>
              <a:rPr sz="1100" b="0">
                <a:solidFill>
                  <a:srgbClr val="1F2937"/>
                </a:solidFill>
                <a:latin typeface="Calibri"/>
              </a:rPr>
              <a:t>• 1,024-sample (5 s) proc-latency reservoir</a:t>
            </a:r>
          </a:p>
          <a:p>
            <a:pPr algn="ctr">
              <a:spcAft>
                <a:spcPts val="0"/>
              </a:spcAft>
            </a:pPr>
            <a:r>
              <a:rPr sz="1100" b="0">
                <a:solidFill>
                  <a:srgbClr val="1F2937"/>
                </a:solidFill>
                <a:latin typeface="Calibri"/>
              </a:rPr>
              <a:t>• 1,024-sample (5 s) queue-wait reservoir</a:t>
            </a:r>
          </a:p>
        </p:txBody>
      </p:sp>
      <p:sp>
        <p:nvSpPr>
          <p:cNvPr id="25" name="TextBox 24"/>
          <p:cNvSpPr txBox="1"/>
          <p:nvPr/>
        </p:nvSpPr>
        <p:spPr>
          <a:xfrm>
            <a:off x="3977639" y="5166360"/>
            <a:ext cx="365760" cy="365760"/>
          </a:xfrm>
          <a:prstGeom prst="rect">
            <a:avLst/>
          </a:prstGeom>
          <a:noFill/>
        </p:spPr>
        <p:txBody>
          <a:bodyPr wrap="square" anchor="ctr" lIns="0" tIns="0" rIns="0" bIns="0">
            <a:noAutofit/>
          </a:bodyPr>
          <a:lstStyle/>
          <a:p>
            <a:pPr algn="ctr"/>
            <a:r>
              <a:rPr sz="1800" b="1">
                <a:solidFill>
                  <a:srgbClr val="0E9AA7"/>
                </a:solidFill>
                <a:latin typeface="Calibri"/>
              </a:rPr>
              <a:t>→</a:t>
            </a:r>
          </a:p>
        </p:txBody>
      </p:sp>
      <p:sp>
        <p:nvSpPr>
          <p:cNvPr id="26" name="Rounded Rectangle 25"/>
          <p:cNvSpPr/>
          <p:nvPr/>
        </p:nvSpPr>
        <p:spPr>
          <a:xfrm>
            <a:off x="4389120" y="4663440"/>
            <a:ext cx="3337560" cy="1325880"/>
          </a:xfrm>
          <a:prstGeom prst="roundRect">
            <a:avLst>
              <a:gd name="adj" fmla="val 8000"/>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350" b="1">
                <a:solidFill>
                  <a:srgbClr val="0E9AA7"/>
                </a:solidFill>
                <a:latin typeface="Cambria"/>
              </a:rPr>
              <a:t>10. Sampler Thread (src/server.c)</a:t>
            </a:r>
          </a:p>
          <a:p>
            <a:pPr algn="ctr">
              <a:spcAft>
                <a:spcPts val="50"/>
              </a:spcAft>
            </a:pPr>
            <a:r>
              <a:rPr sz="1100" b="0">
                <a:solidFill>
                  <a:srgbClr val="1F2937"/>
                </a:solidFill>
                <a:latin typeface="Calibri"/>
              </a:rPr>
              <a:t>• Wakes every 1,000 ms (50 ms slices)</a:t>
            </a:r>
          </a:p>
          <a:p>
            <a:pPr algn="ctr">
              <a:spcAft>
                <a:spcPts val="50"/>
              </a:spcAft>
            </a:pPr>
            <a:r>
              <a:rPr sz="1100" b="0">
                <a:solidFill>
                  <a:srgbClr val="1F2937"/>
                </a:solidFill>
                <a:latin typeface="Calibri"/>
              </a:rPr>
              <a:t>• Reads u = active/4, q = depth/64</a:t>
            </a:r>
          </a:p>
          <a:p>
            <a:pPr algn="ctr">
              <a:spcAft>
                <a:spcPts val="0"/>
              </a:spcAft>
            </a:pPr>
            <a:r>
              <a:rPr sz="1100" b="0">
                <a:solidFill>
                  <a:srgbClr val="1F2937"/>
                </a:solidFill>
                <a:latin typeface="Calibri"/>
              </a:rPr>
              <a:t>• Computes p95_proc_ms &amp; p95_qwait_ms</a:t>
            </a:r>
          </a:p>
        </p:txBody>
      </p:sp>
      <p:sp>
        <p:nvSpPr>
          <p:cNvPr id="27" name="TextBox 26"/>
          <p:cNvSpPr txBox="1"/>
          <p:nvPr/>
        </p:nvSpPr>
        <p:spPr>
          <a:xfrm>
            <a:off x="7772400" y="5166360"/>
            <a:ext cx="365760" cy="365760"/>
          </a:xfrm>
          <a:prstGeom prst="rect">
            <a:avLst/>
          </a:prstGeom>
          <a:noFill/>
        </p:spPr>
        <p:txBody>
          <a:bodyPr wrap="square" anchor="ctr" lIns="0" tIns="0" rIns="0" bIns="0">
            <a:noAutofit/>
          </a:bodyPr>
          <a:lstStyle/>
          <a:p>
            <a:pPr algn="ctr"/>
            <a:r>
              <a:rPr sz="1800" b="1">
                <a:solidFill>
                  <a:srgbClr val="0E9AA7"/>
                </a:solidFill>
                <a:latin typeface="Calibri"/>
              </a:rPr>
              <a:t>→</a:t>
            </a:r>
          </a:p>
        </p:txBody>
      </p:sp>
      <p:sp>
        <p:nvSpPr>
          <p:cNvPr id="28" name="Rounded Rectangle 27"/>
          <p:cNvSpPr/>
          <p:nvPr/>
        </p:nvSpPr>
        <p:spPr>
          <a:xfrm>
            <a:off x="8183879" y="4663440"/>
            <a:ext cx="3246120" cy="1325880"/>
          </a:xfrm>
          <a:prstGeom prst="roundRect">
            <a:avLst>
              <a:gd name="adj" fmla="val 8000"/>
            </a:avLst>
          </a:prstGeom>
          <a:solidFill>
            <a:srgbClr val="DDF2F4"/>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350" b="1">
                <a:solidFill>
                  <a:srgbClr val="0B1F3A"/>
                </a:solidFill>
                <a:latin typeface="Cambria"/>
              </a:rPr>
              <a:t>11. QLAAC State &amp; Actuation</a:t>
            </a:r>
          </a:p>
          <a:p>
            <a:pPr algn="ctr">
              <a:spcAft>
                <a:spcPts val="50"/>
              </a:spcAft>
            </a:pPr>
            <a:r>
              <a:rPr sz="1100" b="0">
                <a:solidFill>
                  <a:srgbClr val="1F2937"/>
                </a:solidFill>
                <a:latin typeface="Calibri"/>
              </a:rPr>
              <a:t>• Updates NORMAL / CAUTION / OVERLOAD</a:t>
            </a:r>
          </a:p>
          <a:p>
            <a:pPr algn="ctr">
              <a:spcAft>
                <a:spcPts val="50"/>
              </a:spcAft>
            </a:pPr>
            <a:r>
              <a:rPr sz="1100" b="0">
                <a:solidFill>
                  <a:srgbClr val="1F2937"/>
                </a:solidFill>
                <a:latin typeface="Calibri"/>
              </a:rPr>
              <a:t>• Steers Gate (3) &amp; Workers (5) via get_state()</a:t>
            </a:r>
          </a:p>
          <a:p>
            <a:pPr algn="ctr">
              <a:spcAft>
                <a:spcPts val="0"/>
              </a:spcAft>
            </a:pPr>
            <a:r>
              <a:rPr sz="1100" b="0">
                <a:solidFill>
                  <a:srgbClr val="1F2937"/>
                </a:solidFill>
                <a:latin typeface="Calibri"/>
              </a:rPr>
              <a:t>• Exports live JSON snapshot on GET /metrics</a:t>
            </a:r>
          </a:p>
        </p:txBody>
      </p:sp>
      <p:sp>
        <p:nvSpPr>
          <p:cNvPr id="29" name="TextBox 28"/>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3.1 &amp; Figure 3.1 (p. 12); src/server.c, src/thread_pool.c</a:t>
            </a:r>
          </a:p>
        </p:txBody>
      </p:sp>
      <p:sp>
        <p:nvSpPr>
          <p:cNvPr id="30" name="TextBox 29"/>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5 · ARCHITECTURE OR ALGORITHM</a:t>
            </a:r>
          </a:p>
          <a:p>
            <a:pPr algn="l">
              <a:spcAft>
                <a:spcPts val="300"/>
              </a:spcAft>
            </a:pPr>
            <a:r>
              <a:rPr sz="2700" b="1">
                <a:solidFill>
                  <a:srgbClr val="0B1F3A"/>
                </a:solidFill>
                <a:latin typeface="Cambria"/>
              </a:rPr>
              <a:t>QLAAC State Machine, Thresholds &amp; Moderate-Queue Logic</a:t>
            </a:r>
          </a:p>
          <a:p>
            <a:pPr algn="l"/>
            <a:r>
              <a:rPr sz="1500" b="0">
                <a:solidFill>
                  <a:srgbClr val="5B6676"/>
                </a:solidFill>
                <a:latin typeface="Calibri"/>
              </a:rPr>
              <a:t>Three-state transition rules (Figure 3.2), configured thresholds (Table 3.1), and why C = 32 stays in CAUTION</a:t>
            </a:r>
          </a:p>
        </p:txBody>
      </p:sp>
      <p:sp>
        <p:nvSpPr>
          <p:cNvPr id="4" name="Rounded Rectangle 3"/>
          <p:cNvSpPr/>
          <p:nvPr/>
        </p:nvSpPr>
        <p:spPr>
          <a:xfrm>
            <a:off x="594360" y="1965960"/>
            <a:ext cx="3154680" cy="1417320"/>
          </a:xfrm>
          <a:prstGeom prst="roundRect">
            <a:avLst>
              <a:gd name="adj" fmla="val 8000"/>
            </a:avLst>
          </a:prstGeom>
          <a:solidFill>
            <a:srgbClr val="E3F3EA"/>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450" b="1">
                <a:solidFill>
                  <a:srgbClr val="2E8B57"/>
                </a:solidFill>
                <a:latin typeface="Cambria"/>
              </a:rPr>
              <a:t>NORMAL State (Green)</a:t>
            </a:r>
          </a:p>
          <a:p>
            <a:pPr algn="ctr">
              <a:spcAft>
                <a:spcPts val="50"/>
              </a:spcAft>
            </a:pPr>
            <a:r>
              <a:rPr sz="1120" b="0">
                <a:solidFill>
                  <a:srgbClr val="1F2937"/>
                </a:solidFill>
                <a:latin typeface="Calibri"/>
              </a:rPr>
              <a:t>• Admit all sockets (if queue &lt; 64)</a:t>
            </a:r>
          </a:p>
          <a:p>
            <a:pPr algn="ctr">
              <a:spcAft>
                <a:spcPts val="50"/>
              </a:spcAft>
            </a:pPr>
            <a:r>
              <a:rPr sz="1120" b="0">
                <a:solidFill>
                  <a:srgbClr val="1F2937"/>
                </a:solidFill>
                <a:latin typeface="Calibri"/>
              </a:rPr>
              <a:t>• Keep-Alive: ≤ 100 reqs, 5 s idle</a:t>
            </a:r>
          </a:p>
          <a:p>
            <a:pPr algn="ctr">
              <a:spcAft>
                <a:spcPts val="0"/>
              </a:spcAft>
            </a:pPr>
            <a:r>
              <a:rPr sz="1120" b="0">
                <a:solidFill>
                  <a:srgbClr val="1F2937"/>
                </a:solidFill>
                <a:latin typeface="Calibri"/>
              </a:rPr>
              <a:t>• Active at C = 2 &amp; C = 8 (q &lt; 0.20)</a:t>
            </a:r>
          </a:p>
        </p:txBody>
      </p:sp>
      <p:sp>
        <p:nvSpPr>
          <p:cNvPr id="5" name="TextBox 4"/>
          <p:cNvSpPr txBox="1"/>
          <p:nvPr/>
        </p:nvSpPr>
        <p:spPr>
          <a:xfrm>
            <a:off x="3794760" y="2267712"/>
            <a:ext cx="685800" cy="329184"/>
          </a:xfrm>
          <a:prstGeom prst="rect">
            <a:avLst/>
          </a:prstGeom>
          <a:noFill/>
        </p:spPr>
        <p:txBody>
          <a:bodyPr wrap="square" anchor="ctr" lIns="0" tIns="0" rIns="0" bIns="0">
            <a:noAutofit/>
          </a:bodyPr>
          <a:lstStyle/>
          <a:p>
            <a:pPr algn="ctr"/>
            <a:r>
              <a:rPr sz="1100" b="1">
                <a:solidFill>
                  <a:srgbClr val="9A5B00"/>
                </a:solidFill>
                <a:latin typeface="Calibri"/>
              </a:rPr>
              <a:t>Escalate →</a:t>
            </a:r>
          </a:p>
        </p:txBody>
      </p:sp>
      <p:sp>
        <p:nvSpPr>
          <p:cNvPr id="6" name="TextBox 5"/>
          <p:cNvSpPr txBox="1"/>
          <p:nvPr/>
        </p:nvSpPr>
        <p:spPr>
          <a:xfrm>
            <a:off x="3794760" y="2697480"/>
            <a:ext cx="685800" cy="329184"/>
          </a:xfrm>
          <a:prstGeom prst="rect">
            <a:avLst/>
          </a:prstGeom>
          <a:noFill/>
        </p:spPr>
        <p:txBody>
          <a:bodyPr wrap="square" anchor="ctr" lIns="0" tIns="0" rIns="0" bIns="0">
            <a:noAutofit/>
          </a:bodyPr>
          <a:lstStyle/>
          <a:p>
            <a:pPr algn="ctr"/>
            <a:r>
              <a:rPr sz="1050" b="1">
                <a:solidFill>
                  <a:srgbClr val="2E8B57"/>
                </a:solidFill>
                <a:latin typeface="Calibri"/>
              </a:rPr>
              <a:t>← 5 Windows</a:t>
            </a:r>
          </a:p>
        </p:txBody>
      </p:sp>
      <p:sp>
        <p:nvSpPr>
          <p:cNvPr id="7" name="Rounded Rectangle 6"/>
          <p:cNvSpPr/>
          <p:nvPr/>
        </p:nvSpPr>
        <p:spPr>
          <a:xfrm>
            <a:off x="4526280" y="1965960"/>
            <a:ext cx="3154680" cy="1417320"/>
          </a:xfrm>
          <a:prstGeom prst="roundRect">
            <a:avLst>
              <a:gd name="adj" fmla="val 8000"/>
            </a:avLst>
          </a:prstGeom>
          <a:solidFill>
            <a:srgbClr val="FCF1D9"/>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450" b="1">
                <a:solidFill>
                  <a:srgbClr val="9A5B00"/>
                </a:solidFill>
                <a:latin typeface="Cambria"/>
              </a:rPr>
              <a:t>CAUTION State (Amber)</a:t>
            </a:r>
          </a:p>
          <a:p>
            <a:pPr algn="ctr">
              <a:spcAft>
                <a:spcPts val="50"/>
              </a:spcAft>
            </a:pPr>
            <a:r>
              <a:rPr sz="1120" b="0">
                <a:solidFill>
                  <a:srgbClr val="1F2937"/>
                </a:solidFill>
                <a:latin typeface="Calibri"/>
              </a:rPr>
              <a:t>• Admit all sockets (0 HTTP 503s!)</a:t>
            </a:r>
          </a:p>
          <a:p>
            <a:pPr algn="ctr">
              <a:spcAft>
                <a:spcPts val="50"/>
              </a:spcAft>
            </a:pPr>
            <a:r>
              <a:rPr sz="1120" b="0">
                <a:solidFill>
                  <a:srgbClr val="1F2937"/>
                </a:solidFill>
                <a:latin typeface="Calibri"/>
              </a:rPr>
              <a:t>• Fair Sharing: ≤ 16 reqs, 2 s idle</a:t>
            </a:r>
          </a:p>
          <a:p>
            <a:pPr algn="ctr">
              <a:spcAft>
                <a:spcPts val="0"/>
              </a:spcAft>
            </a:pPr>
            <a:r>
              <a:rPr sz="1120" b="0">
                <a:solidFill>
                  <a:srgbClr val="1F2937"/>
                </a:solidFill>
                <a:latin typeface="Calibri"/>
              </a:rPr>
              <a:t>• Active at C = 32 (q = 0.44, qw ~200 ms)</a:t>
            </a:r>
          </a:p>
        </p:txBody>
      </p:sp>
      <p:sp>
        <p:nvSpPr>
          <p:cNvPr id="8" name="TextBox 7"/>
          <p:cNvSpPr txBox="1"/>
          <p:nvPr/>
        </p:nvSpPr>
        <p:spPr>
          <a:xfrm>
            <a:off x="7726679" y="2267712"/>
            <a:ext cx="685800" cy="329184"/>
          </a:xfrm>
          <a:prstGeom prst="rect">
            <a:avLst/>
          </a:prstGeom>
          <a:noFill/>
        </p:spPr>
        <p:txBody>
          <a:bodyPr wrap="square" anchor="ctr" lIns="0" tIns="0" rIns="0" bIns="0">
            <a:noAutofit/>
          </a:bodyPr>
          <a:lstStyle/>
          <a:p>
            <a:pPr algn="ctr"/>
            <a:r>
              <a:rPr sz="1100" b="1">
                <a:solidFill>
                  <a:srgbClr val="C8453B"/>
                </a:solidFill>
                <a:latin typeface="Calibri"/>
              </a:rPr>
              <a:t>Escalate →</a:t>
            </a:r>
          </a:p>
        </p:txBody>
      </p:sp>
      <p:sp>
        <p:nvSpPr>
          <p:cNvPr id="9" name="TextBox 8"/>
          <p:cNvSpPr txBox="1"/>
          <p:nvPr/>
        </p:nvSpPr>
        <p:spPr>
          <a:xfrm>
            <a:off x="7726679" y="2697480"/>
            <a:ext cx="685800" cy="329184"/>
          </a:xfrm>
          <a:prstGeom prst="rect">
            <a:avLst/>
          </a:prstGeom>
          <a:noFill/>
        </p:spPr>
        <p:txBody>
          <a:bodyPr wrap="square" anchor="ctr" lIns="0" tIns="0" rIns="0" bIns="0">
            <a:noAutofit/>
          </a:bodyPr>
          <a:lstStyle/>
          <a:p>
            <a:pPr algn="ctr"/>
            <a:r>
              <a:rPr sz="1050" b="1">
                <a:solidFill>
                  <a:srgbClr val="9A5B00"/>
                </a:solidFill>
                <a:latin typeface="Calibri"/>
              </a:rPr>
              <a:t>← 5 Windows</a:t>
            </a:r>
          </a:p>
        </p:txBody>
      </p:sp>
      <p:sp>
        <p:nvSpPr>
          <p:cNvPr id="10" name="Rounded Rectangle 9"/>
          <p:cNvSpPr/>
          <p:nvPr/>
        </p:nvSpPr>
        <p:spPr>
          <a:xfrm>
            <a:off x="8458200" y="1965960"/>
            <a:ext cx="3136392" cy="1417320"/>
          </a:xfrm>
          <a:prstGeom prst="roundRect">
            <a:avLst>
              <a:gd name="adj" fmla="val 8000"/>
            </a:avLst>
          </a:prstGeom>
          <a:solidFill>
            <a:srgbClr val="FBE4E1"/>
          </a:solidFill>
          <a:ln>
            <a:noFill/>
          </a:ln>
          <a:effectLst/>
        </p:spPr>
        <p:style>
          <a:lnRef idx="0">
            <a:schemeClr val="accent1"/>
          </a:lnRef>
          <a:fillRef idx="3">
            <a:schemeClr val="accent1"/>
          </a:fillRef>
          <a:effectRef idx="0">
            <a:schemeClr val="accent1"/>
          </a:effectRef>
          <a:fontRef idx="minor">
            <a:schemeClr val="lt1"/>
          </a:fontRef>
        </p:style>
        <p:txBody>
          <a:bodyPr rtlCol="0" anchor="ctr" wrap="square" lIns="54864" tIns="36576" rIns="54864" bIns="36576">
            <a:noAutofit/>
          </a:bodyPr>
          <a:lstStyle/>
          <a:p>
            <a:pPr algn="ctr">
              <a:spcAft>
                <a:spcPts val="150"/>
              </a:spcAft>
            </a:pPr>
            <a:r>
              <a:rPr sz="1450" b="1">
                <a:solidFill>
                  <a:srgbClr val="C8453B"/>
                </a:solidFill>
                <a:latin typeface="Cambria"/>
              </a:rPr>
              <a:t>OVERLOAD State (Red)</a:t>
            </a:r>
          </a:p>
          <a:p>
            <a:pPr algn="ctr">
              <a:spcAft>
                <a:spcPts val="50"/>
              </a:spcAft>
            </a:pPr>
            <a:r>
              <a:rPr sz="1120" b="0">
                <a:solidFill>
                  <a:srgbClr val="1F2937"/>
                </a:solidFill>
                <a:latin typeface="Calibri"/>
              </a:rPr>
              <a:t>• Accept Gate: 503 + Retry-After: 5</a:t>
            </a:r>
          </a:p>
          <a:p>
            <a:pPr algn="ctr">
              <a:spcAft>
                <a:spcPts val="50"/>
              </a:spcAft>
            </a:pPr>
            <a:r>
              <a:rPr sz="1120" b="0">
                <a:solidFill>
                  <a:srgbClr val="1F2937"/>
                </a:solidFill>
                <a:latin typeface="Calibri"/>
              </a:rPr>
              <a:t>• Held sockets: ≤ 16 reqs, 1 s idle</a:t>
            </a:r>
          </a:p>
          <a:p>
            <a:pPr algn="ctr">
              <a:spcAft>
                <a:spcPts val="0"/>
              </a:spcAft>
            </a:pPr>
            <a:r>
              <a:rPr sz="1120" b="0">
                <a:solidFill>
                  <a:srgbClr val="1F2937"/>
                </a:solidFill>
                <a:latin typeface="Calibri"/>
              </a:rPr>
              <a:t>• Active at C = 64 (q = 60/64 = 0.94)</a:t>
            </a:r>
          </a:p>
        </p:txBody>
      </p:sp>
      <p:graphicFrame>
        <p:nvGraphicFramePr>
          <p:cNvPr id="11" name="Table 10"/>
          <p:cNvGraphicFramePr>
            <a:graphicFrameLocks noGrp="1"/>
          </p:cNvGraphicFramePr>
          <p:nvPr/>
        </p:nvGraphicFramePr>
        <p:xfrm>
          <a:off x="594360" y="3493008"/>
          <a:ext cx="11000232" cy="1024128"/>
        </p:xfrm>
        <a:graphic>
          <a:graphicData uri="http://schemas.openxmlformats.org/drawingml/2006/table">
            <a:tbl>
              <a:tblPr firstRow="1" bandRow="1">
                <a:tableStyleId>{5C22544A-7EE6-4342-B048-85BDC9FD1C3A}</a:tableStyleId>
              </a:tblPr>
              <a:tblGrid>
                <a:gridCol w="2514600"/>
                <a:gridCol w="2423160"/>
                <a:gridCol w="6062472"/>
              </a:tblGrid>
              <a:tr h="146304">
                <a:tc>
                  <a:txBody>
                    <a:bodyPr/>
                    <a:lstStyle/>
                    <a:p>
                      <a:pPr algn="l"/>
                      <a:r>
                        <a:rPr sz="1150" b="1">
                          <a:solidFill>
                            <a:srgbClr val="FFFFFF"/>
                          </a:solidFill>
                          <a:latin typeface="Calibri"/>
                        </a:rPr>
                        <a:t>Signal / Parameter</a:t>
                      </a:r>
                    </a:p>
                  </a:txBody>
                  <a:tcPr anchor="ctr" marL="54864" marR="54864" marT="27432" marB="27432">
                    <a:solidFill>
                      <a:srgbClr val="0B1F3A"/>
                    </a:solidFill>
                  </a:tcPr>
                </a:tc>
                <a:tc>
                  <a:txBody>
                    <a:bodyPr/>
                    <a:lstStyle/>
                    <a:p>
                      <a:pPr algn="l"/>
                      <a:r>
                        <a:rPr sz="1150" b="1">
                          <a:solidFill>
                            <a:srgbClr val="FFFFFF"/>
                          </a:solidFill>
                          <a:latin typeface="Calibri"/>
                        </a:rPr>
                        <a:t>Configured Threshold (Table 3.1)</a:t>
                      </a:r>
                    </a:p>
                  </a:txBody>
                  <a:tcPr anchor="ctr" marL="54864" marR="54864" marT="27432" marB="27432">
                    <a:solidFill>
                      <a:srgbClr val="0B1F3A"/>
                    </a:solidFill>
                  </a:tcPr>
                </a:tc>
                <a:tc>
                  <a:txBody>
                    <a:bodyPr/>
                    <a:lstStyle/>
                    <a:p>
                      <a:pPr algn="l"/>
                      <a:r>
                        <a:rPr sz="1150" b="1">
                          <a:solidFill>
                            <a:srgbClr val="FFFFFF"/>
                          </a:solidFill>
                          <a:latin typeface="Calibri"/>
                        </a:rPr>
                        <a:t>Role in adaptive_controller_update_queue_aware() &amp; Design Rationale</a:t>
                      </a:r>
                    </a:p>
                  </a:txBody>
                  <a:tcPr anchor="ctr" marL="54864" marR="54864" marT="27432" marB="27432">
                    <a:solidFill>
                      <a:srgbClr val="0B1F3A"/>
                    </a:solidFill>
                  </a:tcPr>
                </a:tc>
              </a:tr>
              <a:tr h="146304">
                <a:tc>
                  <a:txBody>
                    <a:bodyPr/>
                    <a:lstStyle/>
                    <a:p>
                      <a:pPr algn="l"/>
                      <a:r>
                        <a:rPr sz="1050" b="1">
                          <a:solidFill>
                            <a:srgbClr val="1F2937"/>
                          </a:solidFill>
                          <a:latin typeface="Calibri"/>
                        </a:rPr>
                        <a:t>Worker utilisation u</a:t>
                      </a:r>
                    </a:p>
                  </a:txBody>
                  <a:tcPr anchor="ctr" marL="54864" marR="54864" marT="27432" marB="27432">
                    <a:solidFill>
                      <a:srgbClr val="F3F6F9"/>
                    </a:solidFill>
                  </a:tcPr>
                </a:tc>
                <a:tc>
                  <a:txBody>
                    <a:bodyPr/>
                    <a:lstStyle/>
                    <a:p>
                      <a:pPr algn="l"/>
                      <a:r>
                        <a:rPr sz="1050" b="0">
                          <a:solidFill>
                            <a:srgbClr val="1F2937"/>
                          </a:solidFill>
                          <a:latin typeface="Calibri"/>
                        </a:rPr>
                        <a:t>caution ≥ 0.85; saturated ≥ 1.00</a:t>
                      </a:r>
                    </a:p>
                  </a:txBody>
                  <a:tcPr anchor="ctr" marL="54864" marR="54864" marT="27432" marB="27432">
                    <a:solidFill>
                      <a:srgbClr val="F3F6F9"/>
                    </a:solidFill>
                  </a:tcPr>
                </a:tc>
                <a:tc>
                  <a:txBody>
                    <a:bodyPr/>
                    <a:lstStyle/>
                    <a:p>
                      <a:pPr algn="l"/>
                      <a:r>
                        <a:rPr sz="1050" b="0">
                          <a:solidFill>
                            <a:srgbClr val="1F2937"/>
                          </a:solidFill>
                          <a:latin typeface="Calibri"/>
                        </a:rPr>
                        <a:t>Active workers ÷ 4. Never triggers CAUTION/OVERLOAD alone; requires queue (q ≥ 0.50/0.70) or latency evidence</a:t>
                      </a:r>
                    </a:p>
                  </a:txBody>
                  <a:tcPr anchor="ctr" marL="54864" marR="54864" marT="27432" marB="27432">
                    <a:solidFill>
                      <a:srgbClr val="F3F6F9"/>
                    </a:solidFill>
                  </a:tcPr>
                </a:tc>
              </a:tr>
              <a:tr h="146304">
                <a:tc>
                  <a:txBody>
                    <a:bodyPr/>
                    <a:lstStyle/>
                    <a:p>
                      <a:pPr algn="l"/>
                      <a:r>
                        <a:rPr sz="1050" b="1">
                          <a:solidFill>
                            <a:srgbClr val="1F2937"/>
                          </a:solidFill>
                          <a:latin typeface="Calibri"/>
                        </a:rPr>
                        <a:t>Queue occupancy q</a:t>
                      </a:r>
                    </a:p>
                  </a:txBody>
                  <a:tcPr anchor="ctr" marL="54864" marR="54864" marT="27432" marB="27432">
                    <a:solidFill>
                      <a:srgbClr val="FFFFFF"/>
                    </a:solidFill>
                  </a:tcPr>
                </a:tc>
                <a:tc>
                  <a:txBody>
                    <a:bodyPr/>
                    <a:lstStyle/>
                    <a:p>
                      <a:pPr algn="l"/>
                      <a:r>
                        <a:rPr sz="1050" b="0">
                          <a:solidFill>
                            <a:srgbClr val="1F2937"/>
                          </a:solidFill>
                          <a:latin typeface="Calibri"/>
                        </a:rPr>
                        <a:t>growing ≥ 0.70 (45/64); critical ≥ 0.90 (58/64)</a:t>
                      </a:r>
                    </a:p>
                  </a:txBody>
                  <a:tcPr anchor="ctr" marL="54864" marR="54864" marT="27432" marB="27432">
                    <a:solidFill>
                      <a:srgbClr val="FFFFFF"/>
                    </a:solidFill>
                  </a:tcPr>
                </a:tc>
                <a:tc>
                  <a:txBody>
                    <a:bodyPr/>
                    <a:lstStyle/>
                    <a:p>
                      <a:pPr algn="l"/>
                      <a:r>
                        <a:rPr sz="1050" b="0">
                          <a:solidFill>
                            <a:srgbClr val="1F2937"/>
                          </a:solidFill>
                          <a:latin typeface="Calibri"/>
                        </a:rPr>
                        <a:t>Current FIFO depth ÷ 64. q ≥ 0.90 triggers immediate OVERLOAD; q ≥ 0.70 gates queue_wait_overload</a:t>
                      </a:r>
                    </a:p>
                  </a:txBody>
                  <a:tcPr anchor="ctr" marL="54864" marR="54864" marT="27432" marB="27432">
                    <a:solidFill>
                      <a:srgbClr val="FFFFFF"/>
                    </a:solidFill>
                  </a:tcPr>
                </a:tc>
              </a:tr>
              <a:tr h="146304">
                <a:tc>
                  <a:txBody>
                    <a:bodyPr/>
                    <a:lstStyle/>
                    <a:p>
                      <a:pPr algn="l"/>
                      <a:r>
                        <a:rPr sz="1050" b="1">
                          <a:solidFill>
                            <a:srgbClr val="1F2937"/>
                          </a:solidFill>
                          <a:latin typeface="Calibri"/>
                        </a:rPr>
                        <a:t>Processing latency p95</a:t>
                      </a:r>
                    </a:p>
                  </a:txBody>
                  <a:tcPr anchor="ctr" marL="54864" marR="54864" marT="27432" marB="27432">
                    <a:solidFill>
                      <a:srgbClr val="F3F6F9"/>
                    </a:solidFill>
                  </a:tcPr>
                </a:tc>
                <a:tc>
                  <a:txBody>
                    <a:bodyPr/>
                    <a:lstStyle/>
                    <a:p>
                      <a:pPr algn="l"/>
                      <a:r>
                        <a:rPr sz="1050" b="0">
                          <a:solidFill>
                            <a:srgbClr val="1F2937"/>
                          </a:solidFill>
                          <a:latin typeface="Calibri"/>
                        </a:rPr>
                        <a:t>elevated ≥ 50 ms; critical ≥ 150 ms</a:t>
                      </a:r>
                    </a:p>
                  </a:txBody>
                  <a:tcPr anchor="ctr" marL="54864" marR="54864" marT="27432" marB="27432">
                    <a:solidFill>
                      <a:srgbClr val="F3F6F9"/>
                    </a:solidFill>
                  </a:tcPr>
                </a:tc>
                <a:tc>
                  <a:txBody>
                    <a:bodyPr/>
                    <a:lstStyle/>
                    <a:p>
                      <a:pPr algn="l"/>
                      <a:r>
                        <a:rPr sz="1050" b="0">
                          <a:solidFill>
                            <a:srgbClr val="1F2937"/>
                          </a:solidFill>
                          <a:latin typeface="Calibri"/>
                        </a:rPr>
                        <a:t>95th percentile of worker request service time over last 5.0 s (1,024-sample rolling reservoir)</a:t>
                      </a:r>
                    </a:p>
                  </a:txBody>
                  <a:tcPr anchor="ctr" marL="54864" marR="54864" marT="27432" marB="27432">
                    <a:solidFill>
                      <a:srgbClr val="F3F6F9"/>
                    </a:solidFill>
                  </a:tcPr>
                </a:tc>
              </a:tr>
              <a:tr h="146304">
                <a:tc>
                  <a:txBody>
                    <a:bodyPr/>
                    <a:lstStyle/>
                    <a:p>
                      <a:pPr algn="l"/>
                      <a:r>
                        <a:rPr sz="1050" b="1">
                          <a:solidFill>
                            <a:srgbClr val="1F2937"/>
                          </a:solidFill>
                          <a:latin typeface="Calibri"/>
                        </a:rPr>
                        <a:t>Queue-wait p95 (gated on q ≥ 0.20)</a:t>
                      </a:r>
                    </a:p>
                  </a:txBody>
                  <a:tcPr anchor="ctr" marL="54864" marR="54864" marT="27432" marB="27432">
                    <a:solidFill>
                      <a:srgbClr val="FFFFFF"/>
                    </a:solidFill>
                  </a:tcPr>
                </a:tc>
                <a:tc>
                  <a:txBody>
                    <a:bodyPr/>
                    <a:lstStyle/>
                    <a:p>
                      <a:pPr algn="l"/>
                      <a:r>
                        <a:rPr sz="1050" b="0">
                          <a:solidFill>
                            <a:srgbClr val="1F2937"/>
                          </a:solidFill>
                          <a:latin typeface="Calibri"/>
                        </a:rPr>
                        <a:t>elevated ≥ 25 ms; critical ≥ 100 ms</a:t>
                      </a:r>
                    </a:p>
                  </a:txBody>
                  <a:tcPr anchor="ctr" marL="54864" marR="54864" marT="27432" marB="27432">
                    <a:solidFill>
                      <a:srgbClr val="FFFFFF"/>
                    </a:solidFill>
                  </a:tcPr>
                </a:tc>
                <a:tc>
                  <a:txBody>
                    <a:bodyPr/>
                    <a:lstStyle/>
                    <a:p>
                      <a:pPr algn="l"/>
                      <a:r>
                        <a:rPr sz="1050" b="0">
                          <a:solidFill>
                            <a:srgbClr val="1F2937"/>
                          </a:solidFill>
                          <a:latin typeface="Calibri"/>
                        </a:rPr>
                        <a:t>95th percentile of enqueue-to-dequeue wait over last 5.0 s; gated on has_queue_presence (q ≥ 0.20) to ignore stale samples</a:t>
                      </a:r>
                    </a:p>
                  </a:txBody>
                  <a:tcPr anchor="ctr" marL="54864" marR="54864" marT="27432" marB="27432">
                    <a:solidFill>
                      <a:srgbClr val="FFFFFF"/>
                    </a:solidFill>
                  </a:tcPr>
                </a:tc>
              </a:tr>
              <a:tr h="146304">
                <a:tc>
                  <a:txBody>
                    <a:bodyPr/>
                    <a:lstStyle/>
                    <a:p>
                      <a:pPr algn="l"/>
                      <a:r>
                        <a:rPr sz="1050" b="1">
                          <a:solidFill>
                            <a:srgbClr val="1F2937"/>
                          </a:solidFill>
                          <a:latin typeface="Calibri"/>
                        </a:rPr>
                        <a:t>Why C = 32 Enters CAUTION, Not OVERLOAD</a:t>
                      </a:r>
                    </a:p>
                  </a:txBody>
                  <a:tcPr anchor="ctr" marL="54864" marR="54864" marT="27432" marB="27432">
                    <a:solidFill>
                      <a:srgbClr val="F3F6F9"/>
                    </a:solidFill>
                  </a:tcPr>
                </a:tc>
                <a:tc>
                  <a:txBody>
                    <a:bodyPr/>
                    <a:lstStyle/>
                    <a:p>
                      <a:pPr algn="l"/>
                      <a:r>
                        <a:rPr sz="1050" b="0">
                          <a:solidFill>
                            <a:srgbClr val="1F2937"/>
                          </a:solidFill>
                          <a:latin typeface="Calibri"/>
                        </a:rPr>
                        <a:t>q = 28/64 = 0.44 (&lt; 0.70), qw_p95 ~200 ms</a:t>
                      </a:r>
                    </a:p>
                  </a:txBody>
                  <a:tcPr anchor="ctr" marL="54864" marR="54864" marT="27432" marB="27432">
                    <a:solidFill>
                      <a:srgbClr val="F3F6F9"/>
                    </a:solidFill>
                  </a:tcPr>
                </a:tc>
                <a:tc>
                  <a:txBody>
                    <a:bodyPr/>
                    <a:lstStyle/>
                    <a:p>
                      <a:pPr algn="l"/>
                      <a:r>
                        <a:rPr sz="1050" b="1">
                          <a:solidFill>
                            <a:srgbClr val="2E8B57"/>
                          </a:solidFill>
                          <a:latin typeface="Calibri"/>
                        </a:rPr>
                        <a:t>Because q &lt; 0.70, critical queue wait classifies as head-of-line keep-alive delay → CAUTION (≤16 reqs, 0 rejections)</a:t>
                      </a:r>
                    </a:p>
                  </a:txBody>
                  <a:tcPr anchor="ctr" marL="54864" marR="54864" marT="27432" marB="27432">
                    <a:solidFill>
                      <a:srgbClr val="E3F3EA"/>
                    </a:solidFill>
                  </a:tcPr>
                </a:tc>
              </a:tr>
              <a:tr h="146304">
                <a:tc>
                  <a:txBody>
                    <a:bodyPr/>
                    <a:lstStyle/>
                    <a:p>
                      <a:pPr algn="l"/>
                      <a:r>
                        <a:rPr sz="1050" b="1">
                          <a:solidFill>
                            <a:srgbClr val="1F2937"/>
                          </a:solidFill>
                          <a:latin typeface="Calibri"/>
                        </a:rPr>
                        <a:t>Sustained-pressure &amp; Recovery windows</a:t>
                      </a:r>
                    </a:p>
                  </a:txBody>
                  <a:tcPr anchor="ctr" marL="54864" marR="54864" marT="27432" marB="27432">
                    <a:solidFill>
                      <a:srgbClr val="FFFFFF"/>
                    </a:solidFill>
                  </a:tcPr>
                </a:tc>
                <a:tc>
                  <a:txBody>
                    <a:bodyPr/>
                    <a:lstStyle/>
                    <a:p>
                      <a:pPr algn="l"/>
                      <a:r>
                        <a:rPr sz="1050" b="0">
                          <a:solidFill>
                            <a:srgbClr val="1F2937"/>
                          </a:solidFill>
                          <a:latin typeface="Calibri"/>
                        </a:rPr>
                        <a:t>3 pressure windows; 5 recovery windows</a:t>
                      </a:r>
                    </a:p>
                  </a:txBody>
                  <a:tcPr anchor="ctr" marL="54864" marR="54864" marT="27432" marB="27432">
                    <a:solidFill>
                      <a:srgbClr val="FFFFFF"/>
                    </a:solidFill>
                  </a:tcPr>
                </a:tc>
                <a:tc>
                  <a:txBody>
                    <a:bodyPr/>
                    <a:lstStyle/>
                    <a:p>
                      <a:pPr algn="l"/>
                      <a:r>
                        <a:rPr sz="1050" b="0">
                          <a:solidFill>
                            <a:srgbClr val="1F2937"/>
                          </a:solidFill>
                          <a:latin typeface="Calibri"/>
                        </a:rPr>
                        <a:t>3 consecutive pressure ticks escalate to OVERLOAD; 5 consecutive healthy 1 s ticks required per single-step de-escalation</a:t>
                      </a:r>
                    </a:p>
                  </a:txBody>
                  <a:tcPr anchor="ctr" marL="54864" marR="54864" marT="27432" marB="27432">
                    <a:solidFill>
                      <a:srgbClr val="FFFFFF"/>
                    </a:solidFill>
                  </a:tcPr>
                </a:tc>
              </a:tr>
            </a:tbl>
          </a:graphicData>
        </a:graphic>
      </p:graphicFrame>
      <p:sp>
        <p:nvSpPr>
          <p:cNvPr id="12" name="TextBox 11"/>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3.3, Table 3.1 &amp; Figure 3.2 (pp. 14–16); src/adaptive_controller.c</a:t>
            </a:r>
          </a:p>
        </p:txBody>
      </p:sp>
      <p:sp>
        <p:nvSpPr>
          <p:cNvPr id="13" name="TextBox 12"/>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5 · ARCHITECTURE OR ALGORITHM</a:t>
            </a:r>
          </a:p>
          <a:p>
            <a:pPr algn="l">
              <a:spcAft>
                <a:spcPts val="300"/>
              </a:spcAft>
            </a:pPr>
            <a:r>
              <a:rPr sz="2700" b="1">
                <a:solidFill>
                  <a:srgbClr val="0B1F3A"/>
                </a:solidFill>
                <a:latin typeface="Cambria"/>
              </a:rPr>
              <a:t>QLAAC Algorithm &amp; Genuine C17 Source Implementation</a:t>
            </a:r>
          </a:p>
          <a:p>
            <a:pPr algn="l"/>
            <a:r>
              <a:rPr sz="1500" b="0">
                <a:solidFill>
                  <a:srgbClr val="5B6676"/>
                </a:solidFill>
                <a:latin typeface="Calibri"/>
              </a:rPr>
              <a:t>Exact correspondence between the controller predicates, listener accept gate, and worker loop (Appendix A.1–A.3)</a:t>
            </a:r>
          </a:p>
        </p:txBody>
      </p:sp>
      <p:sp>
        <p:nvSpPr>
          <p:cNvPr id="4" name="Rounded Rectangle 3"/>
          <p:cNvSpPr/>
          <p:nvPr/>
        </p:nvSpPr>
        <p:spPr>
          <a:xfrm>
            <a:off x="594360" y="2011680"/>
            <a:ext cx="5349240" cy="4160520"/>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22376" y="2084832"/>
            <a:ext cx="5093207" cy="4014215"/>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1. Controller Update: src/adaptive_controller.c (App. A.1)</a:t>
            </a:r>
          </a:p>
          <a:p>
            <a:pPr algn="l">
              <a:spcAft>
                <a:spcPts val="50"/>
              </a:spcAft>
            </a:pPr>
            <a:r>
              <a:rPr sz="980" b="0">
                <a:solidFill>
                  <a:srgbClr val="F8FAFC"/>
                </a:solidFill>
                <a:latin typeface="Consolas"/>
              </a:rPr>
              <a:t>bool has_q = (queue_occupancy_ratio &gt;= 0.20);</a:t>
            </a:r>
          </a:p>
          <a:p>
            <a:pPr algn="l">
              <a:spcAft>
                <a:spcPts val="50"/>
              </a:spcAft>
            </a:pPr>
            <a:r>
              <a:rPr sz="980" b="0">
                <a:solidFill>
                  <a:srgbClr val="F8FAFC"/>
                </a:solidFill>
                <a:latin typeface="Consolas"/>
              </a:rPr>
              <a:t>bool qw_elev = (p95_qw &gt;= cfg-&gt;queue_wait_caution_ms &amp;&amp; has_q);</a:t>
            </a:r>
          </a:p>
          <a:p>
            <a:pPr algn="l">
              <a:spcAft>
                <a:spcPts val="50"/>
              </a:spcAft>
            </a:pPr>
            <a:r>
              <a:rPr sz="980" b="0">
                <a:solidFill>
                  <a:srgbClr val="F8FAFC"/>
                </a:solidFill>
                <a:latin typeface="Consolas"/>
              </a:rPr>
              <a:t>bool qw_crit = (p95_qw &gt;= cfg-&gt;queue_wait_overload_ms &amp;&amp; has_q);</a:t>
            </a:r>
          </a:p>
          <a:p>
            <a:pPr algn="l">
              <a:spcAft>
                <a:spcPts val="50"/>
              </a:spcAft>
            </a:pPr>
            <a:r>
              <a:rPr sz="980" b="0">
                <a:solidFill>
                  <a:srgbClr val="F8FAFC"/>
                </a:solidFill>
                <a:latin typeface="Consolas"/>
              </a:rPr>
              <a:t>bool sust_cand = (worker_saturated &amp;&amp; q_ratio &gt;= 0.50) ||</a:t>
            </a:r>
          </a:p>
          <a:p>
            <a:pPr algn="l">
              <a:spcAft>
                <a:spcPts val="50"/>
              </a:spcAft>
            </a:pPr>
            <a:r>
              <a:rPr sz="980" b="0">
                <a:solidFill>
                  <a:srgbClr val="F8FAFC"/>
                </a:solidFill>
                <a:latin typeface="Consolas"/>
              </a:rPr>
              <a:t>    (queue_growing &amp;&amp; (qw_elev || latency_elevated));</a:t>
            </a:r>
          </a:p>
          <a:p>
            <a:pPr algn="l">
              <a:spcAft>
                <a:spcPts val="50"/>
              </a:spcAft>
            </a:pPr>
            <a:r>
              <a:rPr sz="980" b="0">
                <a:solidFill>
                  <a:srgbClr val="F8FAFC"/>
                </a:solidFill>
                <a:latin typeface="Consolas"/>
              </a:rPr>
              <a:t>bool qw_overload = qw_crit &amp;&amp;</a:t>
            </a:r>
          </a:p>
          <a:p>
            <a:pPr algn="l">
              <a:spcAft>
                <a:spcPts val="50"/>
              </a:spcAft>
            </a:pPr>
            <a:r>
              <a:rPr sz="980" b="0">
                <a:solidFill>
                  <a:srgbClr val="FCA5A5"/>
                </a:solidFill>
                <a:latin typeface="Consolas"/>
              </a:rPr>
              <a:t>    (queue_growing || state == QLAAC_STATE_OVERLOAD);</a:t>
            </a:r>
          </a:p>
          <a:p>
            <a:pPr algn="l">
              <a:spcAft>
                <a:spcPts val="50"/>
              </a:spcAft>
            </a:pPr>
            <a:r>
              <a:rPr sz="980" b="0">
                <a:solidFill>
                  <a:srgbClr val="F8FAFC"/>
                </a:solidFill>
                <a:latin typeface="Consolas"/>
              </a:rPr>
              <a:t>bool is_overload = queue_critical || latency_critical ||</a:t>
            </a:r>
          </a:p>
          <a:p>
            <a:pPr algn="l">
              <a:spcAft>
                <a:spcPts val="50"/>
              </a:spcAft>
            </a:pPr>
            <a:r>
              <a:rPr sz="980" b="0">
                <a:solidFill>
                  <a:srgbClr val="F8FAFC"/>
                </a:solidFill>
                <a:latin typeface="Consolas"/>
              </a:rPr>
              <a:t>    qw_overload || (worker_saturated &amp;&amp; queue_growing) ||</a:t>
            </a:r>
          </a:p>
          <a:p>
            <a:pPr algn="l">
              <a:spcAft>
                <a:spcPts val="50"/>
              </a:spcAft>
            </a:pPr>
            <a:r>
              <a:rPr sz="980" b="0">
                <a:solidFill>
                  <a:srgbClr val="F8FAFC"/>
                </a:solidFill>
                <a:latin typeface="Consolas"/>
              </a:rPr>
              <a:t>    sustained_pressure_overload;</a:t>
            </a:r>
          </a:p>
          <a:p>
            <a:pPr algn="l">
              <a:spcAft>
                <a:spcPts val="50"/>
              </a:spcAft>
            </a:pPr>
            <a:r>
              <a:rPr sz="980" b="0">
                <a:solidFill>
                  <a:srgbClr val="F8FAFC"/>
                </a:solidFill>
                <a:latin typeface="Consolas"/>
              </a:rPr>
              <a:t>bool w_stress_q = (worker_caution || worker_saturated) &amp;&amp;</a:t>
            </a:r>
          </a:p>
          <a:p>
            <a:pPr algn="l">
              <a:spcAft>
                <a:spcPts val="50"/>
              </a:spcAft>
            </a:pPr>
            <a:r>
              <a:rPr sz="980" b="0">
                <a:solidFill>
                  <a:srgbClr val="F8FAFC"/>
                </a:solidFill>
                <a:latin typeface="Consolas"/>
              </a:rPr>
              <a:t>    (q_ratio &gt;= 0.50 || qw_elev || latency_elevated);</a:t>
            </a:r>
          </a:p>
          <a:p>
            <a:pPr algn="l">
              <a:spcAft>
                <a:spcPts val="50"/>
              </a:spcAft>
            </a:pPr>
            <a:r>
              <a:rPr sz="980" b="0">
                <a:solidFill>
                  <a:srgbClr val="F8FAFC"/>
                </a:solidFill>
                <a:latin typeface="Consolas"/>
              </a:rPr>
              <a:t>bool is_caution = is_overload || queue_growing ||</a:t>
            </a:r>
          </a:p>
          <a:p>
            <a:pPr algn="l">
              <a:spcAft>
                <a:spcPts val="0"/>
              </a:spcAft>
            </a:pPr>
            <a:r>
              <a:rPr sz="980" b="0">
                <a:solidFill>
                  <a:srgbClr val="F8FAFC"/>
                </a:solidFill>
                <a:latin typeface="Consolas"/>
              </a:rPr>
              <a:t>    qw_elev || qw_crit || latency_elevated || w_stress_q;</a:t>
            </a:r>
          </a:p>
        </p:txBody>
      </p:sp>
      <p:sp>
        <p:nvSpPr>
          <p:cNvPr id="6" name="Rounded Rectangle 5"/>
          <p:cNvSpPr/>
          <p:nvPr/>
        </p:nvSpPr>
        <p:spPr>
          <a:xfrm>
            <a:off x="6172200" y="2011680"/>
            <a:ext cx="5422392" cy="1993392"/>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00216" y="2084832"/>
            <a:ext cx="5166359" cy="1847088"/>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2. Listener Accept Gate: src/server.c (Appendix A.2)</a:t>
            </a:r>
          </a:p>
          <a:p>
            <a:pPr algn="l">
              <a:spcAft>
                <a:spcPts val="50"/>
              </a:spcAft>
            </a:pPr>
            <a:r>
              <a:rPr sz="960" b="0">
                <a:solidFill>
                  <a:srgbClr val="F8FAFC"/>
                </a:solidFill>
                <a:latin typeface="Consolas"/>
              </a:rPr>
              <a:t>QlaacDecision d = adaptive_controller_evaluate(&amp;ctx-&gt;ctrl);</a:t>
            </a:r>
          </a:p>
          <a:p>
            <a:pPr algn="l">
              <a:spcAft>
                <a:spcPts val="50"/>
              </a:spcAft>
            </a:pPr>
            <a:r>
              <a:rPr sz="960" b="0">
                <a:solidFill>
                  <a:srgbClr val="FCA5A5"/>
                </a:solidFill>
                <a:latin typeface="Consolas"/>
              </a:rPr>
              <a:t>if (d == QLAAC_ACTION_REJECT_OVERLOAD) {</a:t>
            </a:r>
          </a:p>
          <a:p>
            <a:pPr algn="l">
              <a:spcAft>
                <a:spcPts val="50"/>
              </a:spcAft>
            </a:pPr>
            <a:r>
              <a:rPr sz="960" b="0">
                <a:solidFill>
                  <a:srgbClr val="F8FAFC"/>
                </a:solidFill>
                <a:latin typeface="Consolas"/>
              </a:rPr>
              <a:t>    metrics_record_connection_rejected(&amp;ctx-&gt;metrics);</a:t>
            </a:r>
          </a:p>
          <a:p>
            <a:pPr algn="l">
              <a:spcAft>
                <a:spcPts val="50"/>
              </a:spcAft>
            </a:pPr>
            <a:r>
              <a:rPr sz="960" b="0">
                <a:solidFill>
                  <a:srgbClr val="FCA5A5"/>
                </a:solidFill>
                <a:latin typeface="Consolas"/>
              </a:rPr>
              <a:t>    const char *msg_503 = "HTTP/1.1 503 ... Retry-After: 5";</a:t>
            </a:r>
          </a:p>
          <a:p>
            <a:pPr algn="l">
              <a:spcAft>
                <a:spcPts val="50"/>
              </a:spcAft>
            </a:pPr>
            <a:r>
              <a:rPr sz="960" b="0">
                <a:solidFill>
                  <a:srgbClr val="FCA5A5"/>
                </a:solidFill>
                <a:latin typeface="Consolas"/>
              </a:rPr>
              <a:t>    if (tcp_send_all(client.fd, msg_503, len, dl, &amp;s) == 0)</a:t>
            </a:r>
          </a:p>
          <a:p>
            <a:pPr algn="l">
              <a:spcAft>
                <a:spcPts val="50"/>
              </a:spcAft>
            </a:pPr>
            <a:r>
              <a:rPr sz="960" b="0">
                <a:solidFill>
                  <a:srgbClr val="FCA5A5"/>
                </a:solidFill>
                <a:latin typeface="Consolas"/>
              </a:rPr>
              <a:t>        metrics_record_overload_response(&amp;ctx-&gt;metrics, 503, s);</a:t>
            </a:r>
          </a:p>
          <a:p>
            <a:pPr algn="l">
              <a:spcAft>
                <a:spcPts val="50"/>
              </a:spcAft>
            </a:pPr>
            <a:r>
              <a:rPr sz="960" b="0">
                <a:solidFill>
                  <a:srgbClr val="F8FAFC"/>
                </a:solidFill>
                <a:latin typeface="Consolas"/>
              </a:rPr>
              <a:t>    tcp_lingering_close(&amp;client.fd, 50); continue;</a:t>
            </a:r>
          </a:p>
          <a:p>
            <a:pPr algn="l">
              <a:spcAft>
                <a:spcPts val="0"/>
              </a:spcAft>
            </a:pPr>
            <a:r>
              <a:rPr sz="960" b="0">
                <a:solidFill>
                  <a:srgbClr val="F8FAFC"/>
                </a:solidFill>
                <a:latin typeface="Consolas"/>
              </a:rPr>
              <a:t>}</a:t>
            </a:r>
          </a:p>
        </p:txBody>
      </p:sp>
      <p:sp>
        <p:nvSpPr>
          <p:cNvPr id="8" name="Rounded Rectangle 7"/>
          <p:cNvSpPr/>
          <p:nvPr/>
        </p:nvSpPr>
        <p:spPr>
          <a:xfrm>
            <a:off x="6172200" y="4133087"/>
            <a:ext cx="5422392" cy="2039112"/>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300216" y="4206240"/>
            <a:ext cx="5166359" cy="1892807"/>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3. Worker Fair Sharing: src/thread_pool.c (Appendix A.3)</a:t>
            </a:r>
          </a:p>
          <a:p>
            <a:pPr algn="l">
              <a:spcAft>
                <a:spcPts val="50"/>
              </a:spcAft>
            </a:pPr>
            <a:r>
              <a:rPr sz="960" b="0">
                <a:solidFill>
                  <a:srgbClr val="9FB3CC"/>
                </a:solidFill>
                <a:latin typeface="Consolas"/>
              </a:rPr>
              <a:t>/* Side-effect-free query: does NOT increment shed count */</a:t>
            </a:r>
          </a:p>
          <a:p>
            <a:pPr algn="l">
              <a:spcAft>
                <a:spcPts val="50"/>
              </a:spcAft>
            </a:pPr>
            <a:r>
              <a:rPr sz="960" b="0">
                <a:solidFill>
                  <a:srgbClr val="F8FAFC"/>
                </a:solidFill>
                <a:latin typeface="Consolas"/>
              </a:rPr>
              <a:t>QlaacState qs = adaptive_controller_get_state(&amp;ctx-&gt;ctrl);</a:t>
            </a:r>
          </a:p>
          <a:p>
            <a:pPr algn="l">
              <a:spcAft>
                <a:spcPts val="50"/>
              </a:spcAft>
            </a:pPr>
            <a:r>
              <a:rPr sz="960" b="0">
                <a:solidFill>
                  <a:srgbClr val="FCA5A5"/>
                </a:solidFill>
                <a:latin typeface="Consolas"/>
              </a:rPr>
              <a:t>if (adaptive_on &amp;&amp; qs == QLAAC_STATE_OVERLOAD) {</a:t>
            </a:r>
          </a:p>
          <a:p>
            <a:pPr algn="l">
              <a:spcAft>
                <a:spcPts val="50"/>
              </a:spcAft>
            </a:pPr>
            <a:r>
              <a:rPr sz="960" b="0">
                <a:solidFill>
                  <a:srgbClr val="FDE68A"/>
                </a:solidFill>
                <a:latin typeface="Consolas"/>
              </a:rPr>
              <a:t>    keepalive_timeout_sec = 1; max_requests = min(cfg_max, 16);</a:t>
            </a:r>
          </a:p>
          <a:p>
            <a:pPr algn="l">
              <a:spcAft>
                <a:spcPts val="50"/>
              </a:spcAft>
            </a:pPr>
            <a:r>
              <a:rPr sz="960" b="0">
                <a:solidFill>
                  <a:srgbClr val="FDE68A"/>
                </a:solidFill>
                <a:latin typeface="Consolas"/>
              </a:rPr>
              <a:t>} else if (adaptive_on &amp;&amp; qs == QLAAC_STATE_CAUTION) {</a:t>
            </a:r>
          </a:p>
          <a:p>
            <a:pPr algn="l">
              <a:spcAft>
                <a:spcPts val="50"/>
              </a:spcAft>
            </a:pPr>
            <a:r>
              <a:rPr sz="960" b="0">
                <a:solidFill>
                  <a:srgbClr val="FDE68A"/>
                </a:solidFill>
                <a:latin typeface="Consolas"/>
              </a:rPr>
              <a:t>    keepalive_timeout_sec = 2; max_requests = min(cfg_max, 16);</a:t>
            </a:r>
          </a:p>
          <a:p>
            <a:pPr algn="l">
              <a:spcAft>
                <a:spcPts val="0"/>
              </a:spcAft>
            </a:pPr>
            <a:r>
              <a:rPr sz="960" b="0">
                <a:solidFill>
                  <a:srgbClr val="F8FAFC"/>
                </a:solidFill>
                <a:latin typeface="Consolas"/>
              </a:rPr>
              <a:t>} else { /* NORMAL: 5 s idle, up to 100 requests */ }</a:t>
            </a:r>
          </a:p>
        </p:txBody>
      </p:sp>
      <p:sp>
        <p:nvSpPr>
          <p:cNvPr id="10" name="TextBox 9"/>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3.3 (pp. 14–16) &amp; Appendix A.1–A.3 (pp. 41–42)</a:t>
            </a:r>
          </a:p>
        </p:txBody>
      </p:sp>
      <p:sp>
        <p:nvSpPr>
          <p:cNvPr id="11" name="TextBox 10"/>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Raw POSIX TCP Socket I/O, Byte-Stream Framing &amp; sendfile(2)</a:t>
            </a:r>
          </a:p>
          <a:p>
            <a:pPr algn="l"/>
            <a:r>
              <a:rPr sz="1500" b="0">
                <a:solidFill>
                  <a:srgbClr val="5B6676"/>
                </a:solidFill>
                <a:latin typeface="Calibri"/>
              </a:rPr>
              <a:t>Non-blocking descriptors, poll-sliced deadlines, pipelined byte preservation, and zero-copy sendfile fallback</a:t>
            </a:r>
          </a:p>
        </p:txBody>
      </p:sp>
      <p:sp>
        <p:nvSpPr>
          <p:cNvPr id="4" name="Rounded Rectangle 3"/>
          <p:cNvSpPr/>
          <p:nvPr/>
        </p:nvSpPr>
        <p:spPr>
          <a:xfrm>
            <a:off x="594360" y="2011680"/>
            <a:ext cx="5349240" cy="41605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093976"/>
            <a:ext cx="5020055" cy="3995928"/>
          </a:xfrm>
          <a:prstGeom prst="rect">
            <a:avLst/>
          </a:prstGeom>
          <a:noFill/>
        </p:spPr>
        <p:txBody>
          <a:bodyPr wrap="square" anchor="t" lIns="0" tIns="0" rIns="0" bIns="0">
            <a:noAutofit/>
          </a:bodyPr>
          <a:lstStyle/>
          <a:p>
            <a:pPr algn="l">
              <a:spcAft>
                <a:spcPts val="300"/>
              </a:spcAft>
            </a:pPr>
            <a:r>
              <a:rPr sz="1500" b="1">
                <a:solidFill>
                  <a:srgbClr val="0B1F3A"/>
                </a:solidFill>
                <a:latin typeface="Cambria"/>
              </a:rPr>
              <a:t>Transport &amp; Buffering in src/tcp_socket.c &amp; http_parser.c</a:t>
            </a:r>
          </a:p>
          <a:p>
            <a:pPr algn="l" marL="182880" indent="-182880">
              <a:spcAft>
                <a:spcPts val="150"/>
              </a:spcAft>
              <a:buFont typeface="Calibri"/>
              <a:buChar char="•"/>
            </a:pPr>
            <a:r>
              <a:rPr sz="1110" b="1">
                <a:solidFill>
                  <a:srgbClr val="0B1F3A"/>
                </a:solidFill>
                <a:latin typeface="Calibri"/>
              </a:rPr>
              <a:t>Non-Blocking Sockets &amp; Backlog: </a:t>
            </a:r>
            <a:r>
              <a:rPr sz="1110" b="0">
                <a:solidFill>
                  <a:srgbClr val="1F2937"/>
                </a:solidFill>
                <a:latin typeface="Calibri"/>
              </a:rPr>
              <a:t>listen(fd, 128) with SO_REUSEADDR, IPV6_V6ONLY, non-blocking accept4(..., SOCK_NONBLOCK | SOCK_CLOEXEC), and TCP_NODELAY.</a:t>
            </a:r>
          </a:p>
          <a:p>
            <a:pPr algn="l" marL="182880" indent="-182880">
              <a:spcAft>
                <a:spcPts val="150"/>
              </a:spcAft>
              <a:buFont typeface="Calibri"/>
              <a:buChar char="•"/>
            </a:pPr>
            <a:r>
              <a:rPr sz="1110" b="1">
                <a:solidFill>
                  <a:srgbClr val="0B1F3A"/>
                </a:solidFill>
                <a:latin typeface="Calibri"/>
              </a:rPr>
              <a:t>TCP Byte-Stream Buffering: </a:t>
            </a:r>
            <a:r>
              <a:rPr sz="1110" b="0">
                <a:solidFill>
                  <a:srgbClr val="1F2937"/>
                </a:solidFill>
                <a:latin typeface="Calibri"/>
              </a:rPr>
              <a:t>TCP (RFC 9293) has no message boundaries: one recv() can return a partial header, partial POST body, or pipelined requests. ConnectionBuffer shifts unconsumed pipelined bytes to index 0 via memmove().</a:t>
            </a:r>
          </a:p>
          <a:p>
            <a:pPr algn="l" marL="182880" indent="-182880">
              <a:spcAft>
                <a:spcPts val="150"/>
              </a:spcAft>
              <a:buFont typeface="Calibri"/>
              <a:buChar char="•"/>
            </a:pPr>
            <a:r>
              <a:rPr sz="1110" b="1">
                <a:solidFill>
                  <a:srgbClr val="0B1F3A"/>
                </a:solidFill>
                <a:latin typeface="Calibri"/>
              </a:rPr>
              <a:t>Poll-Sliced Partial Read/Write Loops: </a:t>
            </a:r>
            <a:r>
              <a:rPr sz="1110" b="0">
                <a:solidFill>
                  <a:srgbClr val="1F2937"/>
                </a:solidFill>
                <a:latin typeface="Calibri"/>
              </a:rPr>
              <a:t>wait_poll() slices waits into 50 ms increments checking atomic stop_requested; tcp_recv_some(), tcp_send_all(MSG_NOSIGNAL), and tcp_sendv_all(writev) loop on EINTR and EAGAIN until completion.</a:t>
            </a:r>
          </a:p>
          <a:p>
            <a:pPr algn="l" marL="182880" indent="-182880">
              <a:spcAft>
                <a:spcPts val="150"/>
              </a:spcAft>
              <a:buFont typeface="Calibri"/>
              <a:buChar char="•"/>
            </a:pPr>
            <a:r>
              <a:rPr sz="1110" b="1">
                <a:solidFill>
                  <a:srgbClr val="0B1F3A"/>
                </a:solidFill>
                <a:latin typeface="Calibri"/>
              </a:rPr>
              <a:t>Zero-Copy Linux sendfile(2) &amp; Fallback: </a:t>
            </a:r>
            <a:r>
              <a:rPr sz="1110" b="0">
                <a:solidFill>
                  <a:srgbClr val="1F2937"/>
                </a:solidFill>
                <a:latin typeface="Calibri"/>
              </a:rPr>
              <a:t>tcp_sendfile_all() streams static files in ≤1 MiB kernel chunks. If sendfile fails mid-transfer, lseek(file_fd, offset, SEEK_SET) synchronizes the offset before falling back to a 16 KiB read/send loop.</a:t>
            </a:r>
          </a:p>
          <a:p>
            <a:pPr algn="l" marL="182880" indent="-182880">
              <a:spcAft>
                <a:spcPts val="0"/>
              </a:spcAft>
              <a:buFont typeface="Calibri"/>
              <a:buChar char="•"/>
            </a:pPr>
            <a:r>
              <a:rPr sz="1110" b="1">
                <a:solidFill>
                  <a:srgbClr val="0B1F3A"/>
                </a:solidFill>
                <a:latin typeface="Calibri"/>
              </a:rPr>
              <a:t>Orderly Lingering Close: </a:t>
            </a:r>
            <a:r>
              <a:rPr sz="1110" b="0">
                <a:solidFill>
                  <a:srgbClr val="1F2937"/>
                </a:solidFill>
                <a:latin typeface="Calibri"/>
              </a:rPr>
              <a:t>tcp_lingering_close() calls shutdown(fd, SHUT_WR) and drains residual client bytes for up to 200 ms (50 ms on 503) to prevent TCP RST truncation.</a:t>
            </a:r>
          </a:p>
        </p:txBody>
      </p:sp>
      <p:sp>
        <p:nvSpPr>
          <p:cNvPr id="6" name="Rounded Rectangle 5"/>
          <p:cNvSpPr/>
          <p:nvPr/>
        </p:nvSpPr>
        <p:spPr>
          <a:xfrm>
            <a:off x="6172200" y="2011680"/>
            <a:ext cx="5422392" cy="4160520"/>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00216" y="2084832"/>
            <a:ext cx="5166359" cy="4014215"/>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Excerpts: src/tcp_socket.c &amp; src/http_parser.c (conn_buffer_consume)</a:t>
            </a:r>
          </a:p>
          <a:p>
            <a:pPr algn="l">
              <a:spcAft>
                <a:spcPts val="50"/>
              </a:spcAft>
            </a:pPr>
            <a:r>
              <a:rPr sz="980" b="0">
                <a:solidFill>
                  <a:srgbClr val="F8FAFC"/>
                </a:solidFill>
                <a:latin typeface="Consolas"/>
              </a:rPr>
              <a:t>void conn_buffer_consume(ConnectionBuffer *cb, size_t n) {</a:t>
            </a:r>
          </a:p>
          <a:p>
            <a:pPr algn="l">
              <a:spcAft>
                <a:spcPts val="50"/>
              </a:spcAft>
            </a:pPr>
            <a:r>
              <a:rPr sz="980" b="0">
                <a:solidFill>
                  <a:srgbClr val="F8FAFC"/>
                </a:solidFill>
                <a:latin typeface="Consolas"/>
              </a:rPr>
              <a:t>    if (n &gt;= cb-&gt;length) cb-&gt;length = 0;</a:t>
            </a:r>
          </a:p>
          <a:p>
            <a:pPr algn="l">
              <a:spcAft>
                <a:spcPts val="50"/>
              </a:spcAft>
            </a:pPr>
            <a:r>
              <a:rPr sz="980" b="0">
                <a:solidFill>
                  <a:srgbClr val="F8FAFC"/>
                </a:solidFill>
                <a:latin typeface="Consolas"/>
              </a:rPr>
              <a:t>    else { memmove(cb-&gt;buf, cb-&gt;buf + n, cb-&gt;length - n);</a:t>
            </a:r>
          </a:p>
          <a:p>
            <a:pPr algn="l">
              <a:spcAft>
                <a:spcPts val="50"/>
              </a:spcAft>
            </a:pPr>
            <a:r>
              <a:rPr sz="980" b="0">
                <a:solidFill>
                  <a:srgbClr val="F8FAFC"/>
                </a:solidFill>
                <a:latin typeface="Consolas"/>
              </a:rPr>
              <a:t>           cb-&gt;length -= n; }</a:t>
            </a:r>
          </a:p>
          <a:p>
            <a:pPr algn="l">
              <a:spcAft>
                <a:spcPts val="50"/>
              </a:spcAft>
            </a:pPr>
            <a:r>
              <a:rPr sz="980" b="0">
                <a:solidFill>
                  <a:srgbClr val="F8FAFC"/>
                </a:solidFill>
                <a:latin typeface="Consolas"/>
              </a:rPr>
              <a:t>}</a:t>
            </a:r>
          </a:p>
          <a:p>
            <a:pPr algn="l">
              <a:spcAft>
                <a:spcPts val="50"/>
              </a:spcAft>
            </a:pPr>
            <a:r>
              <a:rPr sz="980" b="0">
                <a:solidFill>
                  <a:srgbClr val="F8FAFC"/>
                </a:solidFill>
                <a:latin typeface="Consolas"/>
              </a:rPr>
              <a:t>int tcp_send_all(int fd, const void *buf, size_t len, uint64_t dl) {</a:t>
            </a:r>
          </a:p>
          <a:p>
            <a:pPr algn="l">
              <a:spcAft>
                <a:spcPts val="50"/>
              </a:spcAft>
            </a:pPr>
            <a:r>
              <a:rPr sz="980" b="0">
                <a:solidFill>
                  <a:srgbClr val="F8FAFC"/>
                </a:solidFill>
                <a:latin typeface="Consolas"/>
              </a:rPr>
              <a:t>    const char *p = (const char *)buf; size_t rem = len;</a:t>
            </a:r>
          </a:p>
          <a:p>
            <a:pPr algn="l">
              <a:spcAft>
                <a:spcPts val="50"/>
              </a:spcAft>
            </a:pPr>
            <a:r>
              <a:rPr sz="980" b="0">
                <a:solidFill>
                  <a:srgbClr val="F8FAFC"/>
                </a:solidFill>
                <a:latin typeface="Consolas"/>
              </a:rPr>
              <a:t>    while (rem &gt; 0) {</a:t>
            </a:r>
          </a:p>
          <a:p>
            <a:pPr algn="l">
              <a:spcAft>
                <a:spcPts val="50"/>
              </a:spcAft>
            </a:pPr>
            <a:r>
              <a:rPr sz="980" b="0">
                <a:solidFill>
                  <a:srgbClr val="F8FAFC"/>
                </a:solidFill>
                <a:latin typeface="Consolas"/>
              </a:rPr>
              <a:t>        ssize_t n = send(fd, p, rem, MSG_NOSIGNAL);</a:t>
            </a:r>
          </a:p>
          <a:p>
            <a:pPr algn="l">
              <a:spcAft>
                <a:spcPts val="50"/>
              </a:spcAft>
            </a:pPr>
            <a:r>
              <a:rPr sz="980" b="0">
                <a:solidFill>
                  <a:srgbClr val="F8FAFC"/>
                </a:solidFill>
                <a:latin typeface="Consolas"/>
              </a:rPr>
              <a:t>        if (n &gt; 0) { p += n; rem -= (size_t)n; continue; }</a:t>
            </a:r>
          </a:p>
          <a:p>
            <a:pPr algn="l">
              <a:spcAft>
                <a:spcPts val="50"/>
              </a:spcAft>
            </a:pPr>
            <a:r>
              <a:rPr sz="980" b="0">
                <a:solidFill>
                  <a:srgbClr val="F8FAFC"/>
                </a:solidFill>
                <a:latin typeface="Consolas"/>
              </a:rPr>
              <a:t>        if (errno == EAGAIN &amp;&amp; wait_poll(fd, POLLOUT, dl, 0) &lt; 0)</a:t>
            </a:r>
          </a:p>
          <a:p>
            <a:pPr algn="l">
              <a:spcAft>
                <a:spcPts val="50"/>
              </a:spcAft>
            </a:pPr>
            <a:r>
              <a:rPr sz="980" b="0">
                <a:solidFill>
                  <a:srgbClr val="F8FAFC"/>
                </a:solidFill>
                <a:latin typeface="Consolas"/>
              </a:rPr>
              <a:t>            return TCP_ERR_IO;</a:t>
            </a:r>
          </a:p>
          <a:p>
            <a:pPr algn="l">
              <a:spcAft>
                <a:spcPts val="50"/>
              </a:spcAft>
            </a:pPr>
            <a:r>
              <a:rPr sz="980" b="0">
                <a:solidFill>
                  <a:srgbClr val="F8FAFC"/>
                </a:solidFill>
                <a:latin typeface="Consolas"/>
              </a:rPr>
              <a:t>    }</a:t>
            </a:r>
          </a:p>
          <a:p>
            <a:pPr algn="l">
              <a:spcAft>
                <a:spcPts val="50"/>
              </a:spcAft>
            </a:pPr>
            <a:r>
              <a:rPr sz="980" b="0">
                <a:solidFill>
                  <a:srgbClr val="F8FAFC"/>
                </a:solidFill>
                <a:latin typeface="Consolas"/>
              </a:rPr>
              <a:t>    return 0;</a:t>
            </a:r>
          </a:p>
          <a:p>
            <a:pPr algn="l">
              <a:spcAft>
                <a:spcPts val="50"/>
              </a:spcAft>
            </a:pPr>
            <a:r>
              <a:rPr sz="980" b="0">
                <a:solidFill>
                  <a:srgbClr val="F8FAFC"/>
                </a:solidFill>
                <a:latin typeface="Consolas"/>
              </a:rPr>
              <a:t>}</a:t>
            </a:r>
          </a:p>
          <a:p>
            <a:pPr algn="l">
              <a:spcAft>
                <a:spcPts val="50"/>
              </a:spcAft>
            </a:pPr>
            <a:r>
              <a:rPr sz="980" b="0">
                <a:solidFill>
                  <a:srgbClr val="9FB3CC"/>
                </a:solidFill>
                <a:latin typeface="Consolas"/>
              </a:rPr>
              <a:t>/* Zero-copy sendfile(2) with offset-preserving fallback */</a:t>
            </a:r>
          </a:p>
          <a:p>
            <a:pPr algn="l">
              <a:spcAft>
                <a:spcPts val="50"/>
              </a:spcAft>
            </a:pPr>
            <a:r>
              <a:rPr sz="980" b="0">
                <a:solidFill>
                  <a:srgbClr val="F8FAFC"/>
                </a:solidFill>
                <a:latin typeface="Consolas"/>
              </a:rPr>
              <a:t>off_t offset = lseek(file_fd, 0, SEEK_CUR);</a:t>
            </a:r>
          </a:p>
          <a:p>
            <a:pPr algn="l">
              <a:spcAft>
                <a:spcPts val="50"/>
              </a:spcAft>
            </a:pPr>
            <a:r>
              <a:rPr sz="980" b="0">
                <a:solidFill>
                  <a:srgbClr val="F8FAFC"/>
                </a:solidFill>
                <a:latin typeface="Consolas"/>
              </a:rPr>
              <a:t>ssize_t n = sendfile(sock_fd, file_fd, &amp;offset, chunk);</a:t>
            </a:r>
          </a:p>
          <a:p>
            <a:pPr algn="l">
              <a:spcAft>
                <a:spcPts val="0"/>
              </a:spcAft>
            </a:pPr>
            <a:r>
              <a:rPr sz="980" b="0">
                <a:solidFill>
                  <a:srgbClr val="F8FAFC"/>
                </a:solidFill>
                <a:latin typeface="Consolas"/>
              </a:rPr>
              <a:t>if (n &lt; 0) { lseek(file_fd, offset, SEEK_SET); /* read/send */ }</a:t>
            </a:r>
          </a:p>
        </p:txBody>
      </p:sp>
      <p:sp>
        <p:nvSpPr>
          <p:cNvPr id="8" name="TextBox 7"/>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1.1, 4.3 &amp; Table 4.4 (pp. 6, 20–25); src/tcp_socket.c, src/http_parser.c</a:t>
            </a:r>
          </a:p>
        </p:txBody>
      </p:sp>
      <p:sp>
        <p:nvSpPr>
          <p:cNvPr id="9" name="TextBox 8"/>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Bounded FIFO Queue &amp; Fixed pthread Worker Pool</a:t>
            </a:r>
          </a:p>
          <a:p>
            <a:pPr algn="l"/>
            <a:r>
              <a:rPr sz="1500" b="0">
                <a:solidFill>
                  <a:srgbClr val="5B6676"/>
                </a:solidFill>
                <a:latin typeface="Calibri"/>
              </a:rPr>
              <a:t>Producer-consumer circular buffer, monotonic queue-wait timestamps, exclusive socket ownership, and fast shutdown</a:t>
            </a:r>
          </a:p>
        </p:txBody>
      </p:sp>
      <p:sp>
        <p:nvSpPr>
          <p:cNvPr id="4" name="Rounded Rectangle 3"/>
          <p:cNvSpPr/>
          <p:nvPr/>
        </p:nvSpPr>
        <p:spPr>
          <a:xfrm>
            <a:off x="594360" y="2011680"/>
            <a:ext cx="5349240" cy="41605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121408"/>
            <a:ext cx="5020055" cy="3941063"/>
          </a:xfrm>
          <a:prstGeom prst="rect">
            <a:avLst/>
          </a:prstGeom>
          <a:noFill/>
        </p:spPr>
        <p:txBody>
          <a:bodyPr wrap="square" anchor="t" lIns="0" tIns="0" rIns="0" bIns="0">
            <a:noAutofit/>
          </a:bodyPr>
          <a:lstStyle/>
          <a:p>
            <a:pPr algn="l">
              <a:spcAft>
                <a:spcPts val="350"/>
              </a:spcAft>
            </a:pPr>
            <a:r>
              <a:rPr sz="1500" b="1">
                <a:solidFill>
                  <a:srgbClr val="0B1F3A"/>
                </a:solidFill>
                <a:latin typeface="Cambria"/>
              </a:rPr>
              <a:t>Synchronisation &amp; Ownership (src/connection_queue.c, thread_pool.c)</a:t>
            </a:r>
          </a:p>
          <a:p>
            <a:pPr algn="l" marL="182880" indent="-182880">
              <a:spcAft>
                <a:spcPts val="200"/>
              </a:spcAft>
              <a:buFont typeface="Calibri"/>
              <a:buChar char="•"/>
            </a:pPr>
            <a:r>
              <a:rPr sz="1170" b="1">
                <a:solidFill>
                  <a:srgbClr val="0B1F3A"/>
                </a:solidFill>
                <a:latin typeface="Calibri"/>
              </a:rPr>
              <a:t>Circular FIFO Buffer (Cap 64): </a:t>
            </a:r>
            <a:r>
              <a:rPr sz="1170" b="0">
                <a:solidFill>
                  <a:srgbClr val="1F2937"/>
                </a:solidFill>
                <a:latin typeface="Calibri"/>
              </a:rPr>
              <a:t>ConnectionQueue holds head, tail, count, capacity (64), and is_shutdown, guarded by pthread_mutex_t lock and condvars not_empty &amp; not_full.</a:t>
            </a:r>
          </a:p>
          <a:p>
            <a:pPr algn="l" marL="182880" indent="-182880">
              <a:spcAft>
                <a:spcPts val="200"/>
              </a:spcAft>
              <a:buFont typeface="Calibri"/>
              <a:buChar char="•"/>
            </a:pPr>
            <a:r>
              <a:rPr sz="1170" b="1">
                <a:solidFill>
                  <a:srgbClr val="0B1F3A"/>
                </a:solidFill>
                <a:latin typeface="Calibri"/>
              </a:rPr>
              <a:t>Non-Blocking Listener Push: </a:t>
            </a:r>
            <a:r>
              <a:rPr sz="1170" b="0">
                <a:solidFill>
                  <a:srgbClr val="1F2937"/>
                </a:solidFill>
                <a:latin typeface="Calibri"/>
              </a:rPr>
              <a:t>Listener calls connection_queue_push(&amp;ctx-&gt;queue, &amp;client, 0). If count == 64, timeout_ms == 0 returns -1 immediately so the accept loop never blocks and replies 503.</a:t>
            </a:r>
          </a:p>
          <a:p>
            <a:pPr algn="l" marL="182880" indent="-182880">
              <a:spcAft>
                <a:spcPts val="200"/>
              </a:spcAft>
              <a:buFont typeface="Calibri"/>
              <a:buChar char="•"/>
            </a:pPr>
            <a:r>
              <a:rPr sz="1170" b="1">
                <a:solidFill>
                  <a:srgbClr val="0B1F3A"/>
                </a:solidFill>
                <a:latin typeface="Calibri"/>
              </a:rPr>
              <a:t>Monotonic Queue-Wait Timing: </a:t>
            </a:r>
            <a:r>
              <a:rPr sz="1170" b="0">
                <a:solidFill>
                  <a:srgbClr val="1F2937"/>
                </a:solidFill>
                <a:latin typeface="Calibri"/>
              </a:rPr>
              <a:t>Push stamps enqueued_ns = monotonic_ns(); pop stamps dequeued_ns = monotonic_ns(). Worker records (dequeued_ns - enqueued_ns) / 1e6 ms via metrics_record_queue_wait().</a:t>
            </a:r>
          </a:p>
          <a:p>
            <a:pPr algn="l" marL="182880" indent="-182880">
              <a:spcAft>
                <a:spcPts val="200"/>
              </a:spcAft>
              <a:buFont typeface="Calibri"/>
              <a:buChar char="•"/>
            </a:pPr>
            <a:r>
              <a:rPr sz="1170" b="1">
                <a:solidFill>
                  <a:srgbClr val="0B1F3A"/>
                </a:solidFill>
                <a:latin typeface="Calibri"/>
              </a:rPr>
              <a:t>Exclusive Socket Ownership: </a:t>
            </a:r>
            <a:r>
              <a:rPr sz="1170" b="0">
                <a:solidFill>
                  <a:srgbClr val="1F2937"/>
                </a:solidFill>
                <a:latin typeface="Calibri"/>
              </a:rPr>
              <a:t>Once popped, a worker thread owns conn.fd exclusively for its entire keep-alive lifetime—zero mutex contention during parsing or sending.</a:t>
            </a:r>
          </a:p>
          <a:p>
            <a:pPr algn="l" marL="182880" indent="-182880">
              <a:spcAft>
                <a:spcPts val="0"/>
              </a:spcAft>
              <a:buFont typeface="Calibri"/>
              <a:buChar char="•"/>
            </a:pPr>
            <a:r>
              <a:rPr sz="1170" b="1">
                <a:solidFill>
                  <a:srgbClr val="0B1F3A"/>
                </a:solidFill>
                <a:latin typeface="Calibri"/>
              </a:rPr>
              <a:t>Prompt Graceful Shutdown: </a:t>
            </a:r>
            <a:r>
              <a:rPr sz="1170" b="0">
                <a:solidFill>
                  <a:srgbClr val="1F2937"/>
                </a:solidFill>
                <a:latin typeface="Calibri"/>
              </a:rPr>
              <a:t>Workers pop with worker_idle_timeout_sec (2 s) and poll recv in 50 ms slices checking atomic stop_requested, terminating in &lt; 1.5 s on SIGTERM.</a:t>
            </a:r>
          </a:p>
        </p:txBody>
      </p:sp>
      <p:sp>
        <p:nvSpPr>
          <p:cNvPr id="6" name="Rounded Rectangle 5"/>
          <p:cNvSpPr/>
          <p:nvPr/>
        </p:nvSpPr>
        <p:spPr>
          <a:xfrm>
            <a:off x="6172200" y="2011680"/>
            <a:ext cx="5422392" cy="4160520"/>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00216" y="2084832"/>
            <a:ext cx="5166359" cy="4014215"/>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Genuine Excerpts: src/connection_queue.c &amp; src/thread_pool.c</a:t>
            </a:r>
          </a:p>
          <a:p>
            <a:pPr algn="l">
              <a:spcAft>
                <a:spcPts val="50"/>
              </a:spcAft>
            </a:pPr>
            <a:r>
              <a:rPr sz="980" b="0">
                <a:solidFill>
                  <a:srgbClr val="F8FAFC"/>
                </a:solidFill>
                <a:latin typeface="Consolas"/>
              </a:rPr>
              <a:t>int connection_queue_push(ConnectionQueue *q,</a:t>
            </a:r>
          </a:p>
          <a:p>
            <a:pPr algn="l">
              <a:spcAft>
                <a:spcPts val="50"/>
              </a:spcAft>
            </a:pPr>
            <a:r>
              <a:rPr sz="980" b="0">
                <a:solidFill>
                  <a:srgbClr val="F8FAFC"/>
                </a:solidFill>
                <a:latin typeface="Consolas"/>
              </a:rPr>
              <a:t>        const ClientConnection *c, int timeout_ms) {</a:t>
            </a:r>
          </a:p>
          <a:p>
            <a:pPr algn="l">
              <a:spcAft>
                <a:spcPts val="50"/>
              </a:spcAft>
            </a:pPr>
            <a:r>
              <a:rPr sz="980" b="0">
                <a:solidFill>
                  <a:srgbClr val="F8FAFC"/>
                </a:solidFill>
                <a:latin typeface="Consolas"/>
              </a:rPr>
              <a:t>    pthread_mutex_lock(&amp;q-&gt;lock);</a:t>
            </a:r>
          </a:p>
          <a:p>
            <a:pPr algn="l">
              <a:spcAft>
                <a:spcPts val="50"/>
              </a:spcAft>
            </a:pPr>
            <a:r>
              <a:rPr sz="980" b="0">
                <a:solidFill>
                  <a:srgbClr val="F8FAFC"/>
                </a:solidFill>
                <a:latin typeface="Consolas"/>
              </a:rPr>
              <a:t>    while (q-&gt;count == q-&gt;capacity) {</a:t>
            </a:r>
          </a:p>
          <a:p>
            <a:pPr algn="l">
              <a:spcAft>
                <a:spcPts val="50"/>
              </a:spcAft>
            </a:pPr>
            <a:r>
              <a:rPr sz="980" b="0">
                <a:solidFill>
                  <a:srgbClr val="F8FAFC"/>
                </a:solidFill>
                <a:latin typeface="Consolas"/>
              </a:rPr>
              <a:t>        if (q-&gt;is_shutdown) { unlock(&amp;q-&gt;lock); return -2; }</a:t>
            </a:r>
          </a:p>
          <a:p>
            <a:pPr algn="l">
              <a:spcAft>
                <a:spcPts val="50"/>
              </a:spcAft>
            </a:pPr>
            <a:r>
              <a:rPr sz="980" b="0">
                <a:solidFill>
                  <a:srgbClr val="F8FAFC"/>
                </a:solidFill>
                <a:latin typeface="Consolas"/>
              </a:rPr>
              <a:t>        if (timeout_ms == 0) { unlock(&amp;q-&gt;lock); return -1; }</a:t>
            </a:r>
          </a:p>
          <a:p>
            <a:pPr algn="l">
              <a:spcAft>
                <a:spcPts val="50"/>
              </a:spcAft>
            </a:pPr>
            <a:r>
              <a:rPr sz="980" b="0">
                <a:solidFill>
                  <a:srgbClr val="F8FAFC"/>
                </a:solidFill>
                <a:latin typeface="Consolas"/>
              </a:rPr>
              <a:t>    }</a:t>
            </a:r>
          </a:p>
          <a:p>
            <a:pPr algn="l">
              <a:spcAft>
                <a:spcPts val="50"/>
              </a:spcAft>
            </a:pPr>
            <a:r>
              <a:rPr sz="980" b="0">
                <a:solidFill>
                  <a:srgbClr val="F8FAFC"/>
                </a:solidFill>
                <a:latin typeface="Consolas"/>
              </a:rPr>
              <a:t>    q-&gt;buffer[q-&gt;tail] = *c;</a:t>
            </a:r>
          </a:p>
          <a:p>
            <a:pPr algn="l">
              <a:spcAft>
                <a:spcPts val="50"/>
              </a:spcAft>
            </a:pPr>
            <a:r>
              <a:rPr sz="980" b="0">
                <a:solidFill>
                  <a:srgbClr val="F8FAFC"/>
                </a:solidFill>
                <a:latin typeface="Consolas"/>
              </a:rPr>
              <a:t>    if (q-&gt;buffer[q-&gt;tail].enqueued_ns == 0)</a:t>
            </a:r>
          </a:p>
          <a:p>
            <a:pPr algn="l">
              <a:spcAft>
                <a:spcPts val="50"/>
              </a:spcAft>
            </a:pPr>
            <a:r>
              <a:rPr sz="980" b="0">
                <a:solidFill>
                  <a:srgbClr val="F8FAFC"/>
                </a:solidFill>
                <a:latin typeface="Consolas"/>
              </a:rPr>
              <a:t>        q-&gt;buffer[q-&gt;tail].enqueued_ns = monotonic_ns();</a:t>
            </a:r>
          </a:p>
          <a:p>
            <a:pPr algn="l">
              <a:spcAft>
                <a:spcPts val="50"/>
              </a:spcAft>
            </a:pPr>
            <a:r>
              <a:rPr sz="980" b="0">
                <a:solidFill>
                  <a:srgbClr val="F8FAFC"/>
                </a:solidFill>
                <a:latin typeface="Consolas"/>
              </a:rPr>
              <a:t>    q-&gt;tail = (q-&gt;tail + 1) % q-&gt;capacity; q-&gt;count++;</a:t>
            </a:r>
          </a:p>
          <a:p>
            <a:pPr algn="l">
              <a:spcAft>
                <a:spcPts val="50"/>
              </a:spcAft>
            </a:pPr>
            <a:r>
              <a:rPr sz="980" b="0">
                <a:solidFill>
                  <a:srgbClr val="F8FAFC"/>
                </a:solidFill>
                <a:latin typeface="Consolas"/>
              </a:rPr>
              <a:t>    pthread_cond_signal(&amp;q-&gt;not_empty);</a:t>
            </a:r>
          </a:p>
          <a:p>
            <a:pPr algn="l">
              <a:spcAft>
                <a:spcPts val="50"/>
              </a:spcAft>
            </a:pPr>
            <a:r>
              <a:rPr sz="980" b="0">
                <a:solidFill>
                  <a:srgbClr val="F8FAFC"/>
                </a:solidFill>
                <a:latin typeface="Consolas"/>
              </a:rPr>
              <a:t>    pthread_mutex_unlock(&amp;q-&gt;lock); return 0;</a:t>
            </a:r>
          </a:p>
          <a:p>
            <a:pPr algn="l">
              <a:spcAft>
                <a:spcPts val="50"/>
              </a:spcAft>
            </a:pPr>
            <a:r>
              <a:rPr sz="980" b="0">
                <a:solidFill>
                  <a:srgbClr val="F8FAFC"/>
                </a:solidFill>
                <a:latin typeface="Consolas"/>
              </a:rPr>
              <a:t>}</a:t>
            </a:r>
          </a:p>
          <a:p>
            <a:pPr algn="l">
              <a:spcAft>
                <a:spcPts val="50"/>
              </a:spcAft>
            </a:pPr>
            <a:r>
              <a:rPr sz="980" b="0">
                <a:solidFill>
                  <a:srgbClr val="9FB3CC"/>
                </a:solidFill>
                <a:latin typeface="Consolas"/>
              </a:rPr>
              <a:t>/* In worker_thread_routine (src/thread_pool.c): */</a:t>
            </a:r>
          </a:p>
          <a:p>
            <a:pPr algn="l">
              <a:spcAft>
                <a:spcPts val="50"/>
              </a:spcAft>
            </a:pPr>
            <a:r>
              <a:rPr sz="980" b="0">
                <a:solidFill>
                  <a:srgbClr val="F8FAFC"/>
                </a:solidFill>
                <a:latin typeface="Consolas"/>
              </a:rPr>
              <a:t>int rc = connection_queue_pop(pool-&gt;queue, &amp;conn, t_ms);</a:t>
            </a:r>
          </a:p>
          <a:p>
            <a:pPr algn="l">
              <a:spcAft>
                <a:spcPts val="50"/>
              </a:spcAft>
            </a:pPr>
            <a:r>
              <a:rPr sz="980" b="0">
                <a:solidFill>
                  <a:srgbClr val="F8FAFC"/>
                </a:solidFill>
                <a:latin typeface="Consolas"/>
              </a:rPr>
              <a:t>uint64_t qw_ns = (deq_ns &gt;= enq_ns) ? (deq_ns - enq_ns) : 0;</a:t>
            </a:r>
          </a:p>
          <a:p>
            <a:pPr algn="l">
              <a:spcAft>
                <a:spcPts val="0"/>
              </a:spcAft>
            </a:pPr>
            <a:r>
              <a:rPr sz="980" b="0">
                <a:solidFill>
                  <a:srgbClr val="F8FAFC"/>
                </a:solidFill>
                <a:latin typeface="Consolas"/>
              </a:rPr>
              <a:t>metrics_record_queue_wait(&amp;ctx-&gt;metrics, (double)qw_ns / NS_PER_MS);</a:t>
            </a:r>
          </a:p>
        </p:txBody>
      </p:sp>
      <p:sp>
        <p:nvSpPr>
          <p:cNvPr id="8" name="TextBox 7"/>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4.3 (pp. 20–21); src/connection_queue.c, src/thread_pool.c</a:t>
            </a:r>
          </a:p>
        </p:txBody>
      </p:sp>
      <p:sp>
        <p:nvSpPr>
          <p:cNvPr id="9" name="TextBox 8"/>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Streaming HTTP/1.1 Parser, Framing &amp; Protocol Scope</a:t>
            </a:r>
          </a:p>
          <a:p>
            <a:pPr algn="l"/>
            <a:r>
              <a:rPr sz="1500" b="0">
                <a:solidFill>
                  <a:srgbClr val="5B6676"/>
                </a:solidFill>
                <a:latin typeface="Calibri"/>
              </a:rPr>
              <a:t>Strict RFC 9112/9110 framing, anti-smuggling checks, and documented HTTP/1.1 subset in src/http_parser.c</a:t>
            </a:r>
          </a:p>
        </p:txBody>
      </p:sp>
      <p:graphicFrame>
        <p:nvGraphicFramePr>
          <p:cNvPr id="4" name="Table 3"/>
          <p:cNvGraphicFramePr>
            <a:graphicFrameLocks noGrp="1"/>
          </p:cNvGraphicFramePr>
          <p:nvPr/>
        </p:nvGraphicFramePr>
        <p:xfrm>
          <a:off x="594360" y="2011680"/>
          <a:ext cx="5715000" cy="1463040"/>
        </p:xfrm>
        <a:graphic>
          <a:graphicData uri="http://schemas.openxmlformats.org/drawingml/2006/table">
            <a:tbl>
              <a:tblPr firstRow="1" bandRow="1">
                <a:tableStyleId>{5C22544A-7EE6-4342-B048-85BDC9FD1C3A}</a:tableStyleId>
              </a:tblPr>
              <a:tblGrid>
                <a:gridCol w="2514600"/>
                <a:gridCol w="2103120"/>
                <a:gridCol w="1097280"/>
              </a:tblGrid>
              <a:tr h="146304">
                <a:tc>
                  <a:txBody>
                    <a:bodyPr/>
                    <a:lstStyle/>
                    <a:p>
                      <a:pPr algn="l"/>
                      <a:r>
                        <a:rPr sz="1150" b="1">
                          <a:solidFill>
                            <a:srgbClr val="FFFFFF"/>
                          </a:solidFill>
                          <a:latin typeface="Calibri"/>
                        </a:rPr>
                        <a:t>Condition / Violation Checked in http_parse_request()</a:t>
                      </a:r>
                    </a:p>
                  </a:txBody>
                  <a:tcPr anchor="ctr" marL="54864" marR="54864" marT="27432" marB="27432">
                    <a:solidFill>
                      <a:srgbClr val="0B1F3A"/>
                    </a:solidFill>
                  </a:tcPr>
                </a:tc>
                <a:tc>
                  <a:txBody>
                    <a:bodyPr/>
                    <a:lstStyle/>
                    <a:p>
                      <a:pPr algn="l"/>
                      <a:r>
                        <a:rPr sz="1150" b="1">
                          <a:solidFill>
                            <a:srgbClr val="FFFFFF"/>
                          </a:solidFill>
                          <a:latin typeface="Calibri"/>
                        </a:rPr>
                        <a:t>ParserStatus Enum</a:t>
                      </a:r>
                    </a:p>
                  </a:txBody>
                  <a:tcPr anchor="ctr" marL="54864" marR="54864" marT="27432" marB="27432">
                    <a:solidFill>
                      <a:srgbClr val="0B1F3A"/>
                    </a:solidFill>
                  </a:tcPr>
                </a:tc>
                <a:tc>
                  <a:txBody>
                    <a:bodyPr/>
                    <a:lstStyle/>
                    <a:p>
                      <a:pPr algn="l"/>
                      <a:r>
                        <a:rPr sz="1150" b="1">
                          <a:solidFill>
                            <a:srgbClr val="FFFFFF"/>
                          </a:solidFill>
                          <a:latin typeface="Calibri"/>
                        </a:rPr>
                        <a:t>HTTP Status</a:t>
                      </a:r>
                    </a:p>
                  </a:txBody>
                  <a:tcPr anchor="ctr" marL="54864" marR="54864" marT="27432" marB="27432">
                    <a:solidFill>
                      <a:srgbClr val="0B1F3A"/>
                    </a:solidFill>
                  </a:tcPr>
                </a:tc>
              </a:tr>
              <a:tr h="146304">
                <a:tc>
                  <a:txBody>
                    <a:bodyPr/>
                    <a:lstStyle/>
                    <a:p>
                      <a:pPr algn="l"/>
                      <a:r>
                        <a:rPr sz="1019" b="1">
                          <a:solidFill>
                            <a:srgbClr val="1F2937"/>
                          </a:solidFill>
                          <a:latin typeface="Calibri"/>
                        </a:rPr>
                        <a:t>Incomplete header (no \r\n\r\n) or body &lt; Content-Length</a:t>
                      </a:r>
                    </a:p>
                  </a:txBody>
                  <a:tcPr anchor="ctr" marL="54864" marR="54864" marT="27432" marB="27432">
                    <a:solidFill>
                      <a:srgbClr val="F3F6F9"/>
                    </a:solidFill>
                  </a:tcPr>
                </a:tc>
                <a:tc>
                  <a:txBody>
                    <a:bodyPr/>
                    <a:lstStyle/>
                    <a:p>
                      <a:pPr algn="l"/>
                      <a:r>
                        <a:rPr sz="1019" b="0">
                          <a:solidFill>
                            <a:srgbClr val="1F2937"/>
                          </a:solidFill>
                          <a:latin typeface="Calibri"/>
                        </a:rPr>
                        <a:t>PARSER_NEED_MORE_DATA</a:t>
                      </a:r>
                    </a:p>
                  </a:txBody>
                  <a:tcPr anchor="ctr" marL="54864" marR="54864" marT="27432" marB="27432">
                    <a:solidFill>
                      <a:srgbClr val="F3F6F9"/>
                    </a:solidFill>
                  </a:tcPr>
                </a:tc>
                <a:tc>
                  <a:txBody>
                    <a:bodyPr/>
                    <a:lstStyle/>
                    <a:p>
                      <a:pPr algn="l"/>
                      <a:r>
                        <a:rPr sz="1019" b="0">
                          <a:solidFill>
                            <a:srgbClr val="1F2937"/>
                          </a:solidFill>
                          <a:latin typeface="Calibri"/>
                        </a:rPr>
                        <a:t>(Keep reading)</a:t>
                      </a:r>
                    </a:p>
                  </a:txBody>
                  <a:tcPr anchor="ctr" marL="54864" marR="54864" marT="27432" marB="27432">
                    <a:solidFill>
                      <a:srgbClr val="F3F6F9"/>
                    </a:solidFill>
                  </a:tcPr>
                </a:tc>
              </a:tr>
              <a:tr h="146304">
                <a:tc>
                  <a:txBody>
                    <a:bodyPr/>
                    <a:lstStyle/>
                    <a:p>
                      <a:pPr algn="l"/>
                      <a:r>
                        <a:rPr sz="1019" b="1">
                          <a:solidFill>
                            <a:srgbClr val="1F2937"/>
                          </a:solidFill>
                          <a:latin typeface="Calibri"/>
                        </a:rPr>
                        <a:t>Missing/duplicate Host, TE+CL conflict, repeated CL, bare CR/LF, space before ':'</a:t>
                      </a:r>
                    </a:p>
                  </a:txBody>
                  <a:tcPr anchor="ctr" marL="54864" marR="54864" marT="27432" marB="27432">
                    <a:solidFill>
                      <a:srgbClr val="FFFFFF"/>
                    </a:solidFill>
                  </a:tcPr>
                </a:tc>
                <a:tc>
                  <a:txBody>
                    <a:bodyPr/>
                    <a:lstStyle/>
                    <a:p>
                      <a:pPr algn="l"/>
                      <a:r>
                        <a:rPr sz="1019" b="0">
                          <a:solidFill>
                            <a:srgbClr val="1F2937"/>
                          </a:solidFill>
                          <a:latin typeface="Calibri"/>
                        </a:rPr>
                        <a:t>PARSER_ERR_BAD_REQUEST</a:t>
                      </a:r>
                    </a:p>
                  </a:txBody>
                  <a:tcPr anchor="ctr" marL="54864" marR="54864" marT="27432" marB="27432">
                    <a:solidFill>
                      <a:srgbClr val="FFFFFF"/>
                    </a:solidFill>
                  </a:tcPr>
                </a:tc>
                <a:tc>
                  <a:txBody>
                    <a:bodyPr/>
                    <a:lstStyle/>
                    <a:p>
                      <a:pPr algn="l"/>
                      <a:r>
                        <a:rPr sz="1019" b="1">
                          <a:solidFill>
                            <a:srgbClr val="9A5B00"/>
                          </a:solidFill>
                          <a:latin typeface="Calibri"/>
                        </a:rPr>
                        <a:t>400 Bad Request</a:t>
                      </a:r>
                    </a:p>
                  </a:txBody>
                  <a:tcPr anchor="ctr" marL="54864" marR="54864" marT="27432" marB="27432">
                    <a:solidFill>
                      <a:srgbClr val="FCF1D9"/>
                    </a:solidFill>
                  </a:tcPr>
                </a:tc>
              </a:tr>
              <a:tr h="146304">
                <a:tc>
                  <a:txBody>
                    <a:bodyPr/>
                    <a:lstStyle/>
                    <a:p>
                      <a:pPr algn="l"/>
                      <a:r>
                        <a:rPr sz="1019" b="1">
                          <a:solidFill>
                            <a:srgbClr val="1F2937"/>
                          </a:solidFill>
                          <a:latin typeface="Calibri"/>
                        </a:rPr>
                        <a:t>POST without Content-Length header</a:t>
                      </a:r>
                    </a:p>
                  </a:txBody>
                  <a:tcPr anchor="ctr" marL="54864" marR="54864" marT="27432" marB="27432">
                    <a:solidFill>
                      <a:srgbClr val="F3F6F9"/>
                    </a:solidFill>
                  </a:tcPr>
                </a:tc>
                <a:tc>
                  <a:txBody>
                    <a:bodyPr/>
                    <a:lstStyle/>
                    <a:p>
                      <a:pPr algn="l"/>
                      <a:r>
                        <a:rPr sz="1019" b="0">
                          <a:solidFill>
                            <a:srgbClr val="1F2937"/>
                          </a:solidFill>
                          <a:latin typeface="Calibri"/>
                        </a:rPr>
                        <a:t>PARSER_ERR_LENGTH_REQUIRED</a:t>
                      </a:r>
                    </a:p>
                  </a:txBody>
                  <a:tcPr anchor="ctr" marL="54864" marR="54864" marT="27432" marB="27432">
                    <a:solidFill>
                      <a:srgbClr val="F3F6F9"/>
                    </a:solidFill>
                  </a:tcPr>
                </a:tc>
                <a:tc>
                  <a:txBody>
                    <a:bodyPr/>
                    <a:lstStyle/>
                    <a:p>
                      <a:pPr algn="l"/>
                      <a:r>
                        <a:rPr sz="1019" b="0">
                          <a:solidFill>
                            <a:srgbClr val="1F2937"/>
                          </a:solidFill>
                          <a:latin typeface="Calibri"/>
                        </a:rPr>
                        <a:t>411 Length Req</a:t>
                      </a:r>
                    </a:p>
                  </a:txBody>
                  <a:tcPr anchor="ctr" marL="54864" marR="54864" marT="27432" marB="27432">
                    <a:solidFill>
                      <a:srgbClr val="F3F6F9"/>
                    </a:solidFill>
                  </a:tcPr>
                </a:tc>
              </a:tr>
              <a:tr h="146304">
                <a:tc>
                  <a:txBody>
                    <a:bodyPr/>
                    <a:lstStyle/>
                    <a:p>
                      <a:pPr algn="l"/>
                      <a:r>
                        <a:rPr sz="1019" b="1">
                          <a:solidFill>
                            <a:srgbClr val="1F2937"/>
                          </a:solidFill>
                          <a:latin typeface="Calibri"/>
                        </a:rPr>
                        <a:t>Content-Length &gt; max_body_size (10 MiB) or ERANGE overflow</a:t>
                      </a:r>
                    </a:p>
                  </a:txBody>
                  <a:tcPr anchor="ctr" marL="54864" marR="54864" marT="27432" marB="27432">
                    <a:solidFill>
                      <a:srgbClr val="FFFFFF"/>
                    </a:solidFill>
                  </a:tcPr>
                </a:tc>
                <a:tc>
                  <a:txBody>
                    <a:bodyPr/>
                    <a:lstStyle/>
                    <a:p>
                      <a:pPr algn="l"/>
                      <a:r>
                        <a:rPr sz="1019" b="0">
                          <a:solidFill>
                            <a:srgbClr val="1F2937"/>
                          </a:solidFill>
                          <a:latin typeface="Calibri"/>
                        </a:rPr>
                        <a:t>PARSER_ERR_BODY_TOO_LARGE</a:t>
                      </a:r>
                    </a:p>
                  </a:txBody>
                  <a:tcPr anchor="ctr" marL="54864" marR="54864" marT="27432" marB="27432">
                    <a:solidFill>
                      <a:srgbClr val="FFFFFF"/>
                    </a:solidFill>
                  </a:tcPr>
                </a:tc>
                <a:tc>
                  <a:txBody>
                    <a:bodyPr/>
                    <a:lstStyle/>
                    <a:p>
                      <a:pPr algn="l"/>
                      <a:r>
                        <a:rPr sz="1019" b="0">
                          <a:solidFill>
                            <a:srgbClr val="1F2937"/>
                          </a:solidFill>
                          <a:latin typeface="Calibri"/>
                        </a:rPr>
                        <a:t>413 Content Too Large</a:t>
                      </a:r>
                    </a:p>
                  </a:txBody>
                  <a:tcPr anchor="ctr" marL="54864" marR="54864" marT="27432" marB="27432">
                    <a:solidFill>
                      <a:srgbClr val="FFFFFF"/>
                    </a:solidFill>
                  </a:tcPr>
                </a:tc>
              </a:tr>
              <a:tr h="146304">
                <a:tc>
                  <a:txBody>
                    <a:bodyPr/>
                    <a:lstStyle/>
                    <a:p>
                      <a:pPr algn="l"/>
                      <a:r>
                        <a:rPr sz="1019" b="1">
                          <a:solidFill>
                            <a:srgbClr val="1F2937"/>
                          </a:solidFill>
                          <a:latin typeface="Calibri"/>
                        </a:rPr>
                        <a:t>Request-URI length ≥ 2,048 bytes (max accepted = 2,047 B)</a:t>
                      </a:r>
                    </a:p>
                  </a:txBody>
                  <a:tcPr anchor="ctr" marL="54864" marR="54864" marT="27432" marB="27432">
                    <a:solidFill>
                      <a:srgbClr val="F3F6F9"/>
                    </a:solidFill>
                  </a:tcPr>
                </a:tc>
                <a:tc>
                  <a:txBody>
                    <a:bodyPr/>
                    <a:lstStyle/>
                    <a:p>
                      <a:pPr algn="l"/>
                      <a:r>
                        <a:rPr sz="1019" b="0">
                          <a:solidFill>
                            <a:srgbClr val="1F2937"/>
                          </a:solidFill>
                          <a:latin typeface="Calibri"/>
                        </a:rPr>
                        <a:t>PARSER_ERR_URI_TOO_LONG</a:t>
                      </a:r>
                    </a:p>
                  </a:txBody>
                  <a:tcPr anchor="ctr" marL="54864" marR="54864" marT="27432" marB="27432">
                    <a:solidFill>
                      <a:srgbClr val="F3F6F9"/>
                    </a:solidFill>
                  </a:tcPr>
                </a:tc>
                <a:tc>
                  <a:txBody>
                    <a:bodyPr/>
                    <a:lstStyle/>
                    <a:p>
                      <a:pPr algn="l"/>
                      <a:r>
                        <a:rPr sz="1019" b="0">
                          <a:solidFill>
                            <a:srgbClr val="1F2937"/>
                          </a:solidFill>
                          <a:latin typeface="Calibri"/>
                        </a:rPr>
                        <a:t>414 URI Too Long</a:t>
                      </a:r>
                    </a:p>
                  </a:txBody>
                  <a:tcPr anchor="ctr" marL="54864" marR="54864" marT="27432" marB="27432">
                    <a:solidFill>
                      <a:srgbClr val="F3F6F9"/>
                    </a:solidFill>
                  </a:tcPr>
                </a:tc>
              </a:tr>
              <a:tr h="146304">
                <a:tc>
                  <a:txBody>
                    <a:bodyPr/>
                    <a:lstStyle/>
                    <a:p>
                      <a:pPr algn="l"/>
                      <a:r>
                        <a:rPr sz="1019" b="1">
                          <a:solidFill>
                            <a:srgbClr val="1F2937"/>
                          </a:solidFill>
                          <a:latin typeface="Calibri"/>
                        </a:rPr>
                        <a:t>Expect: 100-continue header present (deliberately unsupported)</a:t>
                      </a:r>
                    </a:p>
                  </a:txBody>
                  <a:tcPr anchor="ctr" marL="54864" marR="54864" marT="27432" marB="27432">
                    <a:solidFill>
                      <a:srgbClr val="FFFFFF"/>
                    </a:solidFill>
                  </a:tcPr>
                </a:tc>
                <a:tc>
                  <a:txBody>
                    <a:bodyPr/>
                    <a:lstStyle/>
                    <a:p>
                      <a:pPr algn="l"/>
                      <a:r>
                        <a:rPr sz="1019" b="0">
                          <a:solidFill>
                            <a:srgbClr val="1F2937"/>
                          </a:solidFill>
                          <a:latin typeface="Calibri"/>
                        </a:rPr>
                        <a:t>PARSER_ERR_EXPECTATION_FAILED</a:t>
                      </a:r>
                    </a:p>
                  </a:txBody>
                  <a:tcPr anchor="ctr" marL="54864" marR="54864" marT="27432" marB="27432">
                    <a:solidFill>
                      <a:srgbClr val="FFFFFF"/>
                    </a:solidFill>
                  </a:tcPr>
                </a:tc>
                <a:tc>
                  <a:txBody>
                    <a:bodyPr/>
                    <a:lstStyle/>
                    <a:p>
                      <a:pPr algn="l"/>
                      <a:r>
                        <a:rPr sz="1019" b="0">
                          <a:solidFill>
                            <a:srgbClr val="1F2937"/>
                          </a:solidFill>
                          <a:latin typeface="Calibri"/>
                        </a:rPr>
                        <a:t>417 Expectation Failed</a:t>
                      </a:r>
                    </a:p>
                  </a:txBody>
                  <a:tcPr anchor="ctr" marL="54864" marR="54864" marT="27432" marB="27432">
                    <a:solidFill>
                      <a:srgbClr val="FFFFFF"/>
                    </a:solidFill>
                  </a:tcPr>
                </a:tc>
              </a:tr>
              <a:tr h="146304">
                <a:tc>
                  <a:txBody>
                    <a:bodyPr/>
                    <a:lstStyle/>
                    <a:p>
                      <a:pPr algn="l"/>
                      <a:r>
                        <a:rPr sz="1019" b="1">
                          <a:solidFill>
                            <a:srgbClr val="1F2937"/>
                          </a:solidFill>
                          <a:latin typeface="Calibri"/>
                        </a:rPr>
                        <a:t>Header name ≥128 B, value ≥2,048 B, &gt;64 fields, or block &gt; max_header_size</a:t>
                      </a:r>
                    </a:p>
                  </a:txBody>
                  <a:tcPr anchor="ctr" marL="54864" marR="54864" marT="27432" marB="27432">
                    <a:solidFill>
                      <a:srgbClr val="F3F6F9"/>
                    </a:solidFill>
                  </a:tcPr>
                </a:tc>
                <a:tc>
                  <a:txBody>
                    <a:bodyPr/>
                    <a:lstStyle/>
                    <a:p>
                      <a:pPr algn="l"/>
                      <a:r>
                        <a:rPr sz="1019" b="0">
                          <a:solidFill>
                            <a:srgbClr val="1F2937"/>
                          </a:solidFill>
                          <a:latin typeface="Calibri"/>
                        </a:rPr>
                        <a:t>PARSER_ERR_HEADERS_TOO_LARGE</a:t>
                      </a:r>
                    </a:p>
                  </a:txBody>
                  <a:tcPr anchor="ctr" marL="54864" marR="54864" marT="27432" marB="27432">
                    <a:solidFill>
                      <a:srgbClr val="F3F6F9"/>
                    </a:solidFill>
                  </a:tcPr>
                </a:tc>
                <a:tc>
                  <a:txBody>
                    <a:bodyPr/>
                    <a:lstStyle/>
                    <a:p>
                      <a:pPr algn="l"/>
                      <a:r>
                        <a:rPr sz="1019" b="0">
                          <a:solidFill>
                            <a:srgbClr val="1F2937"/>
                          </a:solidFill>
                          <a:latin typeface="Calibri"/>
                        </a:rPr>
                        <a:t>431 Hdr Too Large</a:t>
                      </a:r>
                    </a:p>
                  </a:txBody>
                  <a:tcPr anchor="ctr" marL="54864" marR="54864" marT="27432" marB="27432">
                    <a:solidFill>
                      <a:srgbClr val="F3F6F9"/>
                    </a:solidFill>
                  </a:tcPr>
                </a:tc>
              </a:tr>
              <a:tr h="146304">
                <a:tc>
                  <a:txBody>
                    <a:bodyPr/>
                    <a:lstStyle/>
                    <a:p>
                      <a:pPr algn="l"/>
                      <a:r>
                        <a:rPr sz="1019" b="1">
                          <a:solidFill>
                            <a:srgbClr val="1F2937"/>
                          </a:solidFill>
                          <a:latin typeface="Calibri"/>
                        </a:rPr>
                        <a:t>Transfer-Encoding: chunked or unknown method token (e.g. TRACE)</a:t>
                      </a:r>
                    </a:p>
                  </a:txBody>
                  <a:tcPr anchor="ctr" marL="54864" marR="54864" marT="27432" marB="27432">
                    <a:solidFill>
                      <a:srgbClr val="FFFFFF"/>
                    </a:solidFill>
                  </a:tcPr>
                </a:tc>
                <a:tc>
                  <a:txBody>
                    <a:bodyPr/>
                    <a:lstStyle/>
                    <a:p>
                      <a:pPr algn="l"/>
                      <a:r>
                        <a:rPr sz="1019" b="0">
                          <a:solidFill>
                            <a:srgbClr val="1F2937"/>
                          </a:solidFill>
                          <a:latin typeface="Calibri"/>
                        </a:rPr>
                        <a:t>PARSER_ERR_NOT_IMPLEMENTED</a:t>
                      </a:r>
                    </a:p>
                  </a:txBody>
                  <a:tcPr anchor="ctr" marL="54864" marR="54864" marT="27432" marB="27432">
                    <a:solidFill>
                      <a:srgbClr val="FFFFFF"/>
                    </a:solidFill>
                  </a:tcPr>
                </a:tc>
                <a:tc>
                  <a:txBody>
                    <a:bodyPr/>
                    <a:lstStyle/>
                    <a:p>
                      <a:pPr algn="l"/>
                      <a:r>
                        <a:rPr sz="1019" b="1">
                          <a:solidFill>
                            <a:srgbClr val="C8453B"/>
                          </a:solidFill>
                          <a:latin typeface="Calibri"/>
                        </a:rPr>
                        <a:t>501 Not Impl</a:t>
                      </a:r>
                    </a:p>
                  </a:txBody>
                  <a:tcPr anchor="ctr" marL="54864" marR="54864" marT="27432" marB="27432">
                    <a:solidFill>
                      <a:srgbClr val="FBE4E1"/>
                    </a:solidFill>
                  </a:tcPr>
                </a:tc>
              </a:tr>
              <a:tr h="146304">
                <a:tc>
                  <a:txBody>
                    <a:bodyPr/>
                    <a:lstStyle/>
                    <a:p>
                      <a:pPr algn="l"/>
                      <a:r>
                        <a:rPr sz="1019" b="1">
                          <a:solidFill>
                            <a:srgbClr val="1F2937"/>
                          </a:solidFill>
                          <a:latin typeface="Calibri"/>
                        </a:rPr>
                        <a:t>Unsupported HTTP/* version (neither HTTP/1.1 nor HTTP/1.0)</a:t>
                      </a:r>
                    </a:p>
                  </a:txBody>
                  <a:tcPr anchor="ctr" marL="54864" marR="54864" marT="27432" marB="27432">
                    <a:solidFill>
                      <a:srgbClr val="F3F6F9"/>
                    </a:solidFill>
                  </a:tcPr>
                </a:tc>
                <a:tc>
                  <a:txBody>
                    <a:bodyPr/>
                    <a:lstStyle/>
                    <a:p>
                      <a:pPr algn="l"/>
                      <a:r>
                        <a:rPr sz="1019" b="0">
                          <a:solidFill>
                            <a:srgbClr val="1F2937"/>
                          </a:solidFill>
                          <a:latin typeface="Calibri"/>
                        </a:rPr>
                        <a:t>PARSER_ERR_VERSION_NOT_SUPPORTED</a:t>
                      </a:r>
                    </a:p>
                  </a:txBody>
                  <a:tcPr anchor="ctr" marL="54864" marR="54864" marT="27432" marB="27432">
                    <a:solidFill>
                      <a:srgbClr val="F3F6F9"/>
                    </a:solidFill>
                  </a:tcPr>
                </a:tc>
                <a:tc>
                  <a:txBody>
                    <a:bodyPr/>
                    <a:lstStyle/>
                    <a:p>
                      <a:pPr algn="l"/>
                      <a:r>
                        <a:rPr sz="1019" b="0">
                          <a:solidFill>
                            <a:srgbClr val="1F2937"/>
                          </a:solidFill>
                          <a:latin typeface="Calibri"/>
                        </a:rPr>
                        <a:t>505 Version Not Sup</a:t>
                      </a:r>
                    </a:p>
                  </a:txBody>
                  <a:tcPr anchor="ctr" marL="54864" marR="54864" marT="27432" marB="27432">
                    <a:solidFill>
                      <a:srgbClr val="F3F6F9"/>
                    </a:solidFill>
                  </a:tcPr>
                </a:tc>
              </a:tr>
            </a:tbl>
          </a:graphicData>
        </a:graphic>
      </p:graphicFrame>
      <p:sp>
        <p:nvSpPr>
          <p:cNvPr id="5" name="Rounded Rectangle 4"/>
          <p:cNvSpPr/>
          <p:nvPr/>
        </p:nvSpPr>
        <p:spPr>
          <a:xfrm>
            <a:off x="6492240" y="2011680"/>
            <a:ext cx="5102352" cy="4160520"/>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620256" y="2084832"/>
            <a:ext cx="4846320" cy="4014215"/>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Excerpt: src/http_parser.c (Framing &amp; Anti-Smuggling)</a:t>
            </a:r>
          </a:p>
          <a:p>
            <a:pPr algn="l">
              <a:spcAft>
                <a:spcPts val="50"/>
              </a:spcAft>
            </a:pPr>
            <a:r>
              <a:rPr sz="980" b="0">
                <a:solidFill>
                  <a:srgbClr val="9FB3CC"/>
                </a:solidFill>
                <a:latin typeface="Consolas"/>
              </a:rPr>
              <a:t>/* 1. Strict 1*DIGIT Content-Length (RFC 9110 §8.6) */</a:t>
            </a:r>
          </a:p>
          <a:p>
            <a:pPr algn="l">
              <a:spcAft>
                <a:spcPts val="50"/>
              </a:spcAft>
            </a:pPr>
            <a:r>
              <a:rPr sz="980" b="0">
                <a:solidFill>
                  <a:srgbClr val="F8FAFC"/>
                </a:solidFill>
                <a:latin typeface="Consolas"/>
              </a:rPr>
              <a:t>if (cl_found) { free(hdr_buf); return PARSER_ERR_BAD_REQUEST; }</a:t>
            </a:r>
          </a:p>
          <a:p>
            <a:pPr algn="l">
              <a:spcAft>
                <a:spcPts val="50"/>
              </a:spcAft>
            </a:pPr>
            <a:r>
              <a:rPr sz="980" b="0">
                <a:solidFill>
                  <a:srgbClr val="F8FAFC"/>
                </a:solidFill>
                <a:latin typeface="Consolas"/>
              </a:rPr>
              <a:t>cl_found = true; req-&gt;has_content_length = true;</a:t>
            </a:r>
          </a:p>
          <a:p>
            <a:pPr algn="l">
              <a:spcAft>
                <a:spcPts val="50"/>
              </a:spcAft>
            </a:pPr>
            <a:r>
              <a:rPr sz="980" b="0">
                <a:solidFill>
                  <a:srgbClr val="F8FAFC"/>
                </a:solidFill>
                <a:latin typeface="Consolas"/>
              </a:rPr>
              <a:t>for (const char *p = hval; *p != 0; p++) {</a:t>
            </a:r>
          </a:p>
          <a:p>
            <a:pPr algn="l">
              <a:spcAft>
                <a:spcPts val="50"/>
              </a:spcAft>
            </a:pPr>
            <a:r>
              <a:rPr sz="980" b="0">
                <a:solidFill>
                  <a:srgbClr val="F8FAFC"/>
                </a:solidFill>
                <a:latin typeface="Consolas"/>
              </a:rPr>
              <a:t>    if (!isdigit((unsigned char)*p)) {</a:t>
            </a:r>
          </a:p>
          <a:p>
            <a:pPr algn="l">
              <a:spcAft>
                <a:spcPts val="50"/>
              </a:spcAft>
            </a:pPr>
            <a:r>
              <a:rPr sz="980" b="0">
                <a:solidFill>
                  <a:srgbClr val="F8FAFC"/>
                </a:solidFill>
                <a:latin typeface="Consolas"/>
              </a:rPr>
              <a:t>        free(hdr_buf); return PARSER_ERR_BAD_REQUEST; }</a:t>
            </a:r>
          </a:p>
          <a:p>
            <a:pPr algn="l">
              <a:spcAft>
                <a:spcPts val="50"/>
              </a:spcAft>
            </a:pPr>
            <a:r>
              <a:rPr sz="980" b="0">
                <a:solidFill>
                  <a:srgbClr val="F8FAFC"/>
                </a:solidFill>
                <a:latin typeface="Consolas"/>
              </a:rPr>
              <a:t>}</a:t>
            </a:r>
          </a:p>
          <a:p>
            <a:pPr algn="l">
              <a:spcAft>
                <a:spcPts val="50"/>
              </a:spcAft>
            </a:pPr>
            <a:r>
              <a:rPr sz="980" b="0">
                <a:solidFill>
                  <a:srgbClr val="F8FAFC"/>
                </a:solidFill>
                <a:latin typeface="Consolas"/>
              </a:rPr>
              <a:t>unsigned long long val = strtoull(hval, &amp;endptr, 10);</a:t>
            </a:r>
          </a:p>
          <a:p>
            <a:pPr algn="l">
              <a:spcAft>
                <a:spcPts val="50"/>
              </a:spcAft>
            </a:pPr>
            <a:r>
              <a:rPr sz="980" b="0">
                <a:solidFill>
                  <a:srgbClr val="F8FAFC"/>
                </a:solidFill>
                <a:latin typeface="Consolas"/>
              </a:rPr>
              <a:t>if (errno == ERANGE || val &gt; max_body_size)</a:t>
            </a:r>
          </a:p>
          <a:p>
            <a:pPr algn="l">
              <a:spcAft>
                <a:spcPts val="50"/>
              </a:spcAft>
            </a:pPr>
            <a:r>
              <a:rPr sz="980" b="0">
                <a:solidFill>
                  <a:srgbClr val="F8FAFC"/>
                </a:solidFill>
                <a:latin typeface="Consolas"/>
              </a:rPr>
              <a:t>    return PARSER_ERR_BODY_TOO_LARGE;</a:t>
            </a:r>
          </a:p>
          <a:p>
            <a:pPr algn="l">
              <a:spcAft>
                <a:spcPts val="50"/>
              </a:spcAft>
            </a:pPr>
            <a:r>
              <a:rPr sz="980" b="0">
                <a:solidFill>
                  <a:srgbClr val="9FB3CC"/>
                </a:solidFill>
                <a:latin typeface="Consolas"/>
              </a:rPr>
              <a:t>/* 2. Framing invariants (RFC 9112 §3.2, §6.3) */</a:t>
            </a:r>
          </a:p>
          <a:p>
            <a:pPr algn="l">
              <a:spcAft>
                <a:spcPts val="50"/>
              </a:spcAft>
            </a:pPr>
            <a:r>
              <a:rPr sz="980" b="0">
                <a:solidFill>
                  <a:srgbClr val="F8FAFC"/>
                </a:solidFill>
                <a:latin typeface="Consolas"/>
              </a:rPr>
              <a:t>if (req-&gt;is_http_11 &amp;&amp; !host_found)</a:t>
            </a:r>
          </a:p>
          <a:p>
            <a:pPr algn="l">
              <a:spcAft>
                <a:spcPts val="50"/>
              </a:spcAft>
            </a:pPr>
            <a:r>
              <a:rPr sz="980" b="0">
                <a:solidFill>
                  <a:srgbClr val="F8FAFC"/>
                </a:solidFill>
                <a:latin typeface="Consolas"/>
              </a:rPr>
              <a:t>    return PARSER_ERR_BAD_REQUEST;</a:t>
            </a:r>
          </a:p>
          <a:p>
            <a:pPr algn="l">
              <a:spcAft>
                <a:spcPts val="50"/>
              </a:spcAft>
            </a:pPr>
            <a:r>
              <a:rPr sz="980" b="0">
                <a:solidFill>
                  <a:srgbClr val="F8FAFC"/>
                </a:solidFill>
                <a:latin typeface="Consolas"/>
              </a:rPr>
              <a:t>if (req-&gt;has_transfer_encoding &amp;&amp; req-&gt;has_content_length)</a:t>
            </a:r>
          </a:p>
          <a:p>
            <a:pPr algn="l">
              <a:spcAft>
                <a:spcPts val="50"/>
              </a:spcAft>
            </a:pPr>
            <a:r>
              <a:rPr sz="980" b="0">
                <a:solidFill>
                  <a:srgbClr val="F8FAFC"/>
                </a:solidFill>
                <a:latin typeface="Consolas"/>
              </a:rPr>
              <a:t>    return PARSER_ERR_BAD_REQUEST; /* TE+CL defense */</a:t>
            </a:r>
          </a:p>
          <a:p>
            <a:pPr algn="l">
              <a:spcAft>
                <a:spcPts val="50"/>
              </a:spcAft>
            </a:pPr>
            <a:r>
              <a:rPr sz="980" b="0">
                <a:solidFill>
                  <a:srgbClr val="F8FAFC"/>
                </a:solidFill>
                <a:latin typeface="Consolas"/>
              </a:rPr>
              <a:t>if (req-&gt;has_transfer_encoding)</a:t>
            </a:r>
          </a:p>
          <a:p>
            <a:pPr algn="l">
              <a:spcAft>
                <a:spcPts val="50"/>
              </a:spcAft>
            </a:pPr>
            <a:r>
              <a:rPr sz="980" b="0">
                <a:solidFill>
                  <a:srgbClr val="F8FAFC"/>
                </a:solidFill>
                <a:latin typeface="Consolas"/>
              </a:rPr>
              <a:t>    return PARSER_ERR_NOT_IMPLEMENTED;</a:t>
            </a:r>
          </a:p>
          <a:p>
            <a:pPr algn="l">
              <a:spcAft>
                <a:spcPts val="0"/>
              </a:spcAft>
            </a:pPr>
            <a:r>
              <a:rPr sz="980" b="0">
                <a:solidFill>
                  <a:srgbClr val="F8FAFC"/>
                </a:solidFill>
                <a:latin typeface="Consolas"/>
              </a:rPr>
              <a:t>if (req-&gt;has_expect_100) return PARSER_ERR_EXPECTATION_FAILED;</a:t>
            </a:r>
          </a:p>
        </p:txBody>
      </p:sp>
      <p:sp>
        <p:nvSpPr>
          <p:cNvPr id="7" name="TextBox 6"/>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1.4, 4.3 &amp; Table 4.4 (pp. 8, 22, 24–25); src/http_parser.c</a:t>
            </a:r>
          </a:p>
        </p:txBody>
      </p:sp>
      <p:sp>
        <p:nvSpPr>
          <p:cNvPr id="8" name="TextBox 7"/>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Endpoint Routing, Static-File Delivery &amp; Sandbox Security</a:t>
            </a:r>
          </a:p>
          <a:p>
            <a:pPr algn="l"/>
            <a:r>
              <a:rPr sz="1500" b="0">
                <a:solidFill>
                  <a:srgbClr val="5B6676"/>
                </a:solidFill>
                <a:latin typeface="Calibri"/>
              </a:rPr>
              <a:t>Verified route table (src/router.c), query-string separation, and 5-layer path-traversal defense (src/static_files.c)</a:t>
            </a:r>
          </a:p>
        </p:txBody>
      </p:sp>
      <p:graphicFrame>
        <p:nvGraphicFramePr>
          <p:cNvPr id="4" name="Table 3"/>
          <p:cNvGraphicFramePr>
            <a:graphicFrameLocks noGrp="1"/>
          </p:cNvGraphicFramePr>
          <p:nvPr/>
        </p:nvGraphicFramePr>
        <p:xfrm>
          <a:off x="594360" y="2011680"/>
          <a:ext cx="11000231" cy="731520"/>
        </p:xfrm>
        <a:graphic>
          <a:graphicData uri="http://schemas.openxmlformats.org/drawingml/2006/table">
            <a:tbl>
              <a:tblPr firstRow="1" bandRow="1">
                <a:tableStyleId>{5C22544A-7EE6-4342-B048-85BDC9FD1C3A}</a:tableStyleId>
              </a:tblPr>
              <a:tblGrid>
                <a:gridCol w="1874519"/>
                <a:gridCol w="1417320"/>
                <a:gridCol w="1965960"/>
                <a:gridCol w="5742432"/>
              </a:tblGrid>
              <a:tr h="146304">
                <a:tc>
                  <a:txBody>
                    <a:bodyPr/>
                    <a:lstStyle/>
                    <a:p>
                      <a:pPr algn="l"/>
                      <a:r>
                        <a:rPr sz="1130" b="1">
                          <a:solidFill>
                            <a:srgbClr val="FFFFFF"/>
                          </a:solidFill>
                          <a:latin typeface="Calibri"/>
                        </a:rPr>
                        <a:t>Route / Target</a:t>
                      </a:r>
                    </a:p>
                  </a:txBody>
                  <a:tcPr anchor="ctr" marL="32004" marR="32004" marT="10972" marB="10972">
                    <a:solidFill>
                      <a:srgbClr val="0B1F3A"/>
                    </a:solidFill>
                  </a:tcPr>
                </a:tc>
                <a:tc>
                  <a:txBody>
                    <a:bodyPr/>
                    <a:lstStyle/>
                    <a:p>
                      <a:pPr algn="l"/>
                      <a:r>
                        <a:rPr sz="1130" b="1">
                          <a:solidFill>
                            <a:srgbClr val="FFFFFF"/>
                          </a:solidFill>
                          <a:latin typeface="Calibri"/>
                        </a:rPr>
                        <a:t>Allowed Methods</a:t>
                      </a:r>
                    </a:p>
                  </a:txBody>
                  <a:tcPr anchor="ctr" marL="32004" marR="32004" marT="10972" marB="10972">
                    <a:solidFill>
                      <a:srgbClr val="0B1F3A"/>
                    </a:solidFill>
                  </a:tcPr>
                </a:tc>
                <a:tc>
                  <a:txBody>
                    <a:bodyPr/>
                    <a:lstStyle/>
                    <a:p>
                      <a:pPr algn="l"/>
                      <a:r>
                        <a:rPr sz="1130" b="1">
                          <a:solidFill>
                            <a:srgbClr val="FFFFFF"/>
                          </a:solidFill>
                          <a:latin typeface="Calibri"/>
                        </a:rPr>
                        <a:t>Disallowed Method Status</a:t>
                      </a:r>
                    </a:p>
                  </a:txBody>
                  <a:tcPr anchor="ctr" marL="32004" marR="32004" marT="10972" marB="10972">
                    <a:solidFill>
                      <a:srgbClr val="0B1F3A"/>
                    </a:solidFill>
                  </a:tcPr>
                </a:tc>
                <a:tc>
                  <a:txBody>
                    <a:bodyPr/>
                    <a:lstStyle/>
                    <a:p>
                      <a:pPr algn="l"/>
                      <a:r>
                        <a:rPr sz="1130" b="1">
                          <a:solidFill>
                            <a:srgbClr val="FFFFFF"/>
                          </a:solidFill>
                          <a:latin typeface="Calibri"/>
                        </a:rPr>
                        <a:t>Implemented Handler Behaviour (src/router.c)</a:t>
                      </a:r>
                    </a:p>
                  </a:txBody>
                  <a:tcPr anchor="ctr" marL="32004" marR="32004" marT="10972" marB="10972">
                    <a:solidFill>
                      <a:srgbClr val="0B1F3A"/>
                    </a:solidFill>
                  </a:tcPr>
                </a:tc>
              </a:tr>
              <a:tr h="146304">
                <a:tc>
                  <a:txBody>
                    <a:bodyPr/>
                    <a:lstStyle/>
                    <a:p>
                      <a:pPr algn="l"/>
                      <a:r>
                        <a:rPr sz="1060" b="1">
                          <a:solidFill>
                            <a:srgbClr val="1F2937"/>
                          </a:solidFill>
                          <a:latin typeface="Calibri"/>
                        </a:rPr>
                        <a:t>/health or /status</a:t>
                      </a:r>
                    </a:p>
                  </a:txBody>
                  <a:tcPr anchor="ctr" marL="32004" marR="32004" marT="10972" marB="10972">
                    <a:solidFill>
                      <a:srgbClr val="F3F6F9"/>
                    </a:solidFill>
                  </a:tcPr>
                </a:tc>
                <a:tc>
                  <a:txBody>
                    <a:bodyPr/>
                    <a:lstStyle/>
                    <a:p>
                      <a:pPr algn="l"/>
                      <a:r>
                        <a:rPr sz="1060" b="0">
                          <a:solidFill>
                            <a:srgbClr val="1F2937"/>
                          </a:solidFill>
                          <a:latin typeface="Calibri"/>
                        </a:rPr>
                        <a:t>GET, HEAD</a:t>
                      </a:r>
                    </a:p>
                  </a:txBody>
                  <a:tcPr anchor="ctr" marL="32004" marR="32004" marT="10972" marB="10972">
                    <a:solidFill>
                      <a:srgbClr val="F3F6F9"/>
                    </a:solidFill>
                  </a:tcPr>
                </a:tc>
                <a:tc>
                  <a:txBody>
                    <a:bodyPr/>
                    <a:lstStyle/>
                    <a:p>
                      <a:pPr algn="l"/>
                      <a:r>
                        <a:rPr sz="1060" b="0">
                          <a:solidFill>
                            <a:srgbClr val="1F2937"/>
                          </a:solidFill>
                          <a:latin typeface="Calibri"/>
                        </a:rPr>
                        <a:t>405 Method Not Allowed</a:t>
                      </a:r>
                    </a:p>
                  </a:txBody>
                  <a:tcPr anchor="ctr" marL="32004" marR="32004" marT="10972" marB="10972">
                    <a:solidFill>
                      <a:srgbClr val="F3F6F9"/>
                    </a:solidFill>
                  </a:tcPr>
                </a:tc>
                <a:tc>
                  <a:txBody>
                    <a:bodyPr/>
                    <a:lstStyle/>
                    <a:p>
                      <a:pPr algn="l"/>
                      <a:r>
                        <a:rPr sz="1060" b="0">
                          <a:solidFill>
                            <a:srgbClr val="1F2937"/>
                          </a:solidFill>
                          <a:latin typeface="Calibri"/>
                        </a:rPr>
                        <a:t>200 OK JSON: {"status":"healthy", "server":"HTTP-Server-C17/1.0.0", "protocol":"HTTP/1.1"}</a:t>
                      </a:r>
                    </a:p>
                  </a:txBody>
                  <a:tcPr anchor="ctr" marL="32004" marR="32004" marT="10972" marB="10972">
                    <a:solidFill>
                      <a:srgbClr val="F3F6F9"/>
                    </a:solidFill>
                  </a:tcPr>
                </a:tc>
              </a:tr>
              <a:tr h="146304">
                <a:tc>
                  <a:txBody>
                    <a:bodyPr/>
                    <a:lstStyle/>
                    <a:p>
                      <a:pPr algn="l"/>
                      <a:r>
                        <a:rPr sz="1060" b="1">
                          <a:solidFill>
                            <a:srgbClr val="1F2937"/>
                          </a:solidFill>
                          <a:latin typeface="Calibri"/>
                        </a:rPr>
                        <a:t>/metrics</a:t>
                      </a:r>
                    </a:p>
                  </a:txBody>
                  <a:tcPr anchor="ctr" marL="32004" marR="32004" marT="10972" marB="10972">
                    <a:solidFill>
                      <a:srgbClr val="FFFFFF"/>
                    </a:solidFill>
                  </a:tcPr>
                </a:tc>
                <a:tc>
                  <a:txBody>
                    <a:bodyPr/>
                    <a:lstStyle/>
                    <a:p>
                      <a:pPr algn="l"/>
                      <a:r>
                        <a:rPr sz="1060" b="0">
                          <a:solidFill>
                            <a:srgbClr val="1F2937"/>
                          </a:solidFill>
                          <a:latin typeface="Calibri"/>
                        </a:rPr>
                        <a:t>GET, HEAD</a:t>
                      </a:r>
                    </a:p>
                  </a:txBody>
                  <a:tcPr anchor="ctr" marL="32004" marR="32004" marT="10972" marB="10972">
                    <a:solidFill>
                      <a:srgbClr val="FFFFFF"/>
                    </a:solidFill>
                  </a:tcPr>
                </a:tc>
                <a:tc>
                  <a:txBody>
                    <a:bodyPr/>
                    <a:lstStyle/>
                    <a:p>
                      <a:pPr algn="l"/>
                      <a:r>
                        <a:rPr sz="1060" b="0">
                          <a:solidFill>
                            <a:srgbClr val="1F2937"/>
                          </a:solidFill>
                          <a:latin typeface="Calibri"/>
                        </a:rPr>
                        <a:t>405 (or 404 if disabled)</a:t>
                      </a:r>
                    </a:p>
                  </a:txBody>
                  <a:tcPr anchor="ctr" marL="32004" marR="32004" marT="10972" marB="10972">
                    <a:solidFill>
                      <a:srgbClr val="FFFFFF"/>
                    </a:solidFill>
                  </a:tcPr>
                </a:tc>
                <a:tc>
                  <a:txBody>
                    <a:bodyPr/>
                    <a:lstStyle/>
                    <a:p>
                      <a:pPr algn="l"/>
                      <a:r>
                        <a:rPr sz="1060" b="0">
                          <a:solidFill>
                            <a:srgbClr val="1F2937"/>
                          </a:solidFill>
                          <a:latin typeface="Calibri"/>
                        </a:rPr>
                        <a:t>200 OK JSON snapshot of counters, queue, workers, RPS, proc/q_wait percentiles, QLAAC state (lat=-1.0 excluded)</a:t>
                      </a:r>
                    </a:p>
                  </a:txBody>
                  <a:tcPr anchor="ctr" marL="32004" marR="32004" marT="10972" marB="10972">
                    <a:solidFill>
                      <a:srgbClr val="FFFFFF"/>
                    </a:solidFill>
                  </a:tcPr>
                </a:tc>
              </a:tr>
              <a:tr h="146304">
                <a:tc>
                  <a:txBody>
                    <a:bodyPr/>
                    <a:lstStyle/>
                    <a:p>
                      <a:pPr algn="l"/>
                      <a:r>
                        <a:rPr sz="1060" b="1">
                          <a:solidFill>
                            <a:srgbClr val="1F2937"/>
                          </a:solidFill>
                          <a:latin typeface="Calibri"/>
                        </a:rPr>
                        <a:t>/api/echo</a:t>
                      </a:r>
                    </a:p>
                  </a:txBody>
                  <a:tcPr anchor="ctr" marL="32004" marR="32004" marT="10972" marB="10972">
                    <a:solidFill>
                      <a:srgbClr val="F3F6F9"/>
                    </a:solidFill>
                  </a:tcPr>
                </a:tc>
                <a:tc>
                  <a:txBody>
                    <a:bodyPr/>
                    <a:lstStyle/>
                    <a:p>
                      <a:pPr algn="l"/>
                      <a:r>
                        <a:rPr sz="1060" b="0">
                          <a:solidFill>
                            <a:srgbClr val="1F2937"/>
                          </a:solidFill>
                          <a:latin typeface="Calibri"/>
                        </a:rPr>
                        <a:t>POST only</a:t>
                      </a:r>
                    </a:p>
                  </a:txBody>
                  <a:tcPr anchor="ctr" marL="32004" marR="32004" marT="10972" marB="10972">
                    <a:solidFill>
                      <a:srgbClr val="F3F6F9"/>
                    </a:solidFill>
                  </a:tcPr>
                </a:tc>
                <a:tc>
                  <a:txBody>
                    <a:bodyPr/>
                    <a:lstStyle/>
                    <a:p>
                      <a:pPr algn="l"/>
                      <a:r>
                        <a:rPr sz="1060" b="0">
                          <a:solidFill>
                            <a:srgbClr val="1F2937"/>
                          </a:solidFill>
                          <a:latin typeface="Calibri"/>
                        </a:rPr>
                        <a:t>405 Method Not Allowed</a:t>
                      </a:r>
                    </a:p>
                  </a:txBody>
                  <a:tcPr anchor="ctr" marL="32004" marR="32004" marT="10972" marB="10972">
                    <a:solidFill>
                      <a:srgbClr val="F3F6F9"/>
                    </a:solidFill>
                  </a:tcPr>
                </a:tc>
                <a:tc>
                  <a:txBody>
                    <a:bodyPr/>
                    <a:lstStyle/>
                    <a:p>
                      <a:pPr algn="l"/>
                      <a:r>
                        <a:rPr sz="1060" b="0">
                          <a:solidFill>
                            <a:srgbClr val="1F2937"/>
                          </a:solidFill>
                          <a:latin typeface="Calibri"/>
                        </a:rPr>
                        <a:t>200 OK echoing req-&gt;body (up to 10 MiB) with incoming Content-Type (default text/plain; charset=utf-8)</a:t>
                      </a:r>
                    </a:p>
                  </a:txBody>
                  <a:tcPr anchor="ctr" marL="32004" marR="32004" marT="10972" marB="10972">
                    <a:solidFill>
                      <a:srgbClr val="F3F6F9"/>
                    </a:solidFill>
                  </a:tcPr>
                </a:tc>
              </a:tr>
              <a:tr h="146304">
                <a:tc>
                  <a:txBody>
                    <a:bodyPr/>
                    <a:lstStyle/>
                    <a:p>
                      <a:pPr algn="l"/>
                      <a:r>
                        <a:rPr sz="1060" b="1">
                          <a:solidFill>
                            <a:srgbClr val="1F2937"/>
                          </a:solidFill>
                          <a:latin typeface="Calibri"/>
                        </a:rPr>
                        <a:t>/ or /&lt;static-file&gt;</a:t>
                      </a:r>
                    </a:p>
                  </a:txBody>
                  <a:tcPr anchor="ctr" marL="32004" marR="32004" marT="10972" marB="10972">
                    <a:solidFill>
                      <a:srgbClr val="FFFFFF"/>
                    </a:solidFill>
                  </a:tcPr>
                </a:tc>
                <a:tc>
                  <a:txBody>
                    <a:bodyPr/>
                    <a:lstStyle/>
                    <a:p>
                      <a:pPr algn="l"/>
                      <a:r>
                        <a:rPr sz="1060" b="0">
                          <a:solidFill>
                            <a:srgbClr val="1F2937"/>
                          </a:solidFill>
                          <a:latin typeface="Calibri"/>
                        </a:rPr>
                        <a:t>GET, HEAD</a:t>
                      </a:r>
                    </a:p>
                  </a:txBody>
                  <a:tcPr anchor="ctr" marL="32004" marR="32004" marT="10972" marB="10972">
                    <a:solidFill>
                      <a:srgbClr val="FFFFFF"/>
                    </a:solidFill>
                  </a:tcPr>
                </a:tc>
                <a:tc>
                  <a:txBody>
                    <a:bodyPr/>
                    <a:lstStyle/>
                    <a:p>
                      <a:pPr algn="l"/>
                      <a:r>
                        <a:rPr sz="1060" b="0">
                          <a:solidFill>
                            <a:srgbClr val="1F2937"/>
                          </a:solidFill>
                          <a:latin typeface="Calibri"/>
                        </a:rPr>
                        <a:t>405 Method Not Allowed</a:t>
                      </a:r>
                    </a:p>
                  </a:txBody>
                  <a:tcPr anchor="ctr" marL="32004" marR="32004" marT="10972" marB="10972">
                    <a:solidFill>
                      <a:srgbClr val="FFFFFF"/>
                    </a:solidFill>
                  </a:tcPr>
                </a:tc>
                <a:tc>
                  <a:txBody>
                    <a:bodyPr/>
                    <a:lstStyle/>
                    <a:p>
                      <a:pPr algn="l"/>
                      <a:r>
                        <a:rPr sz="1060" b="0">
                          <a:solidFill>
                            <a:srgbClr val="1F2937"/>
                          </a:solidFill>
                          <a:latin typeface="Calibri"/>
                        </a:rPr>
                        <a:t>Resolves inside public_root (./public), serves default index.html, streams via zero-copy sendfile(2)</a:t>
                      </a:r>
                    </a:p>
                  </a:txBody>
                  <a:tcPr anchor="ctr" marL="32004" marR="32004" marT="10972" marB="10972">
                    <a:solidFill>
                      <a:srgbClr val="FFFFFF"/>
                    </a:solidFill>
                  </a:tcPr>
                </a:tc>
              </a:tr>
            </a:tbl>
          </a:graphicData>
        </a:graphic>
      </p:graphicFrame>
      <p:sp>
        <p:nvSpPr>
          <p:cNvPr id="5" name="Rounded Rectangle 4"/>
          <p:cNvSpPr/>
          <p:nvPr/>
        </p:nvSpPr>
        <p:spPr>
          <a:xfrm>
            <a:off x="594360" y="3767328"/>
            <a:ext cx="5349240" cy="2423160"/>
          </a:xfrm>
          <a:prstGeom prst="roundRect">
            <a:avLst>
              <a:gd name="adj" fmla="val 4000"/>
            </a:avLst>
          </a:prstGeom>
          <a:solidFill>
            <a:srgbClr val="E3F3EA"/>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22376" y="3822191"/>
            <a:ext cx="5093207" cy="2313432"/>
          </a:xfrm>
          <a:prstGeom prst="rect">
            <a:avLst/>
          </a:prstGeom>
          <a:noFill/>
        </p:spPr>
        <p:txBody>
          <a:bodyPr wrap="square" anchor="t" lIns="0" tIns="0" rIns="0" bIns="0">
            <a:noAutofit/>
          </a:bodyPr>
          <a:lstStyle/>
          <a:p>
            <a:pPr algn="l">
              <a:spcAft>
                <a:spcPts val="350"/>
              </a:spcAft>
            </a:pPr>
            <a:r>
              <a:rPr sz="1400" b="1">
                <a:solidFill>
                  <a:srgbClr val="2E8B57"/>
                </a:solidFill>
                <a:latin typeface="Cambria"/>
              </a:rPr>
              <a:t>5-Layer Path-Traversal &amp; Sandbox Defense (src/static_files.c)</a:t>
            </a:r>
          </a:p>
          <a:p>
            <a:pPr algn="l" marL="182880" indent="-182880">
              <a:spcAft>
                <a:spcPts val="200"/>
              </a:spcAft>
              <a:buFont typeface="Calibri"/>
              <a:buChar char="•"/>
            </a:pPr>
            <a:r>
              <a:rPr sz="1050" b="1">
                <a:solidFill>
                  <a:srgbClr val="0B1F3A"/>
                </a:solidFill>
                <a:latin typeface="Calibri"/>
              </a:rPr>
              <a:t>1. Segment-Aware Dot-Dot Check: </a:t>
            </a:r>
            <a:r>
              <a:rPr sz="1050" b="0">
                <a:solidFill>
                  <a:srgbClr val="1F2937"/>
                </a:solidFill>
                <a:latin typeface="Calibri"/>
              </a:rPr>
              <a:t>has_traversal_segment() blocks '..' and '%2e%2e' path segments (403) while permitting benign filenames like release..txt.</a:t>
            </a:r>
          </a:p>
          <a:p>
            <a:pPr algn="l" marL="182880" indent="-182880">
              <a:spcAft>
                <a:spcPts val="200"/>
              </a:spcAft>
              <a:buFont typeface="Calibri"/>
              <a:buChar char="•"/>
            </a:pPr>
            <a:r>
              <a:rPr sz="1050" b="1">
                <a:solidFill>
                  <a:srgbClr val="0B1F3A"/>
                </a:solidFill>
                <a:latin typeface="Calibri"/>
              </a:rPr>
              <a:t>2. Strict URL Percent-Decoding: </a:t>
            </a:r>
            <a:r>
              <a:rPr sz="1050" b="0">
                <a:solidFill>
                  <a:srgbClr val="1F2937"/>
                </a:solidFill>
                <a:latin typeface="Calibri"/>
              </a:rPr>
              <a:t>url_decode() rejects incomplete hex escapes, NUL bytes (%00), and backslashes ('\\') with 400 Bad Request.</a:t>
            </a:r>
          </a:p>
          <a:p>
            <a:pPr algn="l" marL="182880" indent="-182880">
              <a:spcAft>
                <a:spcPts val="200"/>
              </a:spcAft>
              <a:buFont typeface="Calibri"/>
              <a:buChar char="•"/>
            </a:pPr>
            <a:r>
              <a:rPr sz="1050" b="1">
                <a:solidFill>
                  <a:srgbClr val="0B1F3A"/>
                </a:solidFill>
                <a:latin typeface="Calibri"/>
              </a:rPr>
              <a:t>3. Post-Decode Traversal Re-Check: </a:t>
            </a:r>
            <a:r>
              <a:rPr sz="1050" b="0">
                <a:solidFill>
                  <a:srgbClr val="1F2937"/>
                </a:solidFill>
                <a:latin typeface="Calibri"/>
              </a:rPr>
              <a:t>Re-runs has_traversal_segment(decoded_uri) to block encoded dot-dot bypasses (403).</a:t>
            </a:r>
          </a:p>
          <a:p>
            <a:pPr algn="l" marL="182880" indent="-182880">
              <a:spcAft>
                <a:spcPts val="200"/>
              </a:spcAft>
              <a:buFont typeface="Calibri"/>
              <a:buChar char="•"/>
            </a:pPr>
            <a:r>
              <a:rPr sz="1050" b="1">
                <a:solidFill>
                  <a:srgbClr val="0B1F3A"/>
                </a:solidFill>
                <a:latin typeface="Calibri"/>
              </a:rPr>
              <a:t>4. Canonical Root Sandbox (realpath): </a:t>
            </a:r>
            <a:r>
              <a:rPr sz="1050" b="0">
                <a:solidFill>
                  <a:srgbClr val="1F2937"/>
                </a:solidFill>
                <a:latin typeface="Calibri"/>
              </a:rPr>
              <a:t>Resolves realpath(public_root) and realpath(candidate), verifying canonical_target starts with canonical_root + '/'.</a:t>
            </a:r>
          </a:p>
          <a:p>
            <a:pPr algn="l" marL="182880" indent="-182880">
              <a:spcAft>
                <a:spcPts val="0"/>
              </a:spcAft>
              <a:buFont typeface="Calibri"/>
              <a:buChar char="•"/>
            </a:pPr>
            <a:r>
              <a:rPr sz="1050" b="1">
                <a:solidFill>
                  <a:srgbClr val="0B1F3A"/>
                </a:solidFill>
                <a:latin typeface="Calibri"/>
              </a:rPr>
              <a:t>5. Symlink &amp; TOCTOU Protection: </a:t>
            </a:r>
            <a:r>
              <a:rPr sz="1050" b="0">
                <a:solidFill>
                  <a:srgbClr val="1F2937"/>
                </a:solidFill>
                <a:latin typeface="Calibri"/>
              </a:rPr>
              <a:t>Opens with O_RDONLY | O_CLOEXEC | O_NOFOLLOW and verifies fstat() st_dev/st_ino and S_ISREG match stat().</a:t>
            </a:r>
          </a:p>
        </p:txBody>
      </p:sp>
      <p:sp>
        <p:nvSpPr>
          <p:cNvPr id="7" name="Rounded Rectangle 6"/>
          <p:cNvSpPr/>
          <p:nvPr/>
        </p:nvSpPr>
        <p:spPr>
          <a:xfrm>
            <a:off x="6172200" y="3767328"/>
            <a:ext cx="5422392" cy="2423160"/>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300216" y="3840480"/>
            <a:ext cx="5166359" cy="2276856"/>
          </a:xfrm>
          <a:prstGeom prst="rect">
            <a:avLst/>
          </a:prstGeom>
          <a:noFill/>
        </p:spPr>
        <p:txBody>
          <a:bodyPr wrap="square" anchor="t" lIns="0" tIns="0" rIns="0" bIns="0">
            <a:noAutofit/>
          </a:bodyPr>
          <a:lstStyle/>
          <a:p>
            <a:pPr algn="l">
              <a:spcAft>
                <a:spcPts val="300"/>
              </a:spcAft>
            </a:pPr>
            <a:r>
              <a:rPr sz="1250" b="1">
                <a:solidFill>
                  <a:srgbClr val="5FD3DD"/>
                </a:solidFill>
                <a:latin typeface="Calibri"/>
              </a:rPr>
              <a:t>Excerpt: src/static_files.c (Sandbox &amp; O_NOFOLLOW Check)</a:t>
            </a:r>
          </a:p>
          <a:p>
            <a:pPr algn="l">
              <a:spcAft>
                <a:spcPts val="50"/>
              </a:spcAft>
            </a:pPr>
            <a:r>
              <a:rPr sz="960" b="0">
                <a:solidFill>
                  <a:srgbClr val="9FB3CC"/>
                </a:solidFill>
                <a:latin typeface="Consolas"/>
              </a:rPr>
              <a:t>/* 1. Canonical target must stay inside canonical_root */</a:t>
            </a:r>
          </a:p>
          <a:p>
            <a:pPr algn="l">
              <a:spcAft>
                <a:spcPts val="50"/>
              </a:spcAft>
            </a:pPr>
            <a:r>
              <a:rPr sz="960" b="0">
                <a:solidFill>
                  <a:srgbClr val="F8FAFC"/>
                </a:solidFill>
                <a:latin typeface="Consolas"/>
              </a:rPr>
              <a:t>size_t rlen = strlen(canonical_root);</a:t>
            </a:r>
          </a:p>
          <a:p>
            <a:pPr algn="l">
              <a:spcAft>
                <a:spcPts val="50"/>
              </a:spcAft>
            </a:pPr>
            <a:r>
              <a:rPr sz="960" b="0">
                <a:solidFill>
                  <a:srgbClr val="F8FAFC"/>
                </a:solidFill>
                <a:latin typeface="Consolas"/>
              </a:rPr>
              <a:t>if (strncmp(canon_target, canonical_root, rlen) != 0 ||</a:t>
            </a:r>
          </a:p>
          <a:p>
            <a:pPr algn="l">
              <a:spcAft>
                <a:spcPts val="50"/>
              </a:spcAft>
            </a:pPr>
            <a:r>
              <a:rPr sz="960" b="0">
                <a:solidFill>
                  <a:srgbClr val="F8FAFC"/>
                </a:solidFill>
                <a:latin typeface="Consolas"/>
              </a:rPr>
              <a:t>    (canon_target[rlen] != '/' &amp;&amp; canon_target[rlen] != 0))</a:t>
            </a:r>
          </a:p>
          <a:p>
            <a:pPr algn="l">
              <a:spcAft>
                <a:spcPts val="50"/>
              </a:spcAft>
            </a:pPr>
            <a:r>
              <a:rPr sz="960" b="0">
                <a:solidFill>
                  <a:srgbClr val="F8FAFC"/>
                </a:solidFill>
                <a:latin typeface="Consolas"/>
              </a:rPr>
              <a:t>    return build_403_forbidden(res);</a:t>
            </a:r>
          </a:p>
          <a:p>
            <a:pPr algn="l">
              <a:spcAft>
                <a:spcPts val="50"/>
              </a:spcAft>
            </a:pPr>
            <a:r>
              <a:rPr sz="960" b="0">
                <a:solidFill>
                  <a:srgbClr val="9FB3CC"/>
                </a:solidFill>
                <a:latin typeface="Consolas"/>
              </a:rPr>
              <a:t>/* 2. Open with O_NOFOLLOW &amp; verify fstat dev/inode */</a:t>
            </a:r>
          </a:p>
          <a:p>
            <a:pPr algn="l">
              <a:spcAft>
                <a:spcPts val="50"/>
              </a:spcAft>
            </a:pPr>
            <a:r>
              <a:rPr sz="960" b="0">
                <a:solidFill>
                  <a:srgbClr val="F8FAFC"/>
                </a:solidFill>
                <a:latin typeface="Consolas"/>
              </a:rPr>
              <a:t>int fd = open(final_file, O_RDONLY | O_CLOEXEC | O_NOFOLLOW);</a:t>
            </a:r>
          </a:p>
          <a:p>
            <a:pPr algn="l">
              <a:spcAft>
                <a:spcPts val="50"/>
              </a:spcAft>
            </a:pPr>
            <a:r>
              <a:rPr sz="960" b="0">
                <a:solidFill>
                  <a:srgbClr val="F8FAFC"/>
                </a:solidFill>
                <a:latin typeface="Consolas"/>
              </a:rPr>
              <a:t>if (fstat(fd, &amp;open_st) != 0 || !S_ISREG(open_st.st_mode) ||</a:t>
            </a:r>
          </a:p>
          <a:p>
            <a:pPr algn="l">
              <a:spcAft>
                <a:spcPts val="50"/>
              </a:spcAft>
            </a:pPr>
            <a:r>
              <a:rPr sz="960" b="0">
                <a:solidFill>
                  <a:srgbClr val="F8FAFC"/>
                </a:solidFill>
                <a:latin typeface="Consolas"/>
              </a:rPr>
              <a:t>    open_st.st_dev != st.st_dev || open_st.st_ino != st.st_ino)</a:t>
            </a:r>
          </a:p>
          <a:p>
            <a:pPr algn="l">
              <a:spcAft>
                <a:spcPts val="0"/>
              </a:spcAft>
            </a:pPr>
            <a:r>
              <a:rPr sz="960" b="0">
                <a:solidFill>
                  <a:srgbClr val="F8FAFC"/>
                </a:solidFill>
                <a:latin typeface="Consolas"/>
              </a:rPr>
              <a:t>{ close(fd); return build_403_forbidden(res); }</a:t>
            </a:r>
          </a:p>
        </p:txBody>
      </p:sp>
      <p:sp>
        <p:nvSpPr>
          <p:cNvPr id="9" name="TextBox 8"/>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4.3 &amp; Table 4.4 (pp. 20, 22, 24); src/router.c, src/static_files.c</a:t>
            </a:r>
          </a:p>
        </p:txBody>
      </p:sp>
      <p:sp>
        <p:nvSpPr>
          <p:cNvPr id="10" name="TextBox 9"/>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Build Setup, Codebase Map &amp; Testbed Environments</a:t>
            </a:r>
          </a:p>
          <a:p>
            <a:pPr algn="l"/>
            <a:r>
              <a:rPr sz="1500" b="0">
                <a:solidFill>
                  <a:srgbClr val="5B6676"/>
                </a:solidFill>
                <a:latin typeface="Calibri"/>
              </a:rPr>
              <a:t>12 C17 modules (3,569 snapshot / 3,573 ZIP lines), config parameters, and strict separation of test environments</a:t>
            </a:r>
          </a:p>
        </p:txBody>
      </p:sp>
      <p:sp>
        <p:nvSpPr>
          <p:cNvPr id="4" name="Rounded Rectangle 3"/>
          <p:cNvSpPr/>
          <p:nvPr/>
        </p:nvSpPr>
        <p:spPr>
          <a:xfrm>
            <a:off x="594360" y="1965960"/>
            <a:ext cx="5166360" cy="214884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40664" y="2020824"/>
            <a:ext cx="4873752" cy="2039112"/>
          </a:xfrm>
          <a:prstGeom prst="rect">
            <a:avLst/>
          </a:prstGeom>
          <a:noFill/>
        </p:spPr>
        <p:txBody>
          <a:bodyPr wrap="square" anchor="t" lIns="0" tIns="0" rIns="0" bIns="0">
            <a:noAutofit/>
          </a:bodyPr>
          <a:lstStyle/>
          <a:p>
            <a:pPr algn="l">
              <a:spcAft>
                <a:spcPts val="350"/>
              </a:spcAft>
            </a:pPr>
            <a:r>
              <a:rPr sz="1450" b="1">
                <a:solidFill>
                  <a:srgbClr val="0B1F3A"/>
                </a:solidFill>
                <a:latin typeface="Cambria"/>
              </a:rPr>
              <a:t>Build Stack, Config &amp; Live-Demo Setup</a:t>
            </a:r>
          </a:p>
          <a:p>
            <a:pPr algn="l" marL="182880" indent="-182880">
              <a:spcAft>
                <a:spcPts val="200"/>
              </a:spcAft>
              <a:buFont typeface="Calibri"/>
              <a:buChar char="•"/>
            </a:pPr>
            <a:r>
              <a:rPr sz="1050" b="1">
                <a:solidFill>
                  <a:srgbClr val="0B1F3A"/>
                </a:solidFill>
                <a:latin typeface="Calibri"/>
              </a:rPr>
              <a:t>Compiler &amp; Flags: </a:t>
            </a:r>
            <a:r>
              <a:rPr sz="1050" b="0">
                <a:solidFill>
                  <a:srgbClr val="1F2937"/>
                </a:solidFill>
                <a:latin typeface="Calibri"/>
              </a:rPr>
              <a:t>GCC C17 (-std=c17 -D_POSIX_C_SOURCE=200809L -O2 -pthread) with -Wall -Wextra -Wpedantic -Wformat=2 -Wshadow; gcc -fanalyzer 0 warnings.</a:t>
            </a:r>
          </a:p>
          <a:p>
            <a:pPr algn="l" marL="182880" indent="-182880">
              <a:spcAft>
                <a:spcPts val="200"/>
              </a:spcAft>
              <a:buFont typeface="Calibri"/>
              <a:buChar char="•"/>
            </a:pPr>
            <a:r>
              <a:rPr sz="1050" b="1">
                <a:solidFill>
                  <a:srgbClr val="0B1F3A"/>
                </a:solidFill>
                <a:latin typeface="Calibri"/>
              </a:rPr>
              <a:t>Config &amp; Buffer Limits: </a:t>
            </a:r>
            <a:r>
              <a:rPr sz="1050" b="0">
                <a:solidFill>
                  <a:srgbClr val="1F2937"/>
                </a:solidFill>
                <a:latin typeface="Calibri"/>
              </a:rPr>
              <a:t>config/server.conf.example sets worker_threads=4, queue=64, keepalive=100/5s, and max_header_size=io_buffer_size=8,192 B (compiled fallback default in src/server.c is 16,384 B).</a:t>
            </a:r>
          </a:p>
          <a:p>
            <a:pPr algn="l" marL="182880" indent="-182880">
              <a:spcAft>
                <a:spcPts val="0"/>
              </a:spcAft>
              <a:buFont typeface="Calibri"/>
              <a:buChar char="•"/>
            </a:pPr>
            <a:r>
              <a:rPr sz="1050" b="1">
                <a:solidFill>
                  <a:srgbClr val="0B1F3A"/>
                </a:solidFill>
                <a:latin typeface="Calibri"/>
              </a:rPr>
              <a:t>Live-Demo Setup: </a:t>
            </a:r>
            <a:r>
              <a:rPr sz="1050" b="0">
                <a:solidFill>
                  <a:srgbClr val="1F2937"/>
                </a:solidFill>
                <a:latin typeface="Calibri"/>
              </a:rPr>
              <a:t>Two-terminal workflow on free port (e.g. -p 18080): Terminal 1 runs foreground ./bin/server (stopped via Ctrl+C before adding -a or -t 2); Terminal 2 runs curl &amp; functional burst (full commands in Demo Runbook).</a:t>
            </a:r>
          </a:p>
        </p:txBody>
      </p:sp>
      <p:graphicFrame>
        <p:nvGraphicFramePr>
          <p:cNvPr id="6" name="Table 5"/>
          <p:cNvGraphicFramePr>
            <a:graphicFrameLocks noGrp="1"/>
          </p:cNvGraphicFramePr>
          <p:nvPr/>
        </p:nvGraphicFramePr>
        <p:xfrm>
          <a:off x="594360" y="4206240"/>
          <a:ext cx="5166360" cy="877824"/>
        </p:xfrm>
        <a:graphic>
          <a:graphicData uri="http://schemas.openxmlformats.org/drawingml/2006/table">
            <a:tbl>
              <a:tblPr firstRow="1" bandRow="1">
                <a:tableStyleId>{5C22544A-7EE6-4342-B048-85BDC9FD1C3A}</a:tableStyleId>
              </a:tblPr>
              <a:tblGrid>
                <a:gridCol w="1417320"/>
                <a:gridCol w="1051560"/>
                <a:gridCol w="2697480"/>
              </a:tblGrid>
              <a:tr h="146304">
                <a:tc>
                  <a:txBody>
                    <a:bodyPr/>
                    <a:lstStyle/>
                    <a:p>
                      <a:pPr algn="l"/>
                      <a:r>
                        <a:rPr sz="1050" b="1">
                          <a:solidFill>
                            <a:srgbClr val="FFFFFF"/>
                          </a:solidFill>
                          <a:latin typeface="Calibri"/>
                        </a:rPr>
                        <a:t>Codebase Layer (Table 4.3)</a:t>
                      </a:r>
                    </a:p>
                  </a:txBody>
                  <a:tcPr anchor="ctr" marL="32004" marR="32004" marT="10972" marB="10972">
                    <a:solidFill>
                      <a:srgbClr val="0B1F3A"/>
                    </a:solidFill>
                  </a:tcPr>
                </a:tc>
                <a:tc>
                  <a:txBody>
                    <a:bodyPr/>
                    <a:lstStyle/>
                    <a:p>
                      <a:pPr algn="l"/>
                      <a:r>
                        <a:rPr sz="1050" b="1">
                          <a:solidFill>
                            <a:srgbClr val="FFFFFF"/>
                          </a:solidFill>
                          <a:latin typeface="Calibri"/>
                        </a:rPr>
                        <a:t>Lines (Report / ZIP)</a:t>
                      </a:r>
                    </a:p>
                  </a:txBody>
                  <a:tcPr anchor="ctr" marL="32004" marR="32004" marT="10972" marB="10972">
                    <a:solidFill>
                      <a:srgbClr val="0B1F3A"/>
                    </a:solidFill>
                  </a:tcPr>
                </a:tc>
                <a:tc>
                  <a:txBody>
                    <a:bodyPr/>
                    <a:lstStyle/>
                    <a:p>
                      <a:pPr algn="l"/>
                      <a:r>
                        <a:rPr sz="1050" b="1">
                          <a:solidFill>
                            <a:srgbClr val="FFFFFF"/>
                          </a:solidFill>
                          <a:latin typeface="Calibri"/>
                        </a:rPr>
                        <a:t>Key Files &amp; Roles</a:t>
                      </a:r>
                    </a:p>
                  </a:txBody>
                  <a:tcPr anchor="ctr" marL="32004" marR="32004" marT="10972" marB="10972">
                    <a:solidFill>
                      <a:srgbClr val="0B1F3A"/>
                    </a:solidFill>
                  </a:tcPr>
                </a:tc>
              </a:tr>
              <a:tr h="146304">
                <a:tc>
                  <a:txBody>
                    <a:bodyPr/>
                    <a:lstStyle/>
                    <a:p>
                      <a:pPr algn="l"/>
                      <a:r>
                        <a:rPr sz="950" b="1">
                          <a:solidFill>
                            <a:srgbClr val="1F2937"/>
                          </a:solidFill>
                          <a:latin typeface="Calibri"/>
                        </a:rPr>
                        <a:t>src/*.c (12 C17 files)</a:t>
                      </a:r>
                    </a:p>
                  </a:txBody>
                  <a:tcPr anchor="ctr" marL="32004" marR="32004" marT="10972" marB="10972">
                    <a:solidFill>
                      <a:srgbClr val="F3F6F9"/>
                    </a:solidFill>
                  </a:tcPr>
                </a:tc>
                <a:tc>
                  <a:txBody>
                    <a:bodyPr/>
                    <a:lstStyle/>
                    <a:p>
                      <a:pPr algn="l"/>
                      <a:r>
                        <a:rPr sz="950" b="0">
                          <a:solidFill>
                            <a:srgbClr val="1F2937"/>
                          </a:solidFill>
                          <a:latin typeface="Calibri"/>
                        </a:rPr>
                        <a:t>3,569 / 3,573*</a:t>
                      </a:r>
                    </a:p>
                  </a:txBody>
                  <a:tcPr anchor="ctr" marL="32004" marR="32004" marT="10972" marB="10972">
                    <a:solidFill>
                      <a:srgbClr val="F3F6F9"/>
                    </a:solidFill>
                  </a:tcPr>
                </a:tc>
                <a:tc>
                  <a:txBody>
                    <a:bodyPr/>
                    <a:lstStyle/>
                    <a:p>
                      <a:pPr algn="l"/>
                      <a:r>
                        <a:rPr sz="950" b="0">
                          <a:solidFill>
                            <a:srgbClr val="1F2937"/>
                          </a:solidFill>
                          <a:latin typeface="Calibri"/>
                        </a:rPr>
                        <a:t>main (140), server (420), tcp_socket (486), queue (194), pool (285), parser (479/483*), resp (332), router (205), static (287), qlaac (299), metrics+util (442)</a:t>
                      </a:r>
                    </a:p>
                  </a:txBody>
                  <a:tcPr anchor="ctr" marL="32004" marR="32004" marT="10972" marB="10972">
                    <a:solidFill>
                      <a:srgbClr val="F3F6F9"/>
                    </a:solidFill>
                  </a:tcPr>
                </a:tc>
              </a:tr>
              <a:tr h="146304">
                <a:tc>
                  <a:txBody>
                    <a:bodyPr/>
                    <a:lstStyle/>
                    <a:p>
                      <a:pPr algn="l"/>
                      <a:r>
                        <a:rPr sz="950" b="1">
                          <a:solidFill>
                            <a:srgbClr val="1F2937"/>
                          </a:solidFill>
                          <a:latin typeface="Calibri"/>
                        </a:rPr>
                        <a:t>include/*.h (11 headers)</a:t>
                      </a:r>
                    </a:p>
                  </a:txBody>
                  <a:tcPr anchor="ctr" marL="32004" marR="32004" marT="10972" marB="10972">
                    <a:solidFill>
                      <a:srgbClr val="FFFFFF"/>
                    </a:solidFill>
                  </a:tcPr>
                </a:tc>
                <a:tc>
                  <a:txBody>
                    <a:bodyPr/>
                    <a:lstStyle/>
                    <a:p>
                      <a:pPr algn="l"/>
                      <a:r>
                        <a:rPr sz="950" b="0">
                          <a:solidFill>
                            <a:srgbClr val="1F2937"/>
                          </a:solidFill>
                          <a:latin typeface="Calibri"/>
                        </a:rPr>
                        <a:t>1,144</a:t>
                      </a:r>
                    </a:p>
                  </a:txBody>
                  <a:tcPr anchor="ctr" marL="32004" marR="32004" marT="10972" marB="10972">
                    <a:solidFill>
                      <a:srgbClr val="FFFFFF"/>
                    </a:solidFill>
                  </a:tcPr>
                </a:tc>
                <a:tc>
                  <a:txBody>
                    <a:bodyPr/>
                    <a:lstStyle/>
                    <a:p>
                      <a:pPr algn="l"/>
                      <a:r>
                        <a:rPr sz="950" b="0">
                          <a:solidFill>
                            <a:srgbClr val="1F2937"/>
                          </a:solidFill>
                          <a:latin typeface="Calibri"/>
                        </a:rPr>
                        <a:t>Public interfaces, structs, constants (URI/header limits)</a:t>
                      </a:r>
                    </a:p>
                  </a:txBody>
                  <a:tcPr anchor="ctr" marL="32004" marR="32004" marT="10972" marB="10972">
                    <a:solidFill>
                      <a:srgbClr val="FFFFFF"/>
                    </a:solidFill>
                  </a:tcPr>
                </a:tc>
              </a:tr>
              <a:tr h="146304">
                <a:tc>
                  <a:txBody>
                    <a:bodyPr/>
                    <a:lstStyle/>
                    <a:p>
                      <a:pPr algn="l"/>
                      <a:r>
                        <a:rPr sz="950" b="1">
                          <a:solidFill>
                            <a:srgbClr val="1F2937"/>
                          </a:solidFill>
                          <a:latin typeface="Calibri"/>
                        </a:rPr>
                        <a:t>public/index.html</a:t>
                      </a:r>
                    </a:p>
                  </a:txBody>
                  <a:tcPr anchor="ctr" marL="32004" marR="32004" marT="10972" marB="10972">
                    <a:solidFill>
                      <a:srgbClr val="F3F6F9"/>
                    </a:solidFill>
                  </a:tcPr>
                </a:tc>
                <a:tc>
                  <a:txBody>
                    <a:bodyPr/>
                    <a:lstStyle/>
                    <a:p>
                      <a:pPr algn="l"/>
                      <a:r>
                        <a:rPr sz="950" b="0">
                          <a:solidFill>
                            <a:srgbClr val="1F2937"/>
                          </a:solidFill>
                          <a:latin typeface="Calibri"/>
                        </a:rPr>
                        <a:t>1,470</a:t>
                      </a:r>
                    </a:p>
                  </a:txBody>
                  <a:tcPr anchor="ctr" marL="32004" marR="32004" marT="10972" marB="10972">
                    <a:solidFill>
                      <a:srgbClr val="F3F6F9"/>
                    </a:solidFill>
                  </a:tcPr>
                </a:tc>
                <a:tc>
                  <a:txBody>
                    <a:bodyPr/>
                    <a:lstStyle/>
                    <a:p>
                      <a:pPr algn="l"/>
                      <a:r>
                        <a:rPr sz="950" b="0">
                          <a:solidFill>
                            <a:srgbClr val="1F2937"/>
                          </a:solidFill>
                          <a:latin typeface="Calibri"/>
                        </a:rPr>
                        <a:t>Single-page HTML5/CSS/JS live telemetry dashboard</a:t>
                      </a:r>
                    </a:p>
                  </a:txBody>
                  <a:tcPr anchor="ctr" marL="32004" marR="32004" marT="10972" marB="10972">
                    <a:solidFill>
                      <a:srgbClr val="F3F6F9"/>
                    </a:solidFill>
                  </a:tcPr>
                </a:tc>
              </a:tr>
              <a:tr h="146304">
                <a:tc>
                  <a:txBody>
                    <a:bodyPr/>
                    <a:lstStyle/>
                    <a:p>
                      <a:pPr algn="l"/>
                      <a:r>
                        <a:rPr sz="950" b="1">
                          <a:solidFill>
                            <a:srgbClr val="1F2937"/>
                          </a:solidFill>
                          <a:latin typeface="Calibri"/>
                        </a:rPr>
                        <a:t>tests/ (5 C, 5 Python)</a:t>
                      </a:r>
                    </a:p>
                  </a:txBody>
                  <a:tcPr anchor="ctr" marL="32004" marR="32004" marT="10972" marB="10972">
                    <a:solidFill>
                      <a:srgbClr val="FFFFFF"/>
                    </a:solidFill>
                  </a:tcPr>
                </a:tc>
                <a:tc>
                  <a:txBody>
                    <a:bodyPr/>
                    <a:lstStyle/>
                    <a:p>
                      <a:pPr algn="l"/>
                      <a:r>
                        <a:rPr sz="950" b="0">
                          <a:solidFill>
                            <a:srgbClr val="1F2937"/>
                          </a:solidFill>
                          <a:latin typeface="Calibri"/>
                        </a:rPr>
                        <a:t>1,478 C + 889/1,251* Py</a:t>
                      </a:r>
                    </a:p>
                  </a:txBody>
                  <a:tcPr anchor="ctr" marL="32004" marR="32004" marT="10972" marB="10972">
                    <a:solidFill>
                      <a:srgbClr val="FFFFFF"/>
                    </a:solidFill>
                  </a:tcPr>
                </a:tc>
                <a:tc>
                  <a:txBody>
                    <a:bodyPr/>
                    <a:lstStyle/>
                    <a:p>
                      <a:pPr algn="l"/>
                      <a:r>
                        <a:rPr sz="950" b="0">
                          <a:solidFill>
                            <a:srgbClr val="1F2937"/>
                          </a:solidFill>
                          <a:latin typeface="Calibri"/>
                        </a:rPr>
                        <a:t>44 C unit tests + 48 Python tests = 92 passing tests</a:t>
                      </a:r>
                    </a:p>
                  </a:txBody>
                  <a:tcPr anchor="ctr" marL="32004" marR="32004" marT="10972" marB="10972">
                    <a:solidFill>
                      <a:srgbClr val="FFFFFF"/>
                    </a:solidFill>
                  </a:tcPr>
                </a:tc>
              </a:tr>
              <a:tr h="146304">
                <a:tc>
                  <a:txBody>
                    <a:bodyPr/>
                    <a:lstStyle/>
                    <a:p>
                      <a:pPr algn="l"/>
                      <a:r>
                        <a:rPr sz="950" b="1">
                          <a:solidFill>
                            <a:srgbClr val="1F2937"/>
                          </a:solidFill>
                          <a:latin typeface="Calibri"/>
                        </a:rPr>
                        <a:t>benchmark/*.py (6 scripts)</a:t>
                      </a:r>
                    </a:p>
                  </a:txBody>
                  <a:tcPr anchor="ctr" marL="32004" marR="32004" marT="10972" marB="10972">
                    <a:solidFill>
                      <a:srgbClr val="F3F6F9"/>
                    </a:solidFill>
                  </a:tcPr>
                </a:tc>
                <a:tc>
                  <a:txBody>
                    <a:bodyPr/>
                    <a:lstStyle/>
                    <a:p>
                      <a:pPr algn="l"/>
                      <a:r>
                        <a:rPr sz="950" b="0">
                          <a:solidFill>
                            <a:srgbClr val="1F2937"/>
                          </a:solidFill>
                          <a:latin typeface="Calibri"/>
                        </a:rPr>
                        <a:t>1,808 / 1,875*</a:t>
                      </a:r>
                    </a:p>
                  </a:txBody>
                  <a:tcPr anchor="ctr" marL="32004" marR="32004" marT="10972" marB="10972">
                    <a:solidFill>
                      <a:srgbClr val="F3F6F9"/>
                    </a:solidFill>
                  </a:tcPr>
                </a:tc>
                <a:tc>
                  <a:txBody>
                    <a:bodyPr/>
                    <a:lstStyle/>
                    <a:p>
                      <a:pPr algn="l"/>
                      <a:r>
                        <a:rPr sz="950" b="0">
                          <a:solidFill>
                            <a:srgbClr val="1F2937"/>
                          </a:solidFill>
                          <a:latin typeface="Calibri"/>
                        </a:rPr>
                        <a:t>run_experiment.py, run_reproducible_evaluation.py (561/628*)</a:t>
                      </a:r>
                    </a:p>
                  </a:txBody>
                  <a:tcPr anchor="ctr" marL="32004" marR="32004" marT="10972" marB="10972">
                    <a:solidFill>
                      <a:srgbClr val="F3F6F9"/>
                    </a:solidFill>
                  </a:tcPr>
                </a:tc>
              </a:tr>
            </a:tbl>
          </a:graphicData>
        </a:graphic>
      </p:graphicFrame>
      <p:graphicFrame>
        <p:nvGraphicFramePr>
          <p:cNvPr id="7" name="Table 6"/>
          <p:cNvGraphicFramePr>
            <a:graphicFrameLocks noGrp="1"/>
          </p:cNvGraphicFramePr>
          <p:nvPr/>
        </p:nvGraphicFramePr>
        <p:xfrm>
          <a:off x="5943600" y="1965960"/>
          <a:ext cx="5650991" cy="731520"/>
        </p:xfrm>
        <a:graphic>
          <a:graphicData uri="http://schemas.openxmlformats.org/drawingml/2006/table">
            <a:tbl>
              <a:tblPr firstRow="1" bandRow="1">
                <a:tableStyleId>{5C22544A-7EE6-4342-B048-85BDC9FD1C3A}</a:tableStyleId>
              </a:tblPr>
              <a:tblGrid>
                <a:gridCol w="1600200"/>
                <a:gridCol w="1965960"/>
                <a:gridCol w="2084831"/>
              </a:tblGrid>
              <a:tr h="146304">
                <a:tc>
                  <a:txBody>
                    <a:bodyPr/>
                    <a:lstStyle/>
                    <a:p>
                      <a:pPr algn="l"/>
                      <a:r>
                        <a:rPr sz="1100" b="1">
                          <a:solidFill>
                            <a:srgbClr val="FFFFFF"/>
                          </a:solidFill>
                          <a:latin typeface="Calibri"/>
                        </a:rPr>
                        <a:t>Environment ID (Table 4.1 &amp; App. B.7)</a:t>
                      </a:r>
                    </a:p>
                  </a:txBody>
                  <a:tcPr anchor="ctr" marL="54864" marR="54864" marT="27432" marB="27432">
                    <a:solidFill>
                      <a:srgbClr val="0B1F3A"/>
                    </a:solidFill>
                  </a:tcPr>
                </a:tc>
                <a:tc>
                  <a:txBody>
                    <a:bodyPr/>
                    <a:lstStyle/>
                    <a:p>
                      <a:pPr algn="l"/>
                      <a:r>
                        <a:rPr sz="1100" b="1">
                          <a:solidFill>
                            <a:srgbClr val="FFFFFF"/>
                          </a:solidFill>
                          <a:latin typeface="Calibri"/>
                        </a:rPr>
                        <a:t>Platform / CPU / OS / Toolchain</a:t>
                      </a:r>
                    </a:p>
                  </a:txBody>
                  <a:tcPr anchor="ctr" marL="54864" marR="54864" marT="27432" marB="27432">
                    <a:solidFill>
                      <a:srgbClr val="0B1F3A"/>
                    </a:solidFill>
                  </a:tcPr>
                </a:tc>
                <a:tc>
                  <a:txBody>
                    <a:bodyPr/>
                    <a:lstStyle/>
                    <a:p>
                      <a:pPr algn="l"/>
                      <a:r>
                        <a:rPr sz="1100" b="1">
                          <a:solidFill>
                            <a:srgbClr val="FFFFFF"/>
                          </a:solidFill>
                          <a:latin typeface="Calibri"/>
                        </a:rPr>
                        <a:t>Strict Role &amp; Separation Rule</a:t>
                      </a:r>
                    </a:p>
                  </a:txBody>
                  <a:tcPr anchor="ctr" marL="54864" marR="54864" marT="27432" marB="27432">
                    <a:solidFill>
                      <a:srgbClr val="0B1F3A"/>
                    </a:solidFill>
                  </a:tcPr>
                </a:tc>
              </a:tr>
              <a:tr h="146304">
                <a:tc>
                  <a:txBody>
                    <a:bodyPr/>
                    <a:lstStyle/>
                    <a:p>
                      <a:pPr algn="l"/>
                      <a:r>
                        <a:rPr sz="1019" b="1">
                          <a:solidFill>
                            <a:srgbClr val="1F2937"/>
                          </a:solidFill>
                          <a:latin typeface="Calibri"/>
                        </a:rPr>
                        <a:t>1. Historical v4 Benchmark Host (Chapter 5 Primary)</a:t>
                      </a:r>
                    </a:p>
                  </a:txBody>
                  <a:tcPr anchor="ctr" marL="54864" marR="54864" marT="27432" marB="27432">
                    <a:solidFill>
                      <a:srgbClr val="F3F6F9"/>
                    </a:solidFill>
                  </a:tcPr>
                </a:tc>
                <a:tc>
                  <a:txBody>
                    <a:bodyPr/>
                    <a:lstStyle/>
                    <a:p>
                      <a:pPr algn="l"/>
                      <a:r>
                        <a:rPr sz="1019" b="0">
                          <a:solidFill>
                            <a:srgbClr val="1F2937"/>
                          </a:solidFill>
                          <a:latin typeface="Calibri"/>
                        </a:rPr>
                        <a:t>Windows 11 host running Linux under WSL2, loopback 127.0.0.1:8080 (CPU/thermal metadata not in CSVs)</a:t>
                      </a:r>
                    </a:p>
                  </a:txBody>
                  <a:tcPr anchor="ctr" marL="54864" marR="54864" marT="27432" marB="27432">
                    <a:solidFill>
                      <a:srgbClr val="F3F6F9"/>
                    </a:solidFill>
                  </a:tcPr>
                </a:tc>
                <a:tc>
                  <a:txBody>
                    <a:bodyPr/>
                    <a:lstStyle/>
                    <a:p>
                      <a:pPr algn="l"/>
                      <a:r>
                        <a:rPr sz="1019" b="1">
                          <a:solidFill>
                            <a:srgbClr val="0B1F3A"/>
                          </a:solidFill>
                          <a:latin typeface="Calibri"/>
                        </a:rPr>
                        <a:t>Produced the 80 paired v4 trials in Chapter 5 (Tables 5.3–5.5, B.1–B.3)</a:t>
                      </a:r>
                    </a:p>
                  </a:txBody>
                  <a:tcPr anchor="ctr" marL="54864" marR="54864" marT="27432" marB="27432">
                    <a:solidFill>
                      <a:srgbClr val="DCE6F2"/>
                    </a:solidFill>
                  </a:tcPr>
                </a:tc>
              </a:tr>
              <a:tr h="146304">
                <a:tc>
                  <a:txBody>
                    <a:bodyPr/>
                    <a:lstStyle/>
                    <a:p>
                      <a:pPr algn="l"/>
                      <a:r>
                        <a:rPr sz="1019" b="1">
                          <a:solidFill>
                            <a:srgbClr val="1F2937"/>
                          </a:solidFill>
                          <a:latin typeface="Calibri"/>
                        </a:rPr>
                        <a:t>2. Earlier Workstation Audit (Prior Report Revision)</a:t>
                      </a:r>
                    </a:p>
                  </a:txBody>
                  <a:tcPr anchor="ctr" marL="54864" marR="54864" marT="27432" marB="27432">
                    <a:solidFill>
                      <a:srgbClr val="FFFFFF"/>
                    </a:solidFill>
                  </a:tcPr>
                </a:tc>
                <a:tc>
                  <a:txBody>
                    <a:bodyPr/>
                    <a:lstStyle/>
                    <a:p>
                      <a:pPr algn="l"/>
                      <a:r>
                        <a:rPr sz="1019" b="0">
                          <a:solidFill>
                            <a:srgbClr val="1F2937"/>
                          </a:solidFill>
                          <a:latin typeface="Calibri"/>
                        </a:rPr>
                        <a:t>Intel Core Ultra 7 155H (22 vCPUs), 7.5 GiB RAM, Linux 6.18.33.2 WSL2, GCC 15.2.0, Python 3.14.4</a:t>
                      </a:r>
                    </a:p>
                  </a:txBody>
                  <a:tcPr anchor="ctr" marL="54864" marR="54864" marT="27432" marB="27432">
                    <a:solidFill>
                      <a:srgbClr val="FFFFFF"/>
                    </a:solidFill>
                  </a:tcPr>
                </a:tc>
                <a:tc>
                  <a:txBody>
                    <a:bodyPr/>
                    <a:lstStyle/>
                    <a:p>
                      <a:pPr algn="l"/>
                      <a:r>
                        <a:rPr sz="1019" b="0">
                          <a:solidFill>
                            <a:srgbClr val="1F2937"/>
                          </a:solidFill>
                          <a:latin typeface="Calibri"/>
                        </a:rPr>
                        <a:t>Reported in prior revision; not linked to v4 CSV headers</a:t>
                      </a:r>
                    </a:p>
                  </a:txBody>
                  <a:tcPr anchor="ctr" marL="54864" marR="54864" marT="27432" marB="27432">
                    <a:solidFill>
                      <a:srgbClr val="FFFFFF"/>
                    </a:solidFill>
                  </a:tcPr>
                </a:tc>
              </a:tr>
              <a:tr h="146304">
                <a:tc>
                  <a:txBody>
                    <a:bodyPr/>
                    <a:lstStyle/>
                    <a:p>
                      <a:pPr algn="l"/>
                      <a:r>
                        <a:rPr sz="1019" b="1">
                          <a:solidFill>
                            <a:srgbClr val="1F2937"/>
                          </a:solidFill>
                          <a:latin typeface="Calibri"/>
                        </a:rPr>
                        <a:t>3. Report-Revision Verification Sandbox (Oct 2026)</a:t>
                      </a:r>
                    </a:p>
                  </a:txBody>
                  <a:tcPr anchor="ctr" marL="54864" marR="54864" marT="27432" marB="27432">
                    <a:solidFill>
                      <a:srgbClr val="F3F6F9"/>
                    </a:solidFill>
                  </a:tcPr>
                </a:tc>
                <a:tc>
                  <a:txBody>
                    <a:bodyPr/>
                    <a:lstStyle/>
                    <a:p>
                      <a:pPr algn="l"/>
                      <a:r>
                        <a:rPr sz="1019" b="0">
                          <a:solidFill>
                            <a:srgbClr val="1F2937"/>
                          </a:solidFill>
                          <a:latin typeface="Calibri"/>
                        </a:rPr>
                        <a:t>Ubuntu 24.04 container, Linux 6.18.44, 1 logical CPU, GCC 13.3.0, Python 3.12.3</a:t>
                      </a:r>
                    </a:p>
                  </a:txBody>
                  <a:tcPr anchor="ctr" marL="54864" marR="54864" marT="27432" marB="27432">
                    <a:solidFill>
                      <a:srgbClr val="F3F6F9"/>
                    </a:solidFill>
                  </a:tcPr>
                </a:tc>
                <a:tc>
                  <a:txBody>
                    <a:bodyPr/>
                    <a:lstStyle/>
                    <a:p>
                      <a:pPr algn="l"/>
                      <a:r>
                        <a:rPr sz="1019" b="0">
                          <a:solidFill>
                            <a:srgbClr val="1F2937"/>
                          </a:solidFill>
                          <a:latin typeface="Calibri"/>
                        </a:rPr>
                        <a:t>Used ONLY for 80/92 automated tests, ASan/UBSan/TSan, and CSV stat audit — NO benchmarks</a:t>
                      </a:r>
                    </a:p>
                  </a:txBody>
                  <a:tcPr anchor="ctr" marL="54864" marR="54864" marT="27432" marB="27432">
                    <a:solidFill>
                      <a:srgbClr val="F3F6F9"/>
                    </a:solidFill>
                  </a:tcPr>
                </a:tc>
              </a:tr>
              <a:tr h="146304">
                <a:tc>
                  <a:txBody>
                    <a:bodyPr/>
                    <a:lstStyle/>
                    <a:p>
                      <a:pPr algn="l"/>
                      <a:r>
                        <a:rPr sz="1019" b="1">
                          <a:solidFill>
                            <a:srgbClr val="1F2937"/>
                          </a:solidFill>
                          <a:latin typeface="Calibri"/>
                        </a:rPr>
                        <a:t>4. Fresh Verification-Host Rerun (Appendix B.7, 21 Oct)</a:t>
                      </a:r>
                    </a:p>
                  </a:txBody>
                  <a:tcPr anchor="ctr" marL="54864" marR="54864" marT="27432" marB="27432">
                    <a:solidFill>
                      <a:srgbClr val="FFFFFF"/>
                    </a:solidFill>
                  </a:tcPr>
                </a:tc>
                <a:tc>
                  <a:txBody>
                    <a:bodyPr/>
                    <a:lstStyle/>
                    <a:p>
                      <a:pPr algn="l"/>
                      <a:r>
                        <a:rPr sz="1019" b="0">
                          <a:solidFill>
                            <a:srgbClr val="1F2937"/>
                          </a:solidFill>
                          <a:latin typeface="Calibri"/>
                        </a:rPr>
                        <a:t>Virtualized AMD EPYC 9V74, Linux 6.18.55, 5 visible CPUs (cgroup 4.0 CPU-eq), GCC 14.2.0, Port 18080</a:t>
                      </a:r>
                    </a:p>
                  </a:txBody>
                  <a:tcPr anchor="ctr" marL="54864" marR="54864" marT="27432" marB="27432">
                    <a:solidFill>
                      <a:srgbClr val="FFFFFF"/>
                    </a:solidFill>
                  </a:tcPr>
                </a:tc>
                <a:tc>
                  <a:txBody>
                    <a:bodyPr/>
                    <a:lstStyle/>
                    <a:p>
                      <a:pPr algn="l"/>
                      <a:r>
                        <a:rPr sz="1019" b="1">
                          <a:solidFill>
                            <a:srgbClr val="2E8B57"/>
                          </a:solidFill>
                          <a:latin typeface="Calibri"/>
                        </a:rPr>
                        <a:t>Produced the separate 80-trial fresh rerun in Appendix B.7 (Tables B.7–B.8); never pooled with v4</a:t>
                      </a:r>
                    </a:p>
                  </a:txBody>
                  <a:tcPr anchor="ctr" marL="54864" marR="54864" marT="27432" marB="27432">
                    <a:solidFill>
                      <a:srgbClr val="E3F3EA"/>
                    </a:solidFill>
                  </a:tcPr>
                </a:tc>
              </a:tr>
            </a:tbl>
          </a:graphicData>
        </a:graphic>
      </p:graphicFrame>
      <p:sp>
        <p:nvSpPr>
          <p:cNvPr id="8" name="TextBox 7"/>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4.1 Table 4.1 (p. 18), Table 4.3 (pp. 20–21), App. B.2 &amp; B.7</a:t>
            </a:r>
          </a:p>
        </p:txBody>
      </p:sp>
      <p:sp>
        <p:nvSpPr>
          <p:cNvPr id="9" name="TextBox 8"/>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Key Implementation Challenges &amp; Verified Solutions</a:t>
            </a:r>
          </a:p>
          <a:p>
            <a:pPr algn="l"/>
            <a:r>
              <a:rPr sz="1500" b="0">
                <a:solidFill>
                  <a:srgbClr val="5B6676"/>
                </a:solidFill>
                <a:latin typeface="Calibri"/>
              </a:rPr>
              <a:t>How systematic auditing and unit/integration testing resolved protocol, controller, and harness defects (Table 4.4)</a:t>
            </a:r>
          </a:p>
        </p:txBody>
      </p:sp>
      <p:graphicFrame>
        <p:nvGraphicFramePr>
          <p:cNvPr id="4" name="Table 3"/>
          <p:cNvGraphicFramePr>
            <a:graphicFrameLocks noGrp="1"/>
          </p:cNvGraphicFramePr>
          <p:nvPr/>
        </p:nvGraphicFramePr>
        <p:xfrm>
          <a:off x="594360" y="2011680"/>
          <a:ext cx="11000232" cy="1024128"/>
        </p:xfrm>
        <a:graphic>
          <a:graphicData uri="http://schemas.openxmlformats.org/drawingml/2006/table">
            <a:tbl>
              <a:tblPr firstRow="1" bandRow="1">
                <a:tableStyleId>{5C22544A-7EE6-4342-B048-85BDC9FD1C3A}</a:tableStyleId>
              </a:tblPr>
              <a:tblGrid>
                <a:gridCol w="2834640"/>
                <a:gridCol w="3520440"/>
                <a:gridCol w="4645152"/>
              </a:tblGrid>
              <a:tr h="146304">
                <a:tc>
                  <a:txBody>
                    <a:bodyPr/>
                    <a:lstStyle/>
                    <a:p>
                      <a:pPr algn="l"/>
                      <a:r>
                        <a:rPr sz="1200" b="1">
                          <a:solidFill>
                            <a:srgbClr val="FFFFFF"/>
                          </a:solidFill>
                          <a:latin typeface="Calibri"/>
                        </a:rPr>
                        <a:t>Implementation Challenge Encountered</a:t>
                      </a:r>
                    </a:p>
                  </a:txBody>
                  <a:tcPr anchor="ctr" marL="54864" marR="54864" marT="27432" marB="27432">
                    <a:solidFill>
                      <a:srgbClr val="0B1F3A"/>
                    </a:solidFill>
                  </a:tcPr>
                </a:tc>
                <a:tc>
                  <a:txBody>
                    <a:bodyPr/>
                    <a:lstStyle/>
                    <a:p>
                      <a:pPr algn="l"/>
                      <a:r>
                        <a:rPr sz="1200" b="1">
                          <a:solidFill>
                            <a:srgbClr val="FFFFFF"/>
                          </a:solidFill>
                          <a:latin typeface="Calibri"/>
                        </a:rPr>
                        <a:t>Root Cause Identified</a:t>
                      </a:r>
                    </a:p>
                  </a:txBody>
                  <a:tcPr anchor="ctr" marL="54864" marR="54864" marT="27432" marB="27432">
                    <a:solidFill>
                      <a:srgbClr val="0B1F3A"/>
                    </a:solidFill>
                  </a:tcPr>
                </a:tc>
                <a:tc>
                  <a:txBody>
                    <a:bodyPr/>
                    <a:lstStyle/>
                    <a:p>
                      <a:pPr algn="l"/>
                      <a:r>
                        <a:rPr sz="1200" b="1">
                          <a:solidFill>
                            <a:srgbClr val="FFFFFF"/>
                          </a:solidFill>
                          <a:latin typeface="Calibri"/>
                        </a:rPr>
                        <a:t>Implemented Solution &amp; Regression Test Evidence</a:t>
                      </a:r>
                    </a:p>
                  </a:txBody>
                  <a:tcPr anchor="ctr" marL="54864" marR="54864" marT="27432" marB="27432">
                    <a:solidFill>
                      <a:srgbClr val="0B1F3A"/>
                    </a:solidFill>
                  </a:tcPr>
                </a:tc>
              </a:tr>
              <a:tr h="146304">
                <a:tc>
                  <a:txBody>
                    <a:bodyPr/>
                    <a:lstStyle/>
                    <a:p>
                      <a:pPr algn="l"/>
                      <a:r>
                        <a:rPr sz="1120" b="1">
                          <a:solidFill>
                            <a:srgbClr val="1F2937"/>
                          </a:solidFill>
                          <a:latin typeface="Calibri"/>
                        </a:rPr>
                        <a:t>1. Early benchmark scripts inflated QLAAC throughput</a:t>
                      </a:r>
                    </a:p>
                  </a:txBody>
                  <a:tcPr anchor="ctr" marL="54864" marR="54864" marT="27432" marB="27432">
                    <a:solidFill>
                      <a:srgbClr val="F3F6F9"/>
                    </a:solidFill>
                  </a:tcPr>
                </a:tc>
                <a:tc>
                  <a:txBody>
                    <a:bodyPr/>
                    <a:lstStyle/>
                    <a:p>
                      <a:pPr algn="l"/>
                      <a:r>
                        <a:rPr sz="1120" b="0">
                          <a:solidFill>
                            <a:srgbClr val="1F2937"/>
                          </a:solidFill>
                          <a:latin typeface="Calibri"/>
                        </a:rPr>
                        <a:t>Counted any 'HTTP/1.1' response as success, including fast 503 rejections</a:t>
                      </a:r>
                    </a:p>
                  </a:txBody>
                  <a:tcPr anchor="ctr" marL="54864" marR="54864" marT="27432" marB="27432">
                    <a:solidFill>
                      <a:srgbClr val="F3F6F9"/>
                    </a:solidFill>
                  </a:tcPr>
                </a:tc>
                <a:tc>
                  <a:txBody>
                    <a:bodyPr/>
                    <a:lstStyle/>
                    <a:p>
                      <a:pPr algn="l"/>
                      <a:r>
                        <a:rPr sz="1120" b="0">
                          <a:solidFill>
                            <a:srgbClr val="1F2937"/>
                          </a:solidFill>
                          <a:latin typeface="Calibri"/>
                        </a:rPr>
                        <a:t>Rewrote run_experiment.py to parse status codes, count 2xx/3xx/4xx/5xx/timeouts separately; throughput = 2xx only (test_benchmark_accounting.py)</a:t>
                      </a:r>
                    </a:p>
                  </a:txBody>
                  <a:tcPr anchor="ctr" marL="54864" marR="54864" marT="27432" marB="27432">
                    <a:solidFill>
                      <a:srgbClr val="F3F6F9"/>
                    </a:solidFill>
                  </a:tcPr>
                </a:tc>
              </a:tr>
              <a:tr h="146304">
                <a:tc>
                  <a:txBody>
                    <a:bodyPr/>
                    <a:lstStyle/>
                    <a:p>
                      <a:pPr algn="l"/>
                      <a:r>
                        <a:rPr sz="1120" b="1">
                          <a:solidFill>
                            <a:srgbClr val="1F2937"/>
                          </a:solidFill>
                          <a:latin typeface="Calibri"/>
                        </a:rPr>
                        <a:t>2. QLAAC collapsed throughput at C=8 (2,129 RPS) &amp; C=32 (1,127 RPS)</a:t>
                      </a:r>
                    </a:p>
                  </a:txBody>
                  <a:tcPr anchor="ctr" marL="54864" marR="54864" marT="27432" marB="27432">
                    <a:solidFill>
                      <a:srgbClr val="FFFFFF"/>
                    </a:solidFill>
                  </a:tcPr>
                </a:tc>
                <a:tc>
                  <a:txBody>
                    <a:bodyPr/>
                    <a:lstStyle/>
                    <a:p>
                      <a:pPr algn="l"/>
                      <a:r>
                        <a:rPr sz="1120" b="0">
                          <a:solidFill>
                            <a:srgbClr val="1F2937"/>
                          </a:solidFill>
                          <a:latin typeface="Calibri"/>
                        </a:rPr>
                        <a:t>v1 CAUTION set max_requests=1 &amp; triggered on worker saturation alone; v3 triggered OVERLOAD on queue_wait ≥100 ms at q=0.44</a:t>
                      </a:r>
                    </a:p>
                  </a:txBody>
                  <a:tcPr anchor="ctr" marL="54864" marR="54864" marT="27432" marB="27432">
                    <a:solidFill>
                      <a:srgbClr val="FFFFFF"/>
                    </a:solidFill>
                  </a:tcPr>
                </a:tc>
                <a:tc>
                  <a:txBody>
                    <a:bodyPr/>
                    <a:lstStyle/>
                    <a:p>
                      <a:pPr algn="l"/>
                      <a:r>
                        <a:rPr sz="1120" b="0">
                          <a:solidFill>
                            <a:srgbClr val="1F2937"/>
                          </a:solidFill>
                          <a:latin typeface="Calibri"/>
                        </a:rPr>
                        <a:t>Capped CAUTION keep-alive at 16 reqs (2 s); required queue/latency evidence with worker saturation; gated queue_wait_overload on q ≥ 0.70 → 0 rejections at C=32 in all 10 v4 trials</a:t>
                      </a:r>
                    </a:p>
                  </a:txBody>
                  <a:tcPr anchor="ctr" marL="54864" marR="54864" marT="27432" marB="27432">
                    <a:solidFill>
                      <a:srgbClr val="FFFFFF"/>
                    </a:solidFill>
                  </a:tcPr>
                </a:tc>
              </a:tr>
              <a:tr h="146304">
                <a:tc>
                  <a:txBody>
                    <a:bodyPr/>
                    <a:lstStyle/>
                    <a:p>
                      <a:pPr algn="l"/>
                      <a:r>
                        <a:rPr sz="1120" b="1">
                          <a:solidFill>
                            <a:srgbClr val="1F2937"/>
                          </a:solidFill>
                          <a:latin typeface="Calibri"/>
                        </a:rPr>
                        <a:t>3. Sequential benchmark runs drifted (C=2: 21,653 vs 13,149 RPS)</a:t>
                      </a:r>
                    </a:p>
                  </a:txBody>
                  <a:tcPr anchor="ctr" marL="54864" marR="54864" marT="27432" marB="27432">
                    <a:solidFill>
                      <a:srgbClr val="F3F6F9"/>
                    </a:solidFill>
                  </a:tcPr>
                </a:tc>
                <a:tc>
                  <a:txBody>
                    <a:bodyPr/>
                    <a:lstStyle/>
                    <a:p>
                      <a:pPr algn="l"/>
                      <a:r>
                        <a:rPr sz="1120" b="0">
                          <a:solidFill>
                            <a:srgbClr val="1F2937"/>
                          </a:solidFill>
                          <a:latin typeface="Calibri"/>
                        </a:rPr>
                        <a:t>Running all 40 standard trials then 40 retry-aware trials 502 s later suffered host thermal/clock drift &amp; state carryover</a:t>
                      </a:r>
                    </a:p>
                  </a:txBody>
                  <a:tcPr anchor="ctr" marL="54864" marR="54864" marT="27432" marB="27432">
                    <a:solidFill>
                      <a:srgbClr val="F3F6F9"/>
                    </a:solidFill>
                  </a:tcPr>
                </a:tc>
                <a:tc>
                  <a:txBody>
                    <a:bodyPr/>
                    <a:lstStyle/>
                    <a:p>
                      <a:pPr algn="l"/>
                      <a:r>
                        <a:rPr sz="1120" b="0">
                          <a:solidFill>
                            <a:srgbClr val="1F2937"/>
                          </a:solidFill>
                          <a:latin typeface="Calibri"/>
                        </a:rPr>
                        <a:t>Built paired interleaved runner (run_reproducible_evaluation.py): alternates Baseline/QLAAC order per pair on fresh server processes</a:t>
                      </a:r>
                    </a:p>
                  </a:txBody>
                  <a:tcPr anchor="ctr" marL="54864" marR="54864" marT="27432" marB="27432">
                    <a:solidFill>
                      <a:srgbClr val="F3F6F9"/>
                    </a:solidFill>
                  </a:tcPr>
                </a:tc>
              </a:tr>
              <a:tr h="146304">
                <a:tc>
                  <a:txBody>
                    <a:bodyPr/>
                    <a:lstStyle/>
                    <a:p>
                      <a:pPr algn="l"/>
                      <a:r>
                        <a:rPr sz="1120" b="1">
                          <a:solidFill>
                            <a:srgbClr val="1F2937"/>
                          </a:solidFill>
                          <a:latin typeface="Calibri"/>
                        </a:rPr>
                        <a:t>4. QLAAC shed counter overcounted vs 503s sent</a:t>
                      </a:r>
                    </a:p>
                  </a:txBody>
                  <a:tcPr anchor="ctr" marL="54864" marR="54864" marT="27432" marB="27432">
                    <a:solidFill>
                      <a:srgbClr val="FFFFFF"/>
                    </a:solidFill>
                  </a:tcPr>
                </a:tc>
                <a:tc>
                  <a:txBody>
                    <a:bodyPr/>
                    <a:lstStyle/>
                    <a:p>
                      <a:pPr algn="l"/>
                      <a:r>
                        <a:rPr sz="1120" b="0">
                          <a:solidFill>
                            <a:srgbClr val="1F2937"/>
                          </a:solidFill>
                          <a:latin typeface="Calibri"/>
                        </a:rPr>
                        <a:t>Workers called evaluate() inside keep-alive loop, incrementing total_shed_requests without sending 503</a:t>
                      </a:r>
                    </a:p>
                  </a:txBody>
                  <a:tcPr anchor="ctr" marL="54864" marR="54864" marT="27432" marB="27432">
                    <a:solidFill>
                      <a:srgbClr val="FFFFFF"/>
                    </a:solidFill>
                  </a:tcPr>
                </a:tc>
                <a:tc>
                  <a:txBody>
                    <a:bodyPr/>
                    <a:lstStyle/>
                    <a:p>
                      <a:pPr algn="l"/>
                      <a:r>
                        <a:rPr sz="1120" b="0">
                          <a:solidFill>
                            <a:srgbClr val="1F2937"/>
                          </a:solidFill>
                          <a:latin typeface="Calibri"/>
                        </a:rPr>
                        <a:t>Added side-effect-free adaptive_controller_get_state() for workers; separated qlaac_shed_requests, total_connections_rejected, and total_overload_503_sent</a:t>
                      </a:r>
                    </a:p>
                  </a:txBody>
                  <a:tcPr anchor="ctr" marL="54864" marR="54864" marT="27432" marB="27432">
                    <a:solidFill>
                      <a:srgbClr val="FFFFFF"/>
                    </a:solidFill>
                  </a:tcPr>
                </a:tc>
              </a:tr>
              <a:tr h="146304">
                <a:tc>
                  <a:txBody>
                    <a:bodyPr/>
                    <a:lstStyle/>
                    <a:p>
                      <a:pPr algn="l"/>
                      <a:r>
                        <a:rPr sz="1120" b="1">
                          <a:solidFill>
                            <a:srgbClr val="1F2937"/>
                          </a:solidFill>
                          <a:latin typeface="Calibri"/>
                        </a:rPr>
                        <a:t>5. Queue wait invisible to controller; 0-2xx trials reported 0.00 ms</a:t>
                      </a:r>
                    </a:p>
                  </a:txBody>
                  <a:tcPr anchor="ctr" marL="54864" marR="54864" marT="27432" marB="27432">
                    <a:solidFill>
                      <a:srgbClr val="F3F6F9"/>
                    </a:solidFill>
                  </a:tcPr>
                </a:tc>
                <a:tc>
                  <a:txBody>
                    <a:bodyPr/>
                    <a:lstStyle/>
                    <a:p>
                      <a:pPr algn="l"/>
                      <a:r>
                        <a:rPr sz="1120" b="0">
                          <a:solidFill>
                            <a:srgbClr val="1F2937"/>
                          </a:solidFill>
                          <a:latin typeface="Calibri"/>
                        </a:rPr>
                        <a:t>Latency timer started only after worker dequeue; empty 2xx list defaulted to 0.0</a:t>
                      </a:r>
                    </a:p>
                  </a:txBody>
                  <a:tcPr anchor="ctr" marL="54864" marR="54864" marT="27432" marB="27432">
                    <a:solidFill>
                      <a:srgbClr val="F3F6F9"/>
                    </a:solidFill>
                  </a:tcPr>
                </a:tc>
                <a:tc>
                  <a:txBody>
                    <a:bodyPr/>
                    <a:lstStyle/>
                    <a:p>
                      <a:pPr algn="l"/>
                      <a:r>
                        <a:rPr sz="1120" b="0">
                          <a:solidFill>
                            <a:srgbClr val="1F2937"/>
                          </a:solidFill>
                          <a:latin typeface="Calibri"/>
                        </a:rPr>
                        <a:t>Added enqueued_ns/dequeued_ns &amp; p95_queue_wait_ms reservoir; report N/A when success_2xx == 0 (test_zero_success_reports_na_latency)</a:t>
                      </a:r>
                    </a:p>
                  </a:txBody>
                  <a:tcPr anchor="ctr" marL="54864" marR="54864" marT="27432" marB="27432">
                    <a:solidFill>
                      <a:srgbClr val="F3F6F9"/>
                    </a:solidFill>
                  </a:tcPr>
                </a:tc>
              </a:tr>
              <a:tr h="146304">
                <a:tc>
                  <a:txBody>
                    <a:bodyPr/>
                    <a:lstStyle/>
                    <a:p>
                      <a:pPr algn="l"/>
                      <a:r>
                        <a:rPr sz="1120" b="1">
                          <a:solidFill>
                            <a:srgbClr val="1F2937"/>
                          </a:solidFill>
                          <a:latin typeface="Calibri"/>
                        </a:rPr>
                        <a:t>6. Server-dependent Python tests skipped silently or hit wrong port</a:t>
                      </a:r>
                    </a:p>
                  </a:txBody>
                  <a:tcPr anchor="ctr" marL="54864" marR="54864" marT="27432" marB="27432">
                    <a:solidFill>
                      <a:srgbClr val="FFFFFF"/>
                    </a:solidFill>
                  </a:tcPr>
                </a:tc>
                <a:tc>
                  <a:txBody>
                    <a:bodyPr/>
                    <a:lstStyle/>
                    <a:p>
                      <a:pPr algn="l"/>
                      <a:r>
                        <a:rPr sz="1120" b="0">
                          <a:solidFill>
                            <a:srgbClr val="1F2937"/>
                          </a:solidFill>
                          <a:latin typeface="Calibri"/>
                        </a:rPr>
                        <a:t>Running unittest without server skipped 21/22 tests; TCP-only probe matched unrelated port-8080 service</a:t>
                      </a:r>
                    </a:p>
                  </a:txBody>
                  <a:tcPr anchor="ctr" marL="54864" marR="54864" marT="27432" marB="27432">
                    <a:solidFill>
                      <a:srgbClr val="FFFFFF"/>
                    </a:solidFill>
                  </a:tcPr>
                </a:tc>
                <a:tc>
                  <a:txBody>
                    <a:bodyPr/>
                    <a:lstStyle/>
                    <a:p>
                      <a:pPr algn="l"/>
                      <a:r>
                        <a:rPr sz="1120" b="0">
                          <a:solidFill>
                            <a:srgbClr val="1F2937"/>
                          </a:solidFill>
                          <a:latin typeface="Calibri"/>
                        </a:rPr>
                        <a:t>Created scripts/run_all_tests.sh; refined wait_for_server() to verify /health JSON identity + 12 readiness tests (test_readiness_check.py)</a:t>
                      </a:r>
                    </a:p>
                  </a:txBody>
                  <a:tcPr anchor="ctr" marL="54864" marR="54864" marT="27432" marB="27432">
                    <a:solidFill>
                      <a:srgbClr val="FFFFFF"/>
                    </a:solidFill>
                  </a:tcPr>
                </a:tc>
              </a:tr>
            </a:tbl>
          </a:graphicData>
        </a:graphic>
      </p:graphicFrame>
      <p:sp>
        <p:nvSpPr>
          <p:cNvPr id="5" name="TextBox 4"/>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4.4, Table 4.4 (pp. 23–25) &amp; Appendix B.4–B.8</a:t>
            </a:r>
          </a:p>
        </p:txBody>
      </p:sp>
      <p:sp>
        <p:nvSpPr>
          <p:cNvPr id="6" name="TextBox 5"/>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Genuine Runtime Captures: Dashboard, /health &amp; /api/echo</a:t>
            </a:r>
          </a:p>
          <a:p>
            <a:pPr algn="l"/>
            <a:r>
              <a:rPr sz="1500" b="0">
                <a:solidFill>
                  <a:srgbClr val="5B6676"/>
                </a:solidFill>
                <a:latin typeface="Calibri"/>
              </a:rPr>
              <a:t>Unaltered screenshots 01, 02, and 03 illustrating live telemetry and endpoint verification (Report Fig. 4.1, B.1, B.2)</a:t>
            </a:r>
          </a:p>
        </p:txBody>
      </p:sp>
      <p:sp>
        <p:nvSpPr>
          <p:cNvPr id="4" name="Rounded Rectangle 3"/>
          <p:cNvSpPr/>
          <p:nvPr/>
        </p:nvSpPr>
        <p:spPr>
          <a:xfrm>
            <a:off x="594360" y="1965960"/>
            <a:ext cx="5577840" cy="3246120"/>
          </a:xfrm>
          <a:prstGeom prst="roundRect">
            <a:avLst>
              <a:gd name="adj" fmla="val 2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01_dashboard_overview.png"/>
          <p:cNvPicPr>
            <a:picLocks noChangeAspect="1"/>
          </p:cNvPicPr>
          <p:nvPr/>
        </p:nvPicPr>
        <p:blipFill>
          <a:blip r:embed="rId2"/>
          <a:stretch>
            <a:fillRect/>
          </a:stretch>
        </p:blipFill>
        <p:spPr>
          <a:xfrm>
            <a:off x="1058418" y="2039112"/>
            <a:ext cx="4649724" cy="3099816"/>
          </a:xfrm>
          <a:prstGeom prst="rect">
            <a:avLst/>
          </a:prstGeom>
          <a:ln>
            <a:noFill/>
          </a:ln>
          <a:effectLst/>
        </p:spPr>
      </p:pic>
      <p:sp>
        <p:nvSpPr>
          <p:cNvPr id="6" name="Rounded Rectangle 5"/>
          <p:cNvSpPr/>
          <p:nvPr/>
        </p:nvSpPr>
        <p:spPr>
          <a:xfrm>
            <a:off x="6355080" y="1965960"/>
            <a:ext cx="5239512" cy="1572768"/>
          </a:xfrm>
          <a:prstGeom prst="roundRect">
            <a:avLst>
              <a:gd name="adj" fmla="val 2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Picture 6" descr="02_health_check.png"/>
          <p:cNvPicPr>
            <a:picLocks noChangeAspect="1"/>
          </p:cNvPicPr>
          <p:nvPr/>
        </p:nvPicPr>
        <p:blipFill>
          <a:blip r:embed="rId3"/>
          <a:stretch>
            <a:fillRect/>
          </a:stretch>
        </p:blipFill>
        <p:spPr>
          <a:xfrm>
            <a:off x="7863840" y="2011680"/>
            <a:ext cx="2221992" cy="1481328"/>
          </a:xfrm>
          <a:prstGeom prst="rect">
            <a:avLst/>
          </a:prstGeom>
          <a:ln>
            <a:noFill/>
          </a:ln>
          <a:effectLst/>
        </p:spPr>
      </p:pic>
      <p:sp>
        <p:nvSpPr>
          <p:cNvPr id="8" name="Rounded Rectangle 7"/>
          <p:cNvSpPr/>
          <p:nvPr/>
        </p:nvSpPr>
        <p:spPr>
          <a:xfrm>
            <a:off x="6355080" y="3639312"/>
            <a:ext cx="5239512" cy="1572768"/>
          </a:xfrm>
          <a:prstGeom prst="roundRect">
            <a:avLst>
              <a:gd name="adj" fmla="val 2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03_post_echo.png"/>
          <p:cNvPicPr>
            <a:picLocks noChangeAspect="1"/>
          </p:cNvPicPr>
          <p:nvPr/>
        </p:nvPicPr>
        <p:blipFill>
          <a:blip r:embed="rId4"/>
          <a:stretch>
            <a:fillRect/>
          </a:stretch>
        </p:blipFill>
        <p:spPr>
          <a:xfrm>
            <a:off x="7590492" y="3685032"/>
            <a:ext cx="2768687" cy="1481328"/>
          </a:xfrm>
          <a:prstGeom prst="rect">
            <a:avLst/>
          </a:prstGeom>
          <a:ln>
            <a:noFill/>
          </a:ln>
          <a:effectLst/>
        </p:spPr>
      </p:pic>
      <p:sp>
        <p:nvSpPr>
          <p:cNvPr id="10" name="Rounded Rectangle 9"/>
          <p:cNvSpPr/>
          <p:nvPr/>
        </p:nvSpPr>
        <p:spPr>
          <a:xfrm>
            <a:off x="594360" y="5303520"/>
            <a:ext cx="11002975" cy="896112"/>
          </a:xfrm>
          <a:prstGeom prst="roundRect">
            <a:avLst>
              <a:gd name="adj" fmla="val 4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58952" y="5358383"/>
            <a:ext cx="10673791" cy="786384"/>
          </a:xfrm>
          <a:prstGeom prst="rect">
            <a:avLst/>
          </a:prstGeom>
          <a:noFill/>
        </p:spPr>
        <p:txBody>
          <a:bodyPr wrap="square" anchor="t" lIns="0" tIns="0" rIns="0" bIns="0">
            <a:noAutofit/>
          </a:bodyPr>
          <a:lstStyle/>
          <a:p>
            <a:pPr algn="l" marL="182880" indent="-182880">
              <a:spcAft>
                <a:spcPts val="200"/>
              </a:spcAft>
              <a:buFont typeface="Calibri"/>
              <a:buChar char="•"/>
            </a:pPr>
            <a:r>
              <a:rPr sz="1150" b="1">
                <a:solidFill>
                  <a:srgbClr val="0B1F3A"/>
                </a:solidFill>
                <a:latin typeface="Calibri"/>
              </a:rPr>
              <a:t>01_dashboard_overview.png (Left): </a:t>
            </a:r>
            <a:r>
              <a:rPr sz="1150" b="0">
                <a:solidFill>
                  <a:srgbClr val="1F2937"/>
                </a:solidFill>
                <a:latin typeface="Calibri"/>
              </a:rPr>
              <a:t>Shows QLAAC: ENABLED, 1/4 active workers (25%), 0/64 queue, 294 accepted, 3,435 completed. Note: '— ms (idle)' means no 2xx samples in the last 5 s window (never 0.00 ms latency); captured before the queue-wait p95 widget was added to public/index.html.</a:t>
            </a:r>
          </a:p>
          <a:p>
            <a:pPr algn="l" marL="182880" indent="-182880">
              <a:spcAft>
                <a:spcPts val="0"/>
              </a:spcAft>
              <a:buFont typeface="Calibri"/>
              <a:buChar char="•"/>
            </a:pPr>
            <a:r>
              <a:rPr sz="1150" b="1">
                <a:solidFill>
                  <a:srgbClr val="0B1F3A"/>
                </a:solidFill>
                <a:latin typeface="Calibri"/>
              </a:rPr>
              <a:t>02_health_check.png &amp; 03_post_echo.png (Right): </a:t>
            </a:r>
            <a:r>
              <a:rPr sz="1150" b="0">
                <a:solidFill>
                  <a:srgbClr val="1F2937"/>
                </a:solidFill>
                <a:latin typeface="Calibri"/>
              </a:rPr>
              <a:t>Interactive console verifying GET /health → 200 OK (4.50 ms, JSON identity 'HTTP-Server-C17/1.0.0') and POST /api/echo → 200 OK (5.30 ms, echoing Content-Length payload). Functional checks, not benchmark runs.</a:t>
            </a:r>
          </a:p>
        </p:txBody>
      </p:sp>
      <p:sp>
        <p:nvSpPr>
          <p:cNvPr id="12" name="TextBox 11"/>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Fig. 4.1 (p. 23) &amp; Appendix B.1 Figs. B.1–B.2 (pp. 44–45); results/screenshots/01–03.png</a:t>
            </a:r>
          </a:p>
        </p:txBody>
      </p:sp>
      <p:sp>
        <p:nvSpPr>
          <p:cNvPr id="13" name="TextBox 12"/>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6 · IMPLEMENTATION SETUP</a:t>
            </a:r>
          </a:p>
          <a:p>
            <a:pPr algn="l">
              <a:spcAft>
                <a:spcPts val="300"/>
              </a:spcAft>
            </a:pPr>
            <a:r>
              <a:rPr sz="2700" b="1">
                <a:solidFill>
                  <a:srgbClr val="0B1F3A"/>
                </a:solidFill>
                <a:latin typeface="Cambria"/>
              </a:rPr>
              <a:t>Genuine Runtime Captures: Burst Telemetry &amp; QLAAC Panel</a:t>
            </a:r>
          </a:p>
          <a:p>
            <a:pPr algn="l"/>
            <a:r>
              <a:rPr sz="1500" b="0">
                <a:solidFill>
                  <a:srgbClr val="5B6676"/>
                </a:solidFill>
                <a:latin typeface="Calibri"/>
              </a:rPr>
              <a:t>Unaltered screenshots 04 and 05 with explicit scope qualifications (Report Appendix B.1 Figs. B.3 &amp; B.4)</a:t>
            </a:r>
          </a:p>
        </p:txBody>
      </p:sp>
      <p:sp>
        <p:nvSpPr>
          <p:cNvPr id="4" name="Rounded Rectangle 3"/>
          <p:cNvSpPr/>
          <p:nvPr/>
        </p:nvSpPr>
        <p:spPr>
          <a:xfrm>
            <a:off x="594360" y="1965960"/>
            <a:ext cx="5376672" cy="2971800"/>
          </a:xfrm>
          <a:prstGeom prst="roundRect">
            <a:avLst>
              <a:gd name="adj" fmla="val 2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04_live_metrics.png"/>
          <p:cNvPicPr>
            <a:picLocks noChangeAspect="1"/>
          </p:cNvPicPr>
          <p:nvPr/>
        </p:nvPicPr>
        <p:blipFill>
          <a:blip r:embed="rId2"/>
          <a:stretch>
            <a:fillRect/>
          </a:stretch>
        </p:blipFill>
        <p:spPr>
          <a:xfrm>
            <a:off x="1149857" y="2029968"/>
            <a:ext cx="4265676" cy="2843784"/>
          </a:xfrm>
          <a:prstGeom prst="rect">
            <a:avLst/>
          </a:prstGeom>
          <a:ln>
            <a:noFill/>
          </a:ln>
          <a:effectLst/>
        </p:spPr>
      </p:pic>
      <p:sp>
        <p:nvSpPr>
          <p:cNvPr id="6" name="Rounded Rectangle 5"/>
          <p:cNvSpPr/>
          <p:nvPr/>
        </p:nvSpPr>
        <p:spPr>
          <a:xfrm>
            <a:off x="6217920" y="1965960"/>
            <a:ext cx="5376672" cy="2971800"/>
          </a:xfrm>
          <a:prstGeom prst="roundRect">
            <a:avLst>
              <a:gd name="adj" fmla="val 2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Picture 6" descr="05_qlaac_load_test.png"/>
          <p:cNvPicPr>
            <a:picLocks noChangeAspect="1"/>
          </p:cNvPicPr>
          <p:nvPr/>
        </p:nvPicPr>
        <p:blipFill>
          <a:blip r:embed="rId3"/>
          <a:stretch>
            <a:fillRect/>
          </a:stretch>
        </p:blipFill>
        <p:spPr>
          <a:xfrm>
            <a:off x="6773418" y="2029968"/>
            <a:ext cx="4265676" cy="2843784"/>
          </a:xfrm>
          <a:prstGeom prst="rect">
            <a:avLst/>
          </a:prstGeom>
          <a:ln>
            <a:noFill/>
          </a:ln>
          <a:effectLst/>
        </p:spPr>
      </p:pic>
      <p:sp>
        <p:nvSpPr>
          <p:cNvPr id="8" name="Rounded Rectangle 7"/>
          <p:cNvSpPr/>
          <p:nvPr/>
        </p:nvSpPr>
        <p:spPr>
          <a:xfrm>
            <a:off x="594360" y="5029200"/>
            <a:ext cx="5376672" cy="1143000"/>
          </a:xfrm>
          <a:prstGeom prst="roundRect">
            <a:avLst>
              <a:gd name="adj" fmla="val 4000"/>
            </a:avLst>
          </a:prstGeom>
          <a:solidFill>
            <a:srgbClr val="FCF1D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5084064"/>
            <a:ext cx="5047488" cy="1033271"/>
          </a:xfrm>
          <a:prstGeom prst="rect">
            <a:avLst/>
          </a:prstGeom>
          <a:noFill/>
        </p:spPr>
        <p:txBody>
          <a:bodyPr wrap="square" anchor="t" lIns="0" tIns="0" rIns="0" bIns="0">
            <a:noAutofit/>
          </a:bodyPr>
          <a:lstStyle/>
          <a:p>
            <a:pPr algn="l">
              <a:spcAft>
                <a:spcPts val="350"/>
              </a:spcAft>
            </a:pPr>
            <a:r>
              <a:rPr sz="1400" b="1">
                <a:solidFill>
                  <a:srgbClr val="9A5B00"/>
                </a:solidFill>
                <a:latin typeface="Cambria"/>
              </a:rPr>
              <a:t>04_live_metrics.png — Functional Burst (Not a Benchmark)</a:t>
            </a:r>
          </a:p>
          <a:p>
            <a:pPr algn="l">
              <a:spcAft>
                <a:spcPts val="0"/>
              </a:spcAft>
            </a:pPr>
            <a:r>
              <a:rPr sz="1130" b="1">
                <a:solidFill>
                  <a:srgbClr val="0B1F3A"/>
                </a:solidFill>
                <a:latin typeface="Calibri"/>
              </a:rPr>
              <a:t>Populated 5 s Latency Reservoir: </a:t>
            </a:r>
            <a:r>
              <a:rPr sz="1130" b="0">
                <a:solidFill>
                  <a:srgbClr val="1F2937"/>
                </a:solidFill>
                <a:latin typeface="Calibri"/>
              </a:rPr>
              <a:t>Shows 0.67 RPS, 414 accepted connections, and populated 2xx percentiles (p50: 0.12 ms, p95: 0.44 ms, p99: 0.82 ms, avg: 0.15 ms) after a short manual burst—used only to verify runtime telemetry, not for Chapter 5 claims.</a:t>
            </a:r>
          </a:p>
        </p:txBody>
      </p:sp>
      <p:sp>
        <p:nvSpPr>
          <p:cNvPr id="10" name="Rounded Rectangle 9"/>
          <p:cNvSpPr/>
          <p:nvPr/>
        </p:nvSpPr>
        <p:spPr>
          <a:xfrm>
            <a:off x="6217920" y="5029200"/>
            <a:ext cx="5376672" cy="1143000"/>
          </a:xfrm>
          <a:prstGeom prst="roundRect">
            <a:avLst>
              <a:gd name="adj" fmla="val 4000"/>
            </a:avLst>
          </a:prstGeom>
          <a:solidFill>
            <a:srgbClr val="FBE4E1"/>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382512" y="5084064"/>
            <a:ext cx="5047488" cy="1033271"/>
          </a:xfrm>
          <a:prstGeom prst="rect">
            <a:avLst/>
          </a:prstGeom>
          <a:noFill/>
        </p:spPr>
        <p:txBody>
          <a:bodyPr wrap="square" anchor="t" lIns="0" tIns="0" rIns="0" bIns="0">
            <a:noAutofit/>
          </a:bodyPr>
          <a:lstStyle/>
          <a:p>
            <a:pPr algn="l">
              <a:spcAft>
                <a:spcPts val="350"/>
              </a:spcAft>
            </a:pPr>
            <a:r>
              <a:rPr sz="1300" b="1">
                <a:solidFill>
                  <a:srgbClr val="C8453B"/>
                </a:solidFill>
                <a:latin typeface="Cambria"/>
              </a:rPr>
              <a:t>05_qlaac_load_test.png — Idle NORMAL State (Not OVERLOAD)</a:t>
            </a:r>
          </a:p>
          <a:p>
            <a:pPr algn="l">
              <a:spcAft>
                <a:spcPts val="0"/>
              </a:spcAft>
            </a:pPr>
            <a:r>
              <a:rPr sz="1050" b="1">
                <a:solidFill>
                  <a:srgbClr val="0B1F3A"/>
                </a:solidFill>
                <a:latin typeface="Calibri"/>
              </a:rPr>
              <a:t>Honest Visual Qualification: </a:t>
            </a:r>
            <a:r>
              <a:rPr sz="1050" b="0">
                <a:solidFill>
                  <a:srgbClr val="1F2937"/>
                </a:solidFill>
                <a:latin typeface="Calibri"/>
              </a:rPr>
              <a:t>Despite the filename, this capture shows CURRENT CONTROLLER STATE: NORMAL at idle (Worker Saturation: 25.0%, Queue: 0.0%, p95: — idle, 0 transitions, 0 shed)—never claimed as evidence of CAUTION or OVERLOAD.</a:t>
            </a:r>
          </a:p>
        </p:txBody>
      </p:sp>
      <p:sp>
        <p:nvSpPr>
          <p:cNvPr id="12" name="TextBox 11"/>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Appendix B.1 Figs. B.3–B.4 (pp. 45–46); results/screenshots/04–05.png</a:t>
            </a:r>
          </a:p>
        </p:txBody>
      </p:sp>
      <p:sp>
        <p:nvSpPr>
          <p:cNvPr id="13" name="TextBox 12"/>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7 · SCENARIOS AND METRICS</a:t>
            </a:r>
          </a:p>
          <a:p>
            <a:pPr algn="l">
              <a:spcAft>
                <a:spcPts val="300"/>
              </a:spcAft>
            </a:pPr>
            <a:r>
              <a:rPr sz="2700" b="1">
                <a:solidFill>
                  <a:srgbClr val="0B1F3A"/>
                </a:solidFill>
                <a:latin typeface="Cambria"/>
              </a:rPr>
              <a:t>Experimental Scenarios &amp; Paired Trial Methodology</a:t>
            </a:r>
          </a:p>
          <a:p>
            <a:pPr algn="l"/>
            <a:r>
              <a:rPr sz="1500" b="0">
                <a:solidFill>
                  <a:srgbClr val="5B6676"/>
                </a:solidFill>
                <a:latin typeface="Calibri"/>
              </a:rPr>
              <a:t>Concurrency grid (C = 2, 8, 32, 64), client retry modes, paired fresh-process design, and separate datasets</a:t>
            </a:r>
          </a:p>
        </p:txBody>
      </p:sp>
      <p:graphicFrame>
        <p:nvGraphicFramePr>
          <p:cNvPr id="4" name="Table 3"/>
          <p:cNvGraphicFramePr>
            <a:graphicFrameLocks noGrp="1"/>
          </p:cNvGraphicFramePr>
          <p:nvPr/>
        </p:nvGraphicFramePr>
        <p:xfrm>
          <a:off x="594360" y="2011680"/>
          <a:ext cx="11000232" cy="1170432"/>
        </p:xfrm>
        <a:graphic>
          <a:graphicData uri="http://schemas.openxmlformats.org/drawingml/2006/table">
            <a:tbl>
              <a:tblPr firstRow="1" bandRow="1">
                <a:tableStyleId>{5C22544A-7EE6-4342-B048-85BDC9FD1C3A}</a:tableStyleId>
              </a:tblPr>
              <a:tblGrid>
                <a:gridCol w="2880360"/>
                <a:gridCol w="8119872"/>
              </a:tblGrid>
              <a:tr h="146304">
                <a:tc>
                  <a:txBody>
                    <a:bodyPr/>
                    <a:lstStyle/>
                    <a:p>
                      <a:pPr algn="l"/>
                      <a:r>
                        <a:rPr sz="1200" b="1">
                          <a:solidFill>
                            <a:srgbClr val="FFFFFF"/>
                          </a:solidFill>
                          <a:latin typeface="Calibri"/>
                        </a:rPr>
                        <a:t>Methodology Dimension</a:t>
                      </a:r>
                    </a:p>
                  </a:txBody>
                  <a:tcPr anchor="ctr" marL="54864" marR="54864" marT="27432" marB="27432">
                    <a:solidFill>
                      <a:srgbClr val="0B1F3A"/>
                    </a:solidFill>
                  </a:tcPr>
                </a:tc>
                <a:tc>
                  <a:txBody>
                    <a:bodyPr/>
                    <a:lstStyle/>
                    <a:p>
                      <a:pPr algn="l"/>
                      <a:r>
                        <a:rPr sz="1200" b="1">
                          <a:solidFill>
                            <a:srgbClr val="FFFFFF"/>
                          </a:solidFill>
                          <a:latin typeface="Calibri"/>
                        </a:rPr>
                        <a:t>Configured Design in benchmark/run_reproducible_evaluation.py (Tables 4.2 &amp; 5.2)</a:t>
                      </a:r>
                    </a:p>
                  </a:txBody>
                  <a:tcPr anchor="ctr" marL="54864" marR="54864" marT="27432" marB="27432">
                    <a:solidFill>
                      <a:srgbClr val="0B1F3A"/>
                    </a:solidFill>
                  </a:tcPr>
                </a:tc>
              </a:tr>
              <a:tr h="146304">
                <a:tc>
                  <a:txBody>
                    <a:bodyPr/>
                    <a:lstStyle/>
                    <a:p>
                      <a:pPr algn="l"/>
                      <a:r>
                        <a:rPr sz="1120" b="1">
                          <a:solidFill>
                            <a:srgbClr val="1F2937"/>
                          </a:solidFill>
                          <a:latin typeface="Calibri"/>
                        </a:rPr>
                        <a:t>Target Workload &amp; Transport</a:t>
                      </a:r>
                    </a:p>
                  </a:txBody>
                  <a:tcPr anchor="ctr" marL="54864" marR="54864" marT="27432" marB="27432">
                    <a:solidFill>
                      <a:srgbClr val="F3F6F9"/>
                    </a:solidFill>
                  </a:tcPr>
                </a:tc>
                <a:tc>
                  <a:txBody>
                    <a:bodyPr/>
                    <a:lstStyle/>
                    <a:p>
                      <a:pPr algn="l"/>
                      <a:r>
                        <a:rPr sz="1120" b="0">
                          <a:solidFill>
                            <a:srgbClr val="1F2937"/>
                          </a:solidFill>
                          <a:latin typeface="Calibri"/>
                        </a:rPr>
                        <a:t>GET /health (returns 89-byte JSON payload) over local loopback (127.0.0.1); up to 50 sequential requests per persistent connection</a:t>
                      </a:r>
                    </a:p>
                  </a:txBody>
                  <a:tcPr anchor="ctr" marL="54864" marR="54864" marT="27432" marB="27432">
                    <a:solidFill>
                      <a:srgbClr val="F3F6F9"/>
                    </a:solidFill>
                  </a:tcPr>
                </a:tc>
              </a:tr>
              <a:tr h="146304">
                <a:tc>
                  <a:txBody>
                    <a:bodyPr/>
                    <a:lstStyle/>
                    <a:p>
                      <a:pPr algn="l"/>
                      <a:r>
                        <a:rPr sz="1120" b="1">
                          <a:solidFill>
                            <a:srgbClr val="1F2937"/>
                          </a:solidFill>
                          <a:latin typeface="Calibri"/>
                        </a:rPr>
                        <a:t>Four Concurrency Scenarios (C)</a:t>
                      </a:r>
                    </a:p>
                  </a:txBody>
                  <a:tcPr anchor="ctr" marL="54864" marR="54864" marT="27432" marB="27432">
                    <a:solidFill>
                      <a:srgbClr val="FFFFFF"/>
                    </a:solidFill>
                  </a:tcPr>
                </a:tc>
                <a:tc>
                  <a:txBody>
                    <a:bodyPr/>
                    <a:lstStyle/>
                    <a:p>
                      <a:pPr algn="l"/>
                      <a:r>
                        <a:rPr sz="1120" b="0">
                          <a:solidFill>
                            <a:srgbClr val="1F2937"/>
                          </a:solidFill>
                          <a:latin typeface="Calibri"/>
                        </a:rPr>
                        <a:t>C = 2 (S1 Low: 0 queued &lt; 4 workers), C = 8 (S2a Medium: 4 queued = 1 round), C = 32 (S2b Med-High: 28 queued = 44% depth, 7 rounds), C = 64 (S3 High: 60 queued = 94% depth, 15 rounds)</a:t>
                      </a:r>
                    </a:p>
                  </a:txBody>
                  <a:tcPr anchor="ctr" marL="54864" marR="54864" marT="27432" marB="27432">
                    <a:solidFill>
                      <a:srgbClr val="FFFFFF"/>
                    </a:solidFill>
                  </a:tcPr>
                </a:tc>
              </a:tr>
              <a:tr h="146304">
                <a:tc>
                  <a:txBody>
                    <a:bodyPr/>
                    <a:lstStyle/>
                    <a:p>
                      <a:pPr algn="l"/>
                      <a:r>
                        <a:rPr sz="1120" b="1">
                          <a:solidFill>
                            <a:srgbClr val="1F2937"/>
                          </a:solidFill>
                          <a:latin typeface="Calibri"/>
                        </a:rPr>
                        <a:t>Two Client Retry Modes</a:t>
                      </a:r>
                    </a:p>
                  </a:txBody>
                  <a:tcPr anchor="ctr" marL="54864" marR="54864" marT="27432" marB="27432">
                    <a:solidFill>
                      <a:srgbClr val="F3F6F9"/>
                    </a:solidFill>
                  </a:tcPr>
                </a:tc>
                <a:tc>
                  <a:txBody>
                    <a:bodyPr/>
                    <a:lstStyle/>
                    <a:p>
                      <a:pPr algn="l"/>
                      <a:r>
                        <a:rPr sz="1120" b="0">
                          <a:solidFill>
                            <a:srgbClr val="1F2937"/>
                          </a:solidFill>
                          <a:latin typeface="Calibri"/>
                        </a:rPr>
                        <a:t>Standard client: reconnects immediately after HTTP 503. Retry-Aware client: parses Retry-After header (sleeps 5 s; 1 s fallback) and logs total_backoff_sec</a:t>
                      </a:r>
                    </a:p>
                  </a:txBody>
                  <a:tcPr anchor="ctr" marL="54864" marR="54864" marT="27432" marB="27432">
                    <a:solidFill>
                      <a:srgbClr val="F3F6F9"/>
                    </a:solidFill>
                  </a:tcPr>
                </a:tc>
              </a:tr>
              <a:tr h="146304">
                <a:tc>
                  <a:txBody>
                    <a:bodyPr/>
                    <a:lstStyle/>
                    <a:p>
                      <a:pPr algn="l"/>
                      <a:r>
                        <a:rPr sz="1120" b="1">
                          <a:solidFill>
                            <a:srgbClr val="1F2937"/>
                          </a:solidFill>
                          <a:latin typeface="Calibri"/>
                        </a:rPr>
                        <a:t>Paired Trial Protocol &amp; Duration</a:t>
                      </a:r>
                    </a:p>
                  </a:txBody>
                  <a:tcPr anchor="ctr" marL="54864" marR="54864" marT="27432" marB="27432">
                    <a:solidFill>
                      <a:srgbClr val="FFFFFF"/>
                    </a:solidFill>
                  </a:tcPr>
                </a:tc>
                <a:tc>
                  <a:txBody>
                    <a:bodyPr/>
                    <a:lstStyle/>
                    <a:p>
                      <a:pPr algn="l"/>
                      <a:r>
                        <a:rPr sz="1120" b="0">
                          <a:solidFill>
                            <a:srgbClr val="1F2937"/>
                          </a:solidFill>
                          <a:latin typeface="Calibri"/>
                        </a:rPr>
                        <a:t>5 matched pairs (t = 1..5) × 10.0 s timed duration per C and client mode = 40 trials per mode, 80 timed trials per dataset</a:t>
                      </a:r>
                    </a:p>
                  </a:txBody>
                  <a:tcPr anchor="ctr" marL="54864" marR="54864" marT="27432" marB="27432">
                    <a:solidFill>
                      <a:srgbClr val="FFFFFF"/>
                    </a:solidFill>
                  </a:tcPr>
                </a:tc>
              </a:tr>
              <a:tr h="146304">
                <a:tc>
                  <a:txBody>
                    <a:bodyPr/>
                    <a:lstStyle/>
                    <a:p>
                      <a:pPr algn="l"/>
                      <a:r>
                        <a:rPr sz="1120" b="1">
                          <a:solidFill>
                            <a:srgbClr val="1F2937"/>
                          </a:solidFill>
                          <a:latin typeface="Calibri"/>
                        </a:rPr>
                        <a:t>Alternating Execution Order</a:t>
                      </a:r>
                    </a:p>
                  </a:txBody>
                  <a:tcPr anchor="ctr" marL="54864" marR="54864" marT="27432" marB="27432">
                    <a:solidFill>
                      <a:srgbClr val="F3F6F9"/>
                    </a:solidFill>
                  </a:tcPr>
                </a:tc>
                <a:tc>
                  <a:txBody>
                    <a:bodyPr/>
                    <a:lstStyle/>
                    <a:p>
                      <a:pPr algn="l"/>
                      <a:r>
                        <a:rPr sz="1120" b="0">
                          <a:solidFill>
                            <a:srgbClr val="1F2937"/>
                          </a:solidFill>
                          <a:latin typeface="Calibri"/>
                        </a:rPr>
                        <a:t>Odd pairs (t = 1, 3, 5) run Baseline first then QLAAC; Even pairs (t = 2, 4) run QLAAC first then Baseline to cancel thermal/clock drift</a:t>
                      </a:r>
                    </a:p>
                  </a:txBody>
                  <a:tcPr anchor="ctr" marL="54864" marR="54864" marT="27432" marB="27432">
                    <a:solidFill>
                      <a:srgbClr val="F3F6F9"/>
                    </a:solidFill>
                  </a:tcPr>
                </a:tc>
              </a:tr>
              <a:tr h="146304">
                <a:tc>
                  <a:txBody>
                    <a:bodyPr/>
                    <a:lstStyle/>
                    <a:p>
                      <a:pPr algn="l"/>
                      <a:r>
                        <a:rPr sz="1120" b="1">
                          <a:solidFill>
                            <a:srgbClr val="1F2937"/>
                          </a:solidFill>
                          <a:latin typeface="Calibri"/>
                        </a:rPr>
                        <a:t>Per-Trial Process Isolation</a:t>
                      </a:r>
                    </a:p>
                  </a:txBody>
                  <a:tcPr anchor="ctr" marL="54864" marR="54864" marT="27432" marB="27432">
                    <a:solidFill>
                      <a:srgbClr val="FFFFFF"/>
                    </a:solidFill>
                  </a:tcPr>
                </a:tc>
                <a:tc>
                  <a:txBody>
                    <a:bodyPr/>
                    <a:lstStyle/>
                    <a:p>
                      <a:pPr algn="l"/>
                      <a:r>
                        <a:rPr sz="1120" b="0">
                          <a:solidFill>
                            <a:srgbClr val="1F2937"/>
                          </a:solidFill>
                          <a:latin typeface="Calibri"/>
                        </a:rPr>
                        <a:t>Fresh bin/server process spawned per trial → 1.0 s warm-up at C = 2 → 0.2 s pause → 10.0 s timed trial → 0.25 s /metrics timeline polling</a:t>
                      </a:r>
                    </a:p>
                  </a:txBody>
                  <a:tcPr anchor="ctr" marL="54864" marR="54864" marT="27432" marB="27432">
                    <a:solidFill>
                      <a:srgbClr val="FFFFFF"/>
                    </a:solidFill>
                  </a:tcPr>
                </a:tc>
              </a:tr>
              <a:tr h="146304">
                <a:tc>
                  <a:txBody>
                    <a:bodyPr/>
                    <a:lstStyle/>
                    <a:p>
                      <a:pPr algn="l"/>
                      <a:r>
                        <a:rPr sz="1120" b="1">
                          <a:solidFill>
                            <a:srgbClr val="1F2937"/>
                          </a:solidFill>
                          <a:latin typeface="Calibri"/>
                        </a:rPr>
                        <a:t>Two Strictly Separate Datasets</a:t>
                      </a:r>
                    </a:p>
                  </a:txBody>
                  <a:tcPr anchor="ctr" marL="54864" marR="54864" marT="27432" marB="27432">
                    <a:solidFill>
                      <a:srgbClr val="F3F6F9"/>
                    </a:solidFill>
                  </a:tcPr>
                </a:tc>
                <a:tc>
                  <a:txBody>
                    <a:bodyPr/>
                    <a:lstStyle/>
                    <a:p>
                      <a:pPr algn="l"/>
                      <a:r>
                        <a:rPr sz="1120" b="0">
                          <a:solidFill>
                            <a:srgbClr val="1F2937"/>
                          </a:solidFill>
                          <a:latin typeface="Calibri"/>
                        </a:rPr>
                        <a:t>1. Historical Paired v4 (historical_v4_20261019, WSL2 host, Port 8080 — Chapter 5 primary). 2. Fresh Verification Rerun (fresh_rerun_20261021, AMD EPYC 9V74, Port 18080 — Appendix B.7). Never pooled!</a:t>
                      </a:r>
                    </a:p>
                  </a:txBody>
                  <a:tcPr anchor="ctr" marL="54864" marR="54864" marT="27432" marB="27432">
                    <a:solidFill>
                      <a:srgbClr val="F3F6F9"/>
                    </a:solidFill>
                  </a:tcPr>
                </a:tc>
              </a:tr>
            </a:tbl>
          </a:graphicData>
        </a:graphic>
      </p:graphicFrame>
      <p:sp>
        <p:nvSpPr>
          <p:cNvPr id="5" name="TextBox 4"/>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4.2 Table 4.2 (pp. 18–19), Section 5.2 Table 5.2 (p. 27) &amp; Appendix B.7</a:t>
            </a:r>
          </a:p>
        </p:txBody>
      </p:sp>
      <p:sp>
        <p:nvSpPr>
          <p:cNvPr id="6" name="TextBox 5"/>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7 · SCENARIOS AND METRICS</a:t>
            </a:r>
          </a:p>
          <a:p>
            <a:pPr algn="l">
              <a:spcAft>
                <a:spcPts val="300"/>
              </a:spcAft>
            </a:pPr>
            <a:r>
              <a:rPr sz="2700" b="1">
                <a:solidFill>
                  <a:srgbClr val="0B1F3A"/>
                </a:solidFill>
                <a:latin typeface="Cambria"/>
              </a:rPr>
              <a:t>Performance Metrics, Status Accounting &amp; Joint Interpretation</a:t>
            </a:r>
          </a:p>
          <a:p>
            <a:pPr algn="l"/>
            <a:r>
              <a:rPr sz="1500" b="0">
                <a:solidFill>
                  <a:srgbClr val="5B6676"/>
                </a:solidFill>
                <a:latin typeface="Calibri"/>
              </a:rPr>
              <a:t>Exact metric formulas (Report Table 5.1) and why throughput, latency, 503s, and back-off must be interpreted together</a:t>
            </a:r>
          </a:p>
        </p:txBody>
      </p:sp>
      <p:graphicFrame>
        <p:nvGraphicFramePr>
          <p:cNvPr id="4" name="Table 3"/>
          <p:cNvGraphicFramePr>
            <a:graphicFrameLocks noGrp="1"/>
          </p:cNvGraphicFramePr>
          <p:nvPr/>
        </p:nvGraphicFramePr>
        <p:xfrm>
          <a:off x="594360" y="2011680"/>
          <a:ext cx="11000232" cy="877824"/>
        </p:xfrm>
        <a:graphic>
          <a:graphicData uri="http://schemas.openxmlformats.org/drawingml/2006/table">
            <a:tbl>
              <a:tblPr firstRow="1" bandRow="1">
                <a:tableStyleId>{5C22544A-7EE6-4342-B048-85BDC9FD1C3A}</a:tableStyleId>
              </a:tblPr>
              <a:tblGrid>
                <a:gridCol w="2240280"/>
                <a:gridCol w="4434840"/>
                <a:gridCol w="4325112"/>
              </a:tblGrid>
              <a:tr h="146304">
                <a:tc>
                  <a:txBody>
                    <a:bodyPr/>
                    <a:lstStyle/>
                    <a:p>
                      <a:pPr algn="l"/>
                      <a:r>
                        <a:rPr sz="1180" b="1">
                          <a:solidFill>
                            <a:srgbClr val="FFFFFF"/>
                          </a:solidFill>
                          <a:latin typeface="Calibri"/>
                        </a:rPr>
                        <a:t>Metric (Unit)</a:t>
                      </a:r>
                    </a:p>
                  </a:txBody>
                  <a:tcPr anchor="ctr" marL="54864" marR="54864" marT="27432" marB="27432">
                    <a:solidFill>
                      <a:srgbClr val="0B1F3A"/>
                    </a:solidFill>
                  </a:tcPr>
                </a:tc>
                <a:tc>
                  <a:txBody>
                    <a:bodyPr/>
                    <a:lstStyle/>
                    <a:p>
                      <a:pPr algn="l"/>
                      <a:r>
                        <a:rPr sz="1180" b="1">
                          <a:solidFill>
                            <a:srgbClr val="FFFFFF"/>
                          </a:solidFill>
                          <a:latin typeface="Calibri"/>
                        </a:rPr>
                        <a:t>Exact Harness Definition (benchmark/run_experiment.py)</a:t>
                      </a:r>
                    </a:p>
                  </a:txBody>
                  <a:tcPr anchor="ctr" marL="54864" marR="54864" marT="27432" marB="27432">
                    <a:solidFill>
                      <a:srgbClr val="0B1F3A"/>
                    </a:solidFill>
                  </a:tcPr>
                </a:tc>
                <a:tc>
                  <a:txBody>
                    <a:bodyPr/>
                    <a:lstStyle/>
                    <a:p>
                      <a:pPr algn="l"/>
                      <a:r>
                        <a:rPr sz="1180" b="1">
                          <a:solidFill>
                            <a:srgbClr val="FFFFFF"/>
                          </a:solidFill>
                          <a:latin typeface="Calibri"/>
                        </a:rPr>
                        <a:t>Improvement Convention &amp; Interpretation Rule</a:t>
                      </a:r>
                    </a:p>
                  </a:txBody>
                  <a:tcPr anchor="ctr" marL="54864" marR="54864" marT="27432" marB="27432">
                    <a:solidFill>
                      <a:srgbClr val="0B1F3A"/>
                    </a:solidFill>
                  </a:tcPr>
                </a:tc>
              </a:tr>
              <a:tr h="146304">
                <a:tc>
                  <a:txBody>
                    <a:bodyPr/>
                    <a:lstStyle/>
                    <a:p>
                      <a:pPr algn="l"/>
                      <a:r>
                        <a:rPr sz="1080" b="1">
                          <a:solidFill>
                            <a:srgbClr val="1F2937"/>
                          </a:solidFill>
                          <a:latin typeface="Calibri"/>
                        </a:rPr>
                        <a:t>Successful Throughput (req/s)</a:t>
                      </a:r>
                    </a:p>
                  </a:txBody>
                  <a:tcPr anchor="ctr" marL="54864" marR="54864" marT="27432" marB="27432">
                    <a:solidFill>
                      <a:srgbClr val="F3F6F9"/>
                    </a:solidFill>
                  </a:tcPr>
                </a:tc>
                <a:tc>
                  <a:txBody>
                    <a:bodyPr/>
                    <a:lstStyle/>
                    <a:p>
                      <a:pPr algn="l"/>
                      <a:r>
                        <a:rPr sz="1080" b="0">
                          <a:solidFill>
                            <a:srgbClr val="1F2937"/>
                          </a:solidFill>
                          <a:latin typeface="Calibri"/>
                        </a:rPr>
                        <a:t>success_2xx ÷ duration_sec (10.0 s); strictly excludes HTTP 503s, 4xx, and timeouts</a:t>
                      </a:r>
                    </a:p>
                  </a:txBody>
                  <a:tcPr anchor="ctr" marL="54864" marR="54864" marT="27432" marB="27432">
                    <a:solidFill>
                      <a:srgbClr val="F3F6F9"/>
                    </a:solidFill>
                  </a:tcPr>
                </a:tc>
                <a:tc>
                  <a:txBody>
                    <a:bodyPr/>
                    <a:lstStyle/>
                    <a:p>
                      <a:pPr algn="l"/>
                      <a:r>
                        <a:rPr sz="1080" b="0">
                          <a:solidFill>
                            <a:srgbClr val="1F2937"/>
                          </a:solidFill>
                          <a:latin typeface="Calibri"/>
                        </a:rPr>
                        <a:t>Improvement (%) = (QLAAC − Base) / Base × 100  [Positive (+) = Higher 2xx RPS = Better]</a:t>
                      </a:r>
                    </a:p>
                  </a:txBody>
                  <a:tcPr anchor="ctr" marL="54864" marR="54864" marT="27432" marB="27432">
                    <a:solidFill>
                      <a:srgbClr val="F3F6F9"/>
                    </a:solidFill>
                  </a:tcPr>
                </a:tc>
              </a:tr>
              <a:tr h="146304">
                <a:tc>
                  <a:txBody>
                    <a:bodyPr/>
                    <a:lstStyle/>
                    <a:p>
                      <a:pPr algn="l"/>
                      <a:r>
                        <a:rPr sz="1080" b="1">
                          <a:solidFill>
                            <a:srgbClr val="1F2937"/>
                          </a:solidFill>
                          <a:latin typeface="Calibri"/>
                        </a:rPr>
                        <a:t>2xx Latency p50, p95, p99 (ms)</a:t>
                      </a:r>
                    </a:p>
                  </a:txBody>
                  <a:tcPr anchor="ctr" marL="54864" marR="54864" marT="27432" marB="27432">
                    <a:solidFill>
                      <a:srgbClr val="FFFFFF"/>
                    </a:solidFill>
                  </a:tcPr>
                </a:tc>
                <a:tc>
                  <a:txBody>
                    <a:bodyPr/>
                    <a:lstStyle/>
                    <a:p>
                      <a:pPr algn="l"/>
                      <a:r>
                        <a:rPr sz="1080" b="0">
                          <a:solidFill>
                            <a:srgbClr val="1F2937"/>
                          </a:solidFill>
                          <a:latin typeface="Calibri"/>
                        </a:rPr>
                        <a:t>Per-trial index int(p × (n − 1)) of sorted 2xx response times (sendall to last byte); mean ± sample SD (n − 1) over 5 trials</a:t>
                      </a:r>
                    </a:p>
                  </a:txBody>
                  <a:tcPr anchor="ctr" marL="54864" marR="54864" marT="27432" marB="27432">
                    <a:solidFill>
                      <a:srgbClr val="FFFFFF"/>
                    </a:solidFill>
                  </a:tcPr>
                </a:tc>
                <a:tc>
                  <a:txBody>
                    <a:bodyPr/>
                    <a:lstStyle/>
                    <a:p>
                      <a:pPr algn="l"/>
                      <a:r>
                        <a:rPr sz="1080" b="0">
                          <a:solidFill>
                            <a:srgbClr val="1F2937"/>
                          </a:solidFill>
                          <a:latin typeface="Calibri"/>
                        </a:rPr>
                        <a:t>Table 5.3 Improvement (%) = (Base − QLAAC) / Base × 100  [Positive (+) = Lower latency = Better]; Table 5.4 Signed Δ = −Imp%</a:t>
                      </a:r>
                    </a:p>
                  </a:txBody>
                  <a:tcPr anchor="ctr" marL="54864" marR="54864" marT="27432" marB="27432">
                    <a:solidFill>
                      <a:srgbClr val="FFFFFF"/>
                    </a:solidFill>
                  </a:tcPr>
                </a:tc>
              </a:tr>
              <a:tr h="146304">
                <a:tc>
                  <a:txBody>
                    <a:bodyPr/>
                    <a:lstStyle/>
                    <a:p>
                      <a:pPr algn="l"/>
                      <a:r>
                        <a:rPr sz="1080" b="1">
                          <a:solidFill>
                            <a:srgbClr val="1F2937"/>
                          </a:solidFill>
                          <a:latin typeface="Calibri"/>
                        </a:rPr>
                        <a:t>Attempted vs. Completed Reqs</a:t>
                      </a:r>
                    </a:p>
                  </a:txBody>
                  <a:tcPr anchor="ctr" marL="54864" marR="54864" marT="27432" marB="27432">
                    <a:solidFill>
                      <a:srgbClr val="F3F6F9"/>
                    </a:solidFill>
                  </a:tcPr>
                </a:tc>
                <a:tc>
                  <a:txBody>
                    <a:bodyPr/>
                    <a:lstStyle/>
                    <a:p>
                      <a:pPr algn="l"/>
                      <a:r>
                        <a:rPr sz="1080" b="0">
                          <a:solidFill>
                            <a:srgbClr val="1F2937"/>
                          </a:solidFill>
                          <a:latin typeface="Calibri"/>
                        </a:rPr>
                        <a:t>Total requests sent by all C threads vs. completed HTTP responses (0 timeouts &amp; 0 transport errors in all trials)</a:t>
                      </a:r>
                    </a:p>
                  </a:txBody>
                  <a:tcPr anchor="ctr" marL="54864" marR="54864" marT="27432" marB="27432">
                    <a:solidFill>
                      <a:srgbClr val="F3F6F9"/>
                    </a:solidFill>
                  </a:tcPr>
                </a:tc>
                <a:tc>
                  <a:txBody>
                    <a:bodyPr/>
                    <a:lstStyle/>
                    <a:p>
                      <a:pPr algn="l"/>
                      <a:r>
                        <a:rPr sz="1080" b="0">
                          <a:solidFill>
                            <a:srgbClr val="1F2937"/>
                          </a:solidFill>
                          <a:latin typeface="Calibri"/>
                        </a:rPr>
                        <a:t>Closed-loop offered load varies with response speed: fast 503 reconnects inflate attempts; Retry-After sleep reduces attempts</a:t>
                      </a:r>
                    </a:p>
                  </a:txBody>
                  <a:tcPr anchor="ctr" marL="54864" marR="54864" marT="27432" marB="27432">
                    <a:solidFill>
                      <a:srgbClr val="F3F6F9"/>
                    </a:solidFill>
                  </a:tcPr>
                </a:tc>
              </a:tr>
              <a:tr h="146304">
                <a:tc>
                  <a:txBody>
                    <a:bodyPr/>
                    <a:lstStyle/>
                    <a:p>
                      <a:pPr algn="l"/>
                      <a:r>
                        <a:rPr sz="1080" b="1">
                          <a:solidFill>
                            <a:srgbClr val="1F2937"/>
                          </a:solidFill>
                          <a:latin typeface="Calibri"/>
                        </a:rPr>
                        <a:t>HTTP 503 Rejections &amp; Rate (%)</a:t>
                      </a:r>
                    </a:p>
                  </a:txBody>
                  <a:tcPr anchor="ctr" marL="54864" marR="54864" marT="27432" marB="27432">
                    <a:solidFill>
                      <a:srgbClr val="FFFFFF"/>
                    </a:solidFill>
                  </a:tcPr>
                </a:tc>
                <a:tc>
                  <a:txBody>
                    <a:bodyPr/>
                    <a:lstStyle/>
                    <a:p>
                      <a:pPr algn="l"/>
                      <a:r>
                        <a:rPr sz="1080" b="0">
                          <a:solidFill>
                            <a:srgbClr val="1F2937"/>
                          </a:solidFill>
                          <a:latin typeface="Calibri"/>
                        </a:rPr>
                        <a:t>http_5xx per trial (all 5xx in benchmarks are 503). Table 5.4 Rejection Rate = mean(503s) ÷ mean(attempts) × 100</a:t>
                      </a:r>
                    </a:p>
                  </a:txBody>
                  <a:tcPr anchor="ctr" marL="54864" marR="54864" marT="27432" marB="27432">
                    <a:solidFill>
                      <a:srgbClr val="FFFFFF"/>
                    </a:solidFill>
                  </a:tcPr>
                </a:tc>
                <a:tc>
                  <a:txBody>
                    <a:bodyPr/>
                    <a:lstStyle/>
                    <a:p>
                      <a:pPr algn="l"/>
                      <a:r>
                        <a:rPr sz="1080" b="0">
                          <a:solidFill>
                            <a:srgbClr val="1F2937"/>
                          </a:solidFill>
                          <a:latin typeface="Calibri"/>
                        </a:rPr>
                        <a:t>Quantifies admission shedding cost (verify_benchmark_statistics.py also reports mean of 5 per-trial ratios)</a:t>
                      </a:r>
                    </a:p>
                  </a:txBody>
                  <a:tcPr anchor="ctr" marL="54864" marR="54864" marT="27432" marB="27432">
                    <a:solidFill>
                      <a:srgbClr val="FFFFFF"/>
                    </a:solidFill>
                  </a:tcPr>
                </a:tc>
              </a:tr>
              <a:tr h="146304">
                <a:tc>
                  <a:txBody>
                    <a:bodyPr/>
                    <a:lstStyle/>
                    <a:p>
                      <a:pPr algn="l"/>
                      <a:r>
                        <a:rPr sz="1080" b="1">
                          <a:solidFill>
                            <a:srgbClr val="1F2937"/>
                          </a:solidFill>
                          <a:latin typeface="Calibri"/>
                        </a:rPr>
                        <a:t>Client Back-Off Time (s)</a:t>
                      </a:r>
                    </a:p>
                  </a:txBody>
                  <a:tcPr anchor="ctr" marL="54864" marR="54864" marT="27432" marB="27432">
                    <a:solidFill>
                      <a:srgbClr val="F3F6F9"/>
                    </a:solidFill>
                  </a:tcPr>
                </a:tc>
                <a:tc>
                  <a:txBody>
                    <a:bodyPr/>
                    <a:lstStyle/>
                    <a:p>
                      <a:pPr algn="l"/>
                      <a:r>
                        <a:rPr sz="1080" b="0">
                          <a:solidFill>
                            <a:srgbClr val="1F2937"/>
                          </a:solidFill>
                          <a:latin typeface="Calibri"/>
                        </a:rPr>
                        <a:t>total_backoff_sec: sum of Retry-After sleep durations across all C client threads per 10 s trial (max = C × 10 = 640 s)</a:t>
                      </a:r>
                    </a:p>
                  </a:txBody>
                  <a:tcPr anchor="ctr" marL="54864" marR="54864" marT="27432" marB="27432">
                    <a:solidFill>
                      <a:srgbClr val="F3F6F9"/>
                    </a:solidFill>
                  </a:tcPr>
                </a:tc>
                <a:tc>
                  <a:txBody>
                    <a:bodyPr/>
                    <a:lstStyle/>
                    <a:p>
                      <a:pPr algn="l"/>
                      <a:r>
                        <a:rPr sz="1080" b="0">
                          <a:solidFill>
                            <a:srgbClr val="1F2937"/>
                          </a:solidFill>
                          <a:latin typeface="Calibri"/>
                        </a:rPr>
                        <a:t>Retry-Aware mode only: separates client-side Retry-After sleep from server-side 2xx socket latency</a:t>
                      </a:r>
                    </a:p>
                  </a:txBody>
                  <a:tcPr anchor="ctr" marL="54864" marR="54864" marT="27432" marB="27432">
                    <a:solidFill>
                      <a:srgbClr val="F3F6F9"/>
                    </a:solidFill>
                  </a:tcPr>
                </a:tc>
              </a:tr>
            </a:tbl>
          </a:graphicData>
        </a:graphic>
      </p:graphicFrame>
      <p:sp>
        <p:nvSpPr>
          <p:cNvPr id="5" name="Rounded Rectangle 4"/>
          <p:cNvSpPr/>
          <p:nvPr/>
        </p:nvSpPr>
        <p:spPr>
          <a:xfrm>
            <a:off x="594360" y="4956048"/>
            <a:ext cx="11002975" cy="1234440"/>
          </a:xfrm>
          <a:prstGeom prst="roundRect">
            <a:avLst>
              <a:gd name="adj" fmla="val 4000"/>
            </a:avLst>
          </a:prstGeom>
          <a:solidFill>
            <a:srgbClr val="FCF1D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58952" y="5029200"/>
            <a:ext cx="10673791" cy="1088136"/>
          </a:xfrm>
          <a:prstGeom prst="rect">
            <a:avLst/>
          </a:prstGeom>
          <a:noFill/>
        </p:spPr>
        <p:txBody>
          <a:bodyPr wrap="square" anchor="t" lIns="0" tIns="0" rIns="0" bIns="0">
            <a:noAutofit/>
          </a:bodyPr>
          <a:lstStyle/>
          <a:p>
            <a:pPr algn="l">
              <a:spcAft>
                <a:spcPts val="350"/>
              </a:spcAft>
            </a:pPr>
            <a:r>
              <a:rPr sz="1500" b="1">
                <a:solidFill>
                  <a:srgbClr val="9A5B00"/>
                </a:solidFill>
                <a:latin typeface="Cambria"/>
              </a:rPr>
              <a:t>Why Throughput, Latency, Rejections &amp; Back-Off Must Be Interpreted Together (Report §5.1, p. 26)</a:t>
            </a:r>
          </a:p>
          <a:p>
            <a:pPr algn="l">
              <a:spcAft>
                <a:spcPts val="0"/>
              </a:spcAft>
            </a:pPr>
            <a:r>
              <a:rPr sz="1230" b="1">
                <a:solidFill>
                  <a:srgbClr val="0B1F3A"/>
                </a:solidFill>
                <a:latin typeface="Calibri"/>
              </a:rPr>
              <a:t>Survivorship Bias in 2xx Latency Percentiles: </a:t>
            </a:r>
            <a:r>
              <a:rPr sz="1230" b="0">
                <a:solidFill>
                  <a:srgbClr val="1F2937"/>
                </a:solidFill>
                <a:latin typeface="Calibri"/>
              </a:rPr>
              <a:t>Latency percentiles (p50, p95, p99) are computed exclusively over admitted HTTP 2xx responses (excluding TCP connect time and Retry-After sleep). When QLAAC sheds traffic or triggers client backoff, a lower p99 describes only the surviving 2xx requests and never proves a better overall result unless read alongside 2xx throughput, 503 rejection rate, and client back-off time.</a:t>
            </a:r>
          </a:p>
        </p:txBody>
      </p:sp>
      <p:sp>
        <p:nvSpPr>
          <p:cNvPr id="7" name="TextBox 6"/>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5.1 Table 5.1 (p. 26), Note to Table 5.3 (p. 29) &amp; Appendix A.5</a:t>
            </a:r>
          </a:p>
        </p:txBody>
      </p:sp>
      <p:sp>
        <p:nvSpPr>
          <p:cNvPr id="8" name="TextBox 7"/>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8 · RESULTS (BASELINE VS PROPOSED)</a:t>
            </a:r>
          </a:p>
          <a:p>
            <a:pPr algn="l">
              <a:spcAft>
                <a:spcPts val="300"/>
              </a:spcAft>
            </a:pPr>
            <a:r>
              <a:rPr sz="2700" b="1">
                <a:solidFill>
                  <a:srgbClr val="0B1F3A"/>
                </a:solidFill>
                <a:latin typeface="Cambria"/>
              </a:rPr>
              <a:t>Historical v4 Results at Low &amp; Medium Load (C = 2 and C = 8)</a:t>
            </a:r>
          </a:p>
          <a:p>
            <a:pPr algn="l"/>
            <a:r>
              <a:rPr sz="1500" b="0">
                <a:solidFill>
                  <a:srgbClr val="5B6676"/>
                </a:solidFill>
                <a:latin typeface="Calibri"/>
              </a:rPr>
              <a:t>QLAAC remains in NORMAL state across all samples with zero 503 rejections and comparable operation (Tables 5.3 &amp; 5.4)</a:t>
            </a:r>
          </a:p>
        </p:txBody>
      </p:sp>
      <p:graphicFrame>
        <p:nvGraphicFramePr>
          <p:cNvPr id="4" name="Chart 3"/>
          <p:cNvGraphicFramePr>
            <a:graphicFrameLocks noGrp="1"/>
          </p:cNvGraphicFramePr>
          <p:nvPr/>
        </p:nvGraphicFramePr>
        <p:xfrm>
          <a:off x="594360" y="1965960"/>
          <a:ext cx="5349240" cy="25146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217920" y="1965960"/>
          <a:ext cx="5376672" cy="251460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94360" y="4590288"/>
          <a:ext cx="11000232" cy="731520"/>
        </p:xfrm>
        <a:graphic>
          <a:graphicData uri="http://schemas.openxmlformats.org/drawingml/2006/table">
            <a:tbl>
              <a:tblPr firstRow="1" bandRow="1">
                <a:tableStyleId>{5C22544A-7EE6-4342-B048-85BDC9FD1C3A}</a:tableStyleId>
              </a:tblPr>
              <a:tblGrid>
                <a:gridCol w="2103120"/>
                <a:gridCol w="1783080"/>
                <a:gridCol w="1783080"/>
                <a:gridCol w="713232"/>
                <a:gridCol w="1691640"/>
                <a:gridCol w="1691640"/>
                <a:gridCol w="1234440"/>
              </a:tblGrid>
              <a:tr h="146304">
                <a:tc>
                  <a:txBody>
                    <a:bodyPr/>
                    <a:lstStyle/>
                    <a:p>
                      <a:pPr algn="l"/>
                      <a:r>
                        <a:rPr sz="1100" b="1">
                          <a:solidFill>
                            <a:srgbClr val="FFFFFF"/>
                          </a:solidFill>
                          <a:latin typeface="Calibri"/>
                        </a:rPr>
                        <a:t>Scenario &amp; Mode (v4 Paired, n = 5)</a:t>
                      </a:r>
                    </a:p>
                  </a:txBody>
                  <a:tcPr anchor="ctr" marL="54864" marR="54864" marT="27432" marB="27432">
                    <a:solidFill>
                      <a:srgbClr val="0B1F3A"/>
                    </a:solidFill>
                  </a:tcPr>
                </a:tc>
                <a:tc>
                  <a:txBody>
                    <a:bodyPr/>
                    <a:lstStyle/>
                    <a:p>
                      <a:pPr algn="r"/>
                      <a:r>
                        <a:rPr sz="1100" b="1">
                          <a:solidFill>
                            <a:srgbClr val="FFFFFF"/>
                          </a:solidFill>
                          <a:latin typeface="Calibri"/>
                        </a:rPr>
                        <a:t>Baseline 2xx RPS (mean ± SD)</a:t>
                      </a:r>
                    </a:p>
                  </a:txBody>
                  <a:tcPr anchor="ctr" marL="54864" marR="54864" marT="27432" marB="27432">
                    <a:solidFill>
                      <a:srgbClr val="0B1F3A"/>
                    </a:solidFill>
                  </a:tcPr>
                </a:tc>
                <a:tc>
                  <a:txBody>
                    <a:bodyPr/>
                    <a:lstStyle/>
                    <a:p>
                      <a:pPr algn="r"/>
                      <a:r>
                        <a:rPr sz="1100" b="1">
                          <a:solidFill>
                            <a:srgbClr val="FFFFFF"/>
                          </a:solidFill>
                          <a:latin typeface="Calibri"/>
                        </a:rPr>
                        <a:t>QLAAC 2xx RPS (mean ± SD)</a:t>
                      </a:r>
                    </a:p>
                  </a:txBody>
                  <a:tcPr anchor="ctr" marL="54864" marR="54864" marT="27432" marB="27432">
                    <a:solidFill>
                      <a:srgbClr val="0B1F3A"/>
                    </a:solidFill>
                  </a:tcPr>
                </a:tc>
                <a:tc>
                  <a:txBody>
                    <a:bodyPr/>
                    <a:lstStyle/>
                    <a:p>
                      <a:pPr algn="r"/>
                      <a:r>
                        <a:rPr sz="1100" b="1">
                          <a:solidFill>
                            <a:srgbClr val="FFFFFF"/>
                          </a:solidFill>
                          <a:latin typeface="Calibri"/>
                        </a:rPr>
                        <a:t>Δ RPS</a:t>
                      </a:r>
                    </a:p>
                  </a:txBody>
                  <a:tcPr anchor="ctr" marL="54864" marR="54864" marT="27432" marB="27432">
                    <a:solidFill>
                      <a:srgbClr val="0B1F3A"/>
                    </a:solidFill>
                  </a:tcPr>
                </a:tc>
                <a:tc>
                  <a:txBody>
                    <a:bodyPr/>
                    <a:lstStyle/>
                    <a:p>
                      <a:pPr algn="r"/>
                      <a:r>
                        <a:rPr sz="1100" b="1">
                          <a:solidFill>
                            <a:srgbClr val="FFFFFF"/>
                          </a:solidFill>
                          <a:latin typeface="Calibri"/>
                        </a:rPr>
                        <a:t>Baseline p50 / p95 / p99 (ms)</a:t>
                      </a:r>
                    </a:p>
                  </a:txBody>
                  <a:tcPr anchor="ctr" marL="54864" marR="54864" marT="27432" marB="27432">
                    <a:solidFill>
                      <a:srgbClr val="0B1F3A"/>
                    </a:solidFill>
                  </a:tcPr>
                </a:tc>
                <a:tc>
                  <a:txBody>
                    <a:bodyPr/>
                    <a:lstStyle/>
                    <a:p>
                      <a:pPr algn="r"/>
                      <a:r>
                        <a:rPr sz="1100" b="1">
                          <a:solidFill>
                            <a:srgbClr val="FFFFFF"/>
                          </a:solidFill>
                          <a:latin typeface="Calibri"/>
                        </a:rPr>
                        <a:t>QLAAC p50 / p95 / p99 (ms)</a:t>
                      </a:r>
                    </a:p>
                  </a:txBody>
                  <a:tcPr anchor="ctr" marL="54864" marR="54864" marT="27432" marB="27432">
                    <a:solidFill>
                      <a:srgbClr val="0B1F3A"/>
                    </a:solidFill>
                  </a:tcPr>
                </a:tc>
                <a:tc>
                  <a:txBody>
                    <a:bodyPr/>
                    <a:lstStyle/>
                    <a:p>
                      <a:pPr algn="l"/>
                      <a:r>
                        <a:rPr sz="1100" b="1">
                          <a:solidFill>
                            <a:srgbClr val="FFFFFF"/>
                          </a:solidFill>
                          <a:latin typeface="Calibri"/>
                        </a:rPr>
                        <a:t>503 / State</a:t>
                      </a:r>
                    </a:p>
                  </a:txBody>
                  <a:tcPr anchor="ctr" marL="54864" marR="54864" marT="27432" marB="27432">
                    <a:solidFill>
                      <a:srgbClr val="0B1F3A"/>
                    </a:solidFill>
                  </a:tcPr>
                </a:tc>
              </a:tr>
              <a:tr h="146304">
                <a:tc>
                  <a:txBody>
                    <a:bodyPr/>
                    <a:lstStyle/>
                    <a:p>
                      <a:pPr algn="l"/>
                      <a:r>
                        <a:rPr sz="1050" b="1">
                          <a:solidFill>
                            <a:srgbClr val="1F2937"/>
                          </a:solidFill>
                          <a:latin typeface="Calibri"/>
                        </a:rPr>
                        <a:t>S1 Low (C=2) — Standard</a:t>
                      </a:r>
                    </a:p>
                  </a:txBody>
                  <a:tcPr anchor="ctr" marL="54864" marR="54864" marT="27432" marB="27432">
                    <a:solidFill>
                      <a:srgbClr val="F3F6F9"/>
                    </a:solidFill>
                  </a:tcPr>
                </a:tc>
                <a:tc>
                  <a:txBody>
                    <a:bodyPr/>
                    <a:lstStyle/>
                    <a:p>
                      <a:pPr algn="r"/>
                      <a:r>
                        <a:rPr sz="1050" b="0">
                          <a:solidFill>
                            <a:srgbClr val="1F2937"/>
                          </a:solidFill>
                          <a:latin typeface="Calibri"/>
                        </a:rPr>
                        <a:t>13,806.78 ± 752.14</a:t>
                      </a:r>
                    </a:p>
                  </a:txBody>
                  <a:tcPr anchor="ctr" marL="54864" marR="54864" marT="27432" marB="27432">
                    <a:solidFill>
                      <a:srgbClr val="F3F6F9"/>
                    </a:solidFill>
                  </a:tcPr>
                </a:tc>
                <a:tc>
                  <a:txBody>
                    <a:bodyPr/>
                    <a:lstStyle/>
                    <a:p>
                      <a:pPr algn="r"/>
                      <a:r>
                        <a:rPr sz="1050" b="0">
                          <a:solidFill>
                            <a:srgbClr val="1F2937"/>
                          </a:solidFill>
                          <a:latin typeface="Calibri"/>
                        </a:rPr>
                        <a:t>13,230.22 ± 566.31</a:t>
                      </a:r>
                    </a:p>
                  </a:txBody>
                  <a:tcPr anchor="ctr" marL="54864" marR="54864" marT="27432" marB="27432">
                    <a:solidFill>
                      <a:srgbClr val="F3F6F9"/>
                    </a:solidFill>
                  </a:tcPr>
                </a:tc>
                <a:tc>
                  <a:txBody>
                    <a:bodyPr/>
                    <a:lstStyle/>
                    <a:p>
                      <a:pPr algn="r"/>
                      <a:r>
                        <a:rPr sz="1050" b="0">
                          <a:solidFill>
                            <a:srgbClr val="1F2937"/>
                          </a:solidFill>
                          <a:latin typeface="Calibri"/>
                        </a:rPr>
                        <a:t>−4.2%</a:t>
                      </a:r>
                    </a:p>
                  </a:txBody>
                  <a:tcPr anchor="ctr" marL="54864" marR="54864" marT="27432" marB="27432">
                    <a:solidFill>
                      <a:srgbClr val="F3F6F9"/>
                    </a:solidFill>
                  </a:tcPr>
                </a:tc>
                <a:tc>
                  <a:txBody>
                    <a:bodyPr/>
                    <a:lstStyle/>
                    <a:p>
                      <a:pPr algn="r"/>
                      <a:r>
                        <a:rPr sz="1050" b="0">
                          <a:solidFill>
                            <a:srgbClr val="1F2937"/>
                          </a:solidFill>
                          <a:latin typeface="Calibri"/>
                        </a:rPr>
                        <a:t>0.11 / 0.26 / 0.43</a:t>
                      </a:r>
                    </a:p>
                  </a:txBody>
                  <a:tcPr anchor="ctr" marL="54864" marR="54864" marT="27432" marB="27432">
                    <a:solidFill>
                      <a:srgbClr val="F3F6F9"/>
                    </a:solidFill>
                  </a:tcPr>
                </a:tc>
                <a:tc>
                  <a:txBody>
                    <a:bodyPr/>
                    <a:lstStyle/>
                    <a:p>
                      <a:pPr algn="r"/>
                      <a:r>
                        <a:rPr sz="1050" b="0">
                          <a:solidFill>
                            <a:srgbClr val="1F2937"/>
                          </a:solidFill>
                          <a:latin typeface="Calibri"/>
                        </a:rPr>
                        <a:t>0.12 / 0.28 / 0.46</a:t>
                      </a:r>
                    </a:p>
                  </a:txBody>
                  <a:tcPr anchor="ctr" marL="54864" marR="54864" marT="27432" marB="27432">
                    <a:solidFill>
                      <a:srgbClr val="F3F6F9"/>
                    </a:solidFill>
                  </a:tcPr>
                </a:tc>
                <a:tc>
                  <a:txBody>
                    <a:bodyPr/>
                    <a:lstStyle/>
                    <a:p>
                      <a:pPr algn="l"/>
                      <a:r>
                        <a:rPr sz="1050" b="1">
                          <a:solidFill>
                            <a:srgbClr val="2E8B57"/>
                          </a:solidFill>
                          <a:latin typeface="Calibri"/>
                        </a:rPr>
                        <a:t>0 / NORMAL</a:t>
                      </a:r>
                    </a:p>
                  </a:txBody>
                  <a:tcPr anchor="ctr" marL="54864" marR="54864" marT="27432" marB="27432">
                    <a:solidFill>
                      <a:srgbClr val="E3F3EA"/>
                    </a:solidFill>
                  </a:tcPr>
                </a:tc>
              </a:tr>
              <a:tr h="146304">
                <a:tc>
                  <a:txBody>
                    <a:bodyPr/>
                    <a:lstStyle/>
                    <a:p>
                      <a:pPr algn="l"/>
                      <a:r>
                        <a:rPr sz="1050" b="1">
                          <a:solidFill>
                            <a:srgbClr val="1F2937"/>
                          </a:solidFill>
                          <a:latin typeface="Calibri"/>
                        </a:rPr>
                        <a:t>S1 Low (C=2) — Retry-Aware</a:t>
                      </a:r>
                    </a:p>
                  </a:txBody>
                  <a:tcPr anchor="ctr" marL="54864" marR="54864" marT="27432" marB="27432">
                    <a:solidFill>
                      <a:srgbClr val="FFFFFF"/>
                    </a:solidFill>
                  </a:tcPr>
                </a:tc>
                <a:tc>
                  <a:txBody>
                    <a:bodyPr/>
                    <a:lstStyle/>
                    <a:p>
                      <a:pPr algn="r"/>
                      <a:r>
                        <a:rPr sz="1050" b="0">
                          <a:solidFill>
                            <a:srgbClr val="1F2937"/>
                          </a:solidFill>
                          <a:latin typeface="Calibri"/>
                        </a:rPr>
                        <a:t>14,136.06 ± 1,867.40</a:t>
                      </a:r>
                    </a:p>
                  </a:txBody>
                  <a:tcPr anchor="ctr" marL="54864" marR="54864" marT="27432" marB="27432">
                    <a:solidFill>
                      <a:srgbClr val="FFFFFF"/>
                    </a:solidFill>
                  </a:tcPr>
                </a:tc>
                <a:tc>
                  <a:txBody>
                    <a:bodyPr/>
                    <a:lstStyle/>
                    <a:p>
                      <a:pPr algn="r"/>
                      <a:r>
                        <a:rPr sz="1050" b="0">
                          <a:solidFill>
                            <a:srgbClr val="1F2937"/>
                          </a:solidFill>
                          <a:latin typeface="Calibri"/>
                        </a:rPr>
                        <a:t>14,115.42 ± 856.21</a:t>
                      </a:r>
                    </a:p>
                  </a:txBody>
                  <a:tcPr anchor="ctr" marL="54864" marR="54864" marT="27432" marB="27432">
                    <a:solidFill>
                      <a:srgbClr val="FFFFFF"/>
                    </a:solidFill>
                  </a:tcPr>
                </a:tc>
                <a:tc>
                  <a:txBody>
                    <a:bodyPr/>
                    <a:lstStyle/>
                    <a:p>
                      <a:pPr algn="r"/>
                      <a:r>
                        <a:rPr sz="1050" b="0">
                          <a:solidFill>
                            <a:srgbClr val="1F2937"/>
                          </a:solidFill>
                          <a:latin typeface="Calibri"/>
                        </a:rPr>
                        <a:t>−0.1%</a:t>
                      </a:r>
                    </a:p>
                  </a:txBody>
                  <a:tcPr anchor="ctr" marL="54864" marR="54864" marT="27432" marB="27432">
                    <a:solidFill>
                      <a:srgbClr val="FFFFFF"/>
                    </a:solidFill>
                  </a:tcPr>
                </a:tc>
                <a:tc>
                  <a:txBody>
                    <a:bodyPr/>
                    <a:lstStyle/>
                    <a:p>
                      <a:pPr algn="r"/>
                      <a:r>
                        <a:rPr sz="1050" b="0">
                          <a:solidFill>
                            <a:srgbClr val="1F2937"/>
                          </a:solidFill>
                          <a:latin typeface="Calibri"/>
                        </a:rPr>
                        <a:t>0.11 / 0.25 / 0.41</a:t>
                      </a:r>
                    </a:p>
                  </a:txBody>
                  <a:tcPr anchor="ctr" marL="54864" marR="54864" marT="27432" marB="27432">
                    <a:solidFill>
                      <a:srgbClr val="FFFFFF"/>
                    </a:solidFill>
                  </a:tcPr>
                </a:tc>
                <a:tc>
                  <a:txBody>
                    <a:bodyPr/>
                    <a:lstStyle/>
                    <a:p>
                      <a:pPr algn="r"/>
                      <a:r>
                        <a:rPr sz="1050" b="0">
                          <a:solidFill>
                            <a:srgbClr val="1F2937"/>
                          </a:solidFill>
                          <a:latin typeface="Calibri"/>
                        </a:rPr>
                        <a:t>0.11 / 0.25 / 0.42</a:t>
                      </a:r>
                    </a:p>
                  </a:txBody>
                  <a:tcPr anchor="ctr" marL="54864" marR="54864" marT="27432" marB="27432">
                    <a:solidFill>
                      <a:srgbClr val="FFFFFF"/>
                    </a:solidFill>
                  </a:tcPr>
                </a:tc>
                <a:tc>
                  <a:txBody>
                    <a:bodyPr/>
                    <a:lstStyle/>
                    <a:p>
                      <a:pPr algn="l"/>
                      <a:r>
                        <a:rPr sz="1050" b="1">
                          <a:solidFill>
                            <a:srgbClr val="2E8B57"/>
                          </a:solidFill>
                          <a:latin typeface="Calibri"/>
                        </a:rPr>
                        <a:t>0 / NORMAL</a:t>
                      </a:r>
                    </a:p>
                  </a:txBody>
                  <a:tcPr anchor="ctr" marL="54864" marR="54864" marT="27432" marB="27432">
                    <a:solidFill>
                      <a:srgbClr val="E3F3EA"/>
                    </a:solidFill>
                  </a:tcPr>
                </a:tc>
              </a:tr>
              <a:tr h="146304">
                <a:tc>
                  <a:txBody>
                    <a:bodyPr/>
                    <a:lstStyle/>
                    <a:p>
                      <a:pPr algn="l"/>
                      <a:r>
                        <a:rPr sz="1050" b="1">
                          <a:solidFill>
                            <a:srgbClr val="1F2937"/>
                          </a:solidFill>
                          <a:latin typeface="Calibri"/>
                        </a:rPr>
                        <a:t>S2a Med (C=8) — Standard</a:t>
                      </a:r>
                    </a:p>
                  </a:txBody>
                  <a:tcPr anchor="ctr" marL="54864" marR="54864" marT="27432" marB="27432">
                    <a:solidFill>
                      <a:srgbClr val="F3F6F9"/>
                    </a:solidFill>
                  </a:tcPr>
                </a:tc>
                <a:tc>
                  <a:txBody>
                    <a:bodyPr/>
                    <a:lstStyle/>
                    <a:p>
                      <a:pPr algn="r"/>
                      <a:r>
                        <a:rPr sz="1050" b="0">
                          <a:solidFill>
                            <a:srgbClr val="1F2937"/>
                          </a:solidFill>
                          <a:latin typeface="Calibri"/>
                        </a:rPr>
                        <a:t>6,869.56 ± 196.87</a:t>
                      </a:r>
                    </a:p>
                  </a:txBody>
                  <a:tcPr anchor="ctr" marL="54864" marR="54864" marT="27432" marB="27432">
                    <a:solidFill>
                      <a:srgbClr val="F3F6F9"/>
                    </a:solidFill>
                  </a:tcPr>
                </a:tc>
                <a:tc>
                  <a:txBody>
                    <a:bodyPr/>
                    <a:lstStyle/>
                    <a:p>
                      <a:pPr algn="r"/>
                      <a:r>
                        <a:rPr sz="1050" b="0">
                          <a:solidFill>
                            <a:srgbClr val="1F2937"/>
                          </a:solidFill>
                          <a:latin typeface="Calibri"/>
                        </a:rPr>
                        <a:t>6,989.02 ± 270.05</a:t>
                      </a:r>
                    </a:p>
                  </a:txBody>
                  <a:tcPr anchor="ctr" marL="54864" marR="54864" marT="27432" marB="27432">
                    <a:solidFill>
                      <a:srgbClr val="F3F6F9"/>
                    </a:solidFill>
                  </a:tcPr>
                </a:tc>
                <a:tc>
                  <a:txBody>
                    <a:bodyPr/>
                    <a:lstStyle/>
                    <a:p>
                      <a:pPr algn="r"/>
                      <a:r>
                        <a:rPr sz="1050" b="0">
                          <a:solidFill>
                            <a:srgbClr val="1F2937"/>
                          </a:solidFill>
                          <a:latin typeface="Calibri"/>
                        </a:rPr>
                        <a:t>+1.7%</a:t>
                      </a:r>
                    </a:p>
                  </a:txBody>
                  <a:tcPr anchor="ctr" marL="54864" marR="54864" marT="27432" marB="27432">
                    <a:solidFill>
                      <a:srgbClr val="F3F6F9"/>
                    </a:solidFill>
                  </a:tcPr>
                </a:tc>
                <a:tc>
                  <a:txBody>
                    <a:bodyPr/>
                    <a:lstStyle/>
                    <a:p>
                      <a:pPr algn="r"/>
                      <a:r>
                        <a:rPr sz="1050" b="0">
                          <a:solidFill>
                            <a:srgbClr val="1F2937"/>
                          </a:solidFill>
                          <a:latin typeface="Calibri"/>
                        </a:rPr>
                        <a:t>0.53 / 1.30 / 28.54</a:t>
                      </a:r>
                    </a:p>
                  </a:txBody>
                  <a:tcPr anchor="ctr" marL="54864" marR="54864" marT="27432" marB="27432">
                    <a:solidFill>
                      <a:srgbClr val="F3F6F9"/>
                    </a:solidFill>
                  </a:tcPr>
                </a:tc>
                <a:tc>
                  <a:txBody>
                    <a:bodyPr/>
                    <a:lstStyle/>
                    <a:p>
                      <a:pPr algn="r"/>
                      <a:r>
                        <a:rPr sz="1050" b="0">
                          <a:solidFill>
                            <a:srgbClr val="1F2937"/>
                          </a:solidFill>
                          <a:latin typeface="Calibri"/>
                        </a:rPr>
                        <a:t>0.52 / 1.29 / 28.02</a:t>
                      </a:r>
                    </a:p>
                  </a:txBody>
                  <a:tcPr anchor="ctr" marL="54864" marR="54864" marT="27432" marB="27432">
                    <a:solidFill>
                      <a:srgbClr val="F3F6F9"/>
                    </a:solidFill>
                  </a:tcPr>
                </a:tc>
                <a:tc>
                  <a:txBody>
                    <a:bodyPr/>
                    <a:lstStyle/>
                    <a:p>
                      <a:pPr algn="l"/>
                      <a:r>
                        <a:rPr sz="1050" b="1">
                          <a:solidFill>
                            <a:srgbClr val="2E8B57"/>
                          </a:solidFill>
                          <a:latin typeface="Calibri"/>
                        </a:rPr>
                        <a:t>0 / NORMAL</a:t>
                      </a:r>
                    </a:p>
                  </a:txBody>
                  <a:tcPr anchor="ctr" marL="54864" marR="54864" marT="27432" marB="27432">
                    <a:solidFill>
                      <a:srgbClr val="E3F3EA"/>
                    </a:solidFill>
                  </a:tcPr>
                </a:tc>
              </a:tr>
              <a:tr h="146304">
                <a:tc>
                  <a:txBody>
                    <a:bodyPr/>
                    <a:lstStyle/>
                    <a:p>
                      <a:pPr algn="l"/>
                      <a:r>
                        <a:rPr sz="1050" b="1">
                          <a:solidFill>
                            <a:srgbClr val="1F2937"/>
                          </a:solidFill>
                          <a:latin typeface="Calibri"/>
                        </a:rPr>
                        <a:t>S2a Med (C=8) — Retry-Aware</a:t>
                      </a:r>
                    </a:p>
                  </a:txBody>
                  <a:tcPr anchor="ctr" marL="54864" marR="54864" marT="27432" marB="27432">
                    <a:solidFill>
                      <a:srgbClr val="FFFFFF"/>
                    </a:solidFill>
                  </a:tcPr>
                </a:tc>
                <a:tc>
                  <a:txBody>
                    <a:bodyPr/>
                    <a:lstStyle/>
                    <a:p>
                      <a:pPr algn="r"/>
                      <a:r>
                        <a:rPr sz="1050" b="0">
                          <a:solidFill>
                            <a:srgbClr val="1F2937"/>
                          </a:solidFill>
                          <a:latin typeface="Calibri"/>
                        </a:rPr>
                        <a:t>6,884.42 ± 78.47</a:t>
                      </a:r>
                    </a:p>
                  </a:txBody>
                  <a:tcPr anchor="ctr" marL="54864" marR="54864" marT="27432" marB="27432">
                    <a:solidFill>
                      <a:srgbClr val="FFFFFF"/>
                    </a:solidFill>
                  </a:tcPr>
                </a:tc>
                <a:tc>
                  <a:txBody>
                    <a:bodyPr/>
                    <a:lstStyle/>
                    <a:p>
                      <a:pPr algn="r"/>
                      <a:r>
                        <a:rPr sz="1050" b="0">
                          <a:solidFill>
                            <a:srgbClr val="1F2937"/>
                          </a:solidFill>
                          <a:latin typeface="Calibri"/>
                        </a:rPr>
                        <a:t>6,587.70 ± 219.70</a:t>
                      </a:r>
                    </a:p>
                  </a:txBody>
                  <a:tcPr anchor="ctr" marL="54864" marR="54864" marT="27432" marB="27432">
                    <a:solidFill>
                      <a:srgbClr val="FFFFFF"/>
                    </a:solidFill>
                  </a:tcPr>
                </a:tc>
                <a:tc>
                  <a:txBody>
                    <a:bodyPr/>
                    <a:lstStyle/>
                    <a:p>
                      <a:pPr algn="r"/>
                      <a:r>
                        <a:rPr sz="1050" b="0">
                          <a:solidFill>
                            <a:srgbClr val="1F2937"/>
                          </a:solidFill>
                          <a:latin typeface="Calibri"/>
                        </a:rPr>
                        <a:t>−4.3%</a:t>
                      </a:r>
                    </a:p>
                  </a:txBody>
                  <a:tcPr anchor="ctr" marL="54864" marR="54864" marT="27432" marB="27432">
                    <a:solidFill>
                      <a:srgbClr val="FFFFFF"/>
                    </a:solidFill>
                  </a:tcPr>
                </a:tc>
                <a:tc>
                  <a:txBody>
                    <a:bodyPr/>
                    <a:lstStyle/>
                    <a:p>
                      <a:pPr algn="r"/>
                      <a:r>
                        <a:rPr sz="1050" b="0">
                          <a:solidFill>
                            <a:srgbClr val="1F2937"/>
                          </a:solidFill>
                          <a:latin typeface="Calibri"/>
                        </a:rPr>
                        <a:t>0.53 / 1.29 / 28.40</a:t>
                      </a:r>
                    </a:p>
                  </a:txBody>
                  <a:tcPr anchor="ctr" marL="54864" marR="54864" marT="27432" marB="27432">
                    <a:solidFill>
                      <a:srgbClr val="FFFFFF"/>
                    </a:solidFill>
                  </a:tcPr>
                </a:tc>
                <a:tc>
                  <a:txBody>
                    <a:bodyPr/>
                    <a:lstStyle/>
                    <a:p>
                      <a:pPr algn="r"/>
                      <a:r>
                        <a:rPr sz="1050" b="0">
                          <a:solidFill>
                            <a:srgbClr val="1F2937"/>
                          </a:solidFill>
                          <a:latin typeface="Calibri"/>
                        </a:rPr>
                        <a:t>0.55 / 1.39 / 29.49</a:t>
                      </a:r>
                    </a:p>
                  </a:txBody>
                  <a:tcPr anchor="ctr" marL="54864" marR="54864" marT="27432" marB="27432">
                    <a:solidFill>
                      <a:srgbClr val="FFFFFF"/>
                    </a:solidFill>
                  </a:tcPr>
                </a:tc>
                <a:tc>
                  <a:txBody>
                    <a:bodyPr/>
                    <a:lstStyle/>
                    <a:p>
                      <a:pPr algn="l"/>
                      <a:r>
                        <a:rPr sz="1050" b="1">
                          <a:solidFill>
                            <a:srgbClr val="2E8B57"/>
                          </a:solidFill>
                          <a:latin typeface="Calibri"/>
                        </a:rPr>
                        <a:t>0 / NORMAL</a:t>
                      </a:r>
                    </a:p>
                  </a:txBody>
                  <a:tcPr anchor="ctr" marL="54864" marR="54864" marT="27432" marB="27432">
                    <a:solidFill>
                      <a:srgbClr val="E3F3EA"/>
                    </a:solidFill>
                  </a:tcPr>
                </a:tc>
              </a:tr>
            </a:tbl>
          </a:graphicData>
        </a:graphic>
      </p:graphicFrame>
      <p:sp>
        <p:nvSpPr>
          <p:cNvPr id="7" name="TextBox 6"/>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Dataset: historical_v4_20261019 (5 × 10 s paired trials/cell, mean ± SD); Final Report Tables 5.3 &amp; 5.4 (pp. 27–29)</a:t>
            </a:r>
          </a:p>
        </p:txBody>
      </p:sp>
      <p:sp>
        <p:nvSpPr>
          <p:cNvPr id="8" name="TextBox 7"/>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8 · RESULTS (BASELINE VS PROPOSED)</a:t>
            </a:r>
          </a:p>
          <a:p>
            <a:pPr algn="l">
              <a:spcAft>
                <a:spcPts val="300"/>
              </a:spcAft>
            </a:pPr>
            <a:r>
              <a:rPr sz="2700" b="1">
                <a:solidFill>
                  <a:srgbClr val="0B1F3A"/>
                </a:solidFill>
                <a:latin typeface="Cambria"/>
              </a:rPr>
              <a:t>Historical v4 Results at C = 32: CAUTION Fair-Sharing Trade-Off</a:t>
            </a:r>
          </a:p>
          <a:p>
            <a:pPr algn="l"/>
            <a:r>
              <a:rPr sz="1500" b="0">
                <a:solidFill>
                  <a:srgbClr val="5B6676"/>
                </a:solidFill>
                <a:latin typeface="Calibri"/>
              </a:rPr>
              <a:t>61.3% p99 tail-latency reduction in both client modes with ZERO HTTP 503 rejections (Report Tables 5.3 &amp; 5.4)</a:t>
            </a:r>
          </a:p>
        </p:txBody>
      </p:sp>
      <p:graphicFrame>
        <p:nvGraphicFramePr>
          <p:cNvPr id="4" name="Chart 3"/>
          <p:cNvGraphicFramePr>
            <a:graphicFrameLocks noGrp="1"/>
          </p:cNvGraphicFramePr>
          <p:nvPr/>
        </p:nvGraphicFramePr>
        <p:xfrm>
          <a:off x="594360" y="1965960"/>
          <a:ext cx="5349240" cy="233172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217920" y="1965960"/>
          <a:ext cx="5376672" cy="233172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94360" y="4389120"/>
          <a:ext cx="11000232" cy="877824"/>
        </p:xfrm>
        <a:graphic>
          <a:graphicData uri="http://schemas.openxmlformats.org/drawingml/2006/table">
            <a:tbl>
              <a:tblPr firstRow="1" bandRow="1">
                <a:tableStyleId>{5C22544A-7EE6-4342-B048-85BDC9FD1C3A}</a:tableStyleId>
              </a:tblPr>
              <a:tblGrid>
                <a:gridCol w="2286000"/>
                <a:gridCol w="1417320"/>
                <a:gridCol w="1417320"/>
                <a:gridCol w="1463040"/>
                <a:gridCol w="1463040"/>
                <a:gridCol w="1417320"/>
                <a:gridCol w="1536192"/>
              </a:tblGrid>
              <a:tr h="146304">
                <a:tc>
                  <a:txBody>
                    <a:bodyPr/>
                    <a:lstStyle/>
                    <a:p>
                      <a:pPr algn="l"/>
                      <a:r>
                        <a:rPr sz="1080" b="1">
                          <a:solidFill>
                            <a:srgbClr val="FFFFFF"/>
                          </a:solidFill>
                          <a:latin typeface="Calibri"/>
                        </a:rPr>
                        <a:t>Metric (C = 32, n = 5 × 10 s)</a:t>
                      </a:r>
                    </a:p>
                  </a:txBody>
                  <a:tcPr anchor="ctr" marL="54864" marR="54864" marT="27432" marB="27432">
                    <a:solidFill>
                      <a:srgbClr val="0B1F3A"/>
                    </a:solidFill>
                  </a:tcPr>
                </a:tc>
                <a:tc>
                  <a:txBody>
                    <a:bodyPr/>
                    <a:lstStyle/>
                    <a:p>
                      <a:pPr algn="r"/>
                      <a:r>
                        <a:rPr sz="1080" b="1">
                          <a:solidFill>
                            <a:srgbClr val="FFFFFF"/>
                          </a:solidFill>
                          <a:latin typeface="Calibri"/>
                        </a:rPr>
                        <a:t>Standard Baseline</a:t>
                      </a:r>
                    </a:p>
                  </a:txBody>
                  <a:tcPr anchor="ctr" marL="54864" marR="54864" marT="27432" marB="27432">
                    <a:solidFill>
                      <a:srgbClr val="0B1F3A"/>
                    </a:solidFill>
                  </a:tcPr>
                </a:tc>
                <a:tc>
                  <a:txBody>
                    <a:bodyPr/>
                    <a:lstStyle/>
                    <a:p>
                      <a:pPr algn="r"/>
                      <a:r>
                        <a:rPr sz="1080" b="1">
                          <a:solidFill>
                            <a:srgbClr val="FFFFFF"/>
                          </a:solidFill>
                          <a:latin typeface="Calibri"/>
                        </a:rPr>
                        <a:t>Standard QLAAC</a:t>
                      </a:r>
                    </a:p>
                  </a:txBody>
                  <a:tcPr anchor="ctr" marL="54864" marR="54864" marT="27432" marB="27432">
                    <a:solidFill>
                      <a:srgbClr val="0B1F3A"/>
                    </a:solidFill>
                  </a:tcPr>
                </a:tc>
                <a:tc>
                  <a:txBody>
                    <a:bodyPr/>
                    <a:lstStyle/>
                    <a:p>
                      <a:pPr algn="r"/>
                      <a:r>
                        <a:rPr sz="1080" b="1">
                          <a:solidFill>
                            <a:srgbClr val="FFFFFF"/>
                          </a:solidFill>
                          <a:latin typeface="Calibri"/>
                        </a:rPr>
                        <a:t>Std Imp% (Δ)</a:t>
                      </a:r>
                    </a:p>
                  </a:txBody>
                  <a:tcPr anchor="ctr" marL="54864" marR="54864" marT="27432" marB="27432">
                    <a:solidFill>
                      <a:srgbClr val="0B1F3A"/>
                    </a:solidFill>
                  </a:tcPr>
                </a:tc>
                <a:tc>
                  <a:txBody>
                    <a:bodyPr/>
                    <a:lstStyle/>
                    <a:p>
                      <a:pPr algn="r"/>
                      <a:r>
                        <a:rPr sz="1080" b="1">
                          <a:solidFill>
                            <a:srgbClr val="FFFFFF"/>
                          </a:solidFill>
                          <a:latin typeface="Calibri"/>
                        </a:rPr>
                        <a:t>Retry-Aware Baseline</a:t>
                      </a:r>
                    </a:p>
                  </a:txBody>
                  <a:tcPr anchor="ctr" marL="54864" marR="54864" marT="27432" marB="27432">
                    <a:solidFill>
                      <a:srgbClr val="0B1F3A"/>
                    </a:solidFill>
                  </a:tcPr>
                </a:tc>
                <a:tc>
                  <a:txBody>
                    <a:bodyPr/>
                    <a:lstStyle/>
                    <a:p>
                      <a:pPr algn="r"/>
                      <a:r>
                        <a:rPr sz="1080" b="1">
                          <a:solidFill>
                            <a:srgbClr val="FFFFFF"/>
                          </a:solidFill>
                          <a:latin typeface="Calibri"/>
                        </a:rPr>
                        <a:t>Retry-Aware QLAAC</a:t>
                      </a:r>
                    </a:p>
                  </a:txBody>
                  <a:tcPr anchor="ctr" marL="54864" marR="54864" marT="27432" marB="27432">
                    <a:solidFill>
                      <a:srgbClr val="0B1F3A"/>
                    </a:solidFill>
                  </a:tcPr>
                </a:tc>
                <a:tc>
                  <a:txBody>
                    <a:bodyPr/>
                    <a:lstStyle/>
                    <a:p>
                      <a:pPr algn="r"/>
                      <a:r>
                        <a:rPr sz="1080" b="1">
                          <a:solidFill>
                            <a:srgbClr val="FFFFFF"/>
                          </a:solidFill>
                          <a:latin typeface="Calibri"/>
                        </a:rPr>
                        <a:t>Retry Imp% (Δ)</a:t>
                      </a:r>
                    </a:p>
                  </a:txBody>
                  <a:tcPr anchor="ctr" marL="54864" marR="54864" marT="27432" marB="27432">
                    <a:solidFill>
                      <a:srgbClr val="0B1F3A"/>
                    </a:solidFill>
                  </a:tcPr>
                </a:tc>
              </a:tr>
              <a:tr h="146304">
                <a:tc>
                  <a:txBody>
                    <a:bodyPr/>
                    <a:lstStyle/>
                    <a:p>
                      <a:pPr algn="l"/>
                      <a:r>
                        <a:rPr sz="1019" b="1">
                          <a:solidFill>
                            <a:srgbClr val="1F2937"/>
                          </a:solidFill>
                          <a:latin typeface="Calibri"/>
                        </a:rPr>
                        <a:t>Successful 2xx Throughput (req/s)</a:t>
                      </a:r>
                    </a:p>
                  </a:txBody>
                  <a:tcPr anchor="ctr" marL="54864" marR="54864" marT="27432" marB="27432">
                    <a:solidFill>
                      <a:srgbClr val="F3F6F9"/>
                    </a:solidFill>
                  </a:tcPr>
                </a:tc>
                <a:tc>
                  <a:txBody>
                    <a:bodyPr/>
                    <a:lstStyle/>
                    <a:p>
                      <a:pPr algn="r"/>
                      <a:r>
                        <a:rPr sz="1019" b="0">
                          <a:solidFill>
                            <a:srgbClr val="1F2937"/>
                          </a:solidFill>
                          <a:latin typeface="Calibri"/>
                        </a:rPr>
                        <a:t>6,938.70 ± 249.64</a:t>
                      </a:r>
                    </a:p>
                  </a:txBody>
                  <a:tcPr anchor="ctr" marL="54864" marR="54864" marT="27432" marB="27432">
                    <a:solidFill>
                      <a:srgbClr val="F3F6F9"/>
                    </a:solidFill>
                  </a:tcPr>
                </a:tc>
                <a:tc>
                  <a:txBody>
                    <a:bodyPr/>
                    <a:lstStyle/>
                    <a:p>
                      <a:pPr algn="r"/>
                      <a:r>
                        <a:rPr sz="1019" b="0">
                          <a:solidFill>
                            <a:srgbClr val="1F2937"/>
                          </a:solidFill>
                          <a:latin typeface="Calibri"/>
                        </a:rPr>
                        <a:t>5,988.46 ± 101.62</a:t>
                      </a:r>
                    </a:p>
                  </a:txBody>
                  <a:tcPr anchor="ctr" marL="54864" marR="54864" marT="27432" marB="27432">
                    <a:solidFill>
                      <a:srgbClr val="F3F6F9"/>
                    </a:solidFill>
                  </a:tcPr>
                </a:tc>
                <a:tc>
                  <a:txBody>
                    <a:bodyPr/>
                    <a:lstStyle/>
                    <a:p>
                      <a:pPr algn="r"/>
                      <a:r>
                        <a:rPr sz="1019" b="1">
                          <a:solidFill>
                            <a:srgbClr val="9A5B00"/>
                          </a:solidFill>
                          <a:latin typeface="Calibri"/>
                        </a:rPr>
                        <a:t>−13.7% (−13.7%)</a:t>
                      </a:r>
                    </a:p>
                  </a:txBody>
                  <a:tcPr anchor="ctr" marL="54864" marR="54864" marT="27432" marB="27432">
                    <a:solidFill>
                      <a:srgbClr val="FCF1D9"/>
                    </a:solidFill>
                  </a:tcPr>
                </a:tc>
                <a:tc>
                  <a:txBody>
                    <a:bodyPr/>
                    <a:lstStyle/>
                    <a:p>
                      <a:pPr algn="r"/>
                      <a:r>
                        <a:rPr sz="1019" b="0">
                          <a:solidFill>
                            <a:srgbClr val="1F2937"/>
                          </a:solidFill>
                          <a:latin typeface="Calibri"/>
                        </a:rPr>
                        <a:t>6,767.70 ± 270.04</a:t>
                      </a:r>
                    </a:p>
                  </a:txBody>
                  <a:tcPr anchor="ctr" marL="54864" marR="54864" marT="27432" marB="27432">
                    <a:solidFill>
                      <a:srgbClr val="F3F6F9"/>
                    </a:solidFill>
                  </a:tcPr>
                </a:tc>
                <a:tc>
                  <a:txBody>
                    <a:bodyPr/>
                    <a:lstStyle/>
                    <a:p>
                      <a:pPr algn="r"/>
                      <a:r>
                        <a:rPr sz="1019" b="0">
                          <a:solidFill>
                            <a:srgbClr val="1F2937"/>
                          </a:solidFill>
                          <a:latin typeface="Calibri"/>
                        </a:rPr>
                        <a:t>5,859.92 ± 91.19</a:t>
                      </a:r>
                    </a:p>
                  </a:txBody>
                  <a:tcPr anchor="ctr" marL="54864" marR="54864" marT="27432" marB="27432">
                    <a:solidFill>
                      <a:srgbClr val="F3F6F9"/>
                    </a:solidFill>
                  </a:tcPr>
                </a:tc>
                <a:tc>
                  <a:txBody>
                    <a:bodyPr/>
                    <a:lstStyle/>
                    <a:p>
                      <a:pPr algn="r"/>
                      <a:r>
                        <a:rPr sz="1019" b="1">
                          <a:solidFill>
                            <a:srgbClr val="9A5B00"/>
                          </a:solidFill>
                          <a:latin typeface="Calibri"/>
                        </a:rPr>
                        <a:t>−13.4% (−13.4%)</a:t>
                      </a:r>
                    </a:p>
                  </a:txBody>
                  <a:tcPr anchor="ctr" marL="54864" marR="54864" marT="27432" marB="27432">
                    <a:solidFill>
                      <a:srgbClr val="FCF1D9"/>
                    </a:solidFill>
                  </a:tcPr>
                </a:tc>
              </a:tr>
              <a:tr h="146304">
                <a:tc>
                  <a:txBody>
                    <a:bodyPr/>
                    <a:lstStyle/>
                    <a:p>
                      <a:pPr algn="l"/>
                      <a:r>
                        <a:rPr sz="1019" b="1">
                          <a:solidFill>
                            <a:srgbClr val="1F2937"/>
                          </a:solidFill>
                          <a:latin typeface="Calibri"/>
                        </a:rPr>
                        <a:t>p50 / Mean 2xx Latency (ms)</a:t>
                      </a:r>
                    </a:p>
                  </a:txBody>
                  <a:tcPr anchor="ctr" marL="54864" marR="54864" marT="27432" marB="27432">
                    <a:solidFill>
                      <a:srgbClr val="FFFFFF"/>
                    </a:solidFill>
                  </a:tcPr>
                </a:tc>
                <a:tc>
                  <a:txBody>
                    <a:bodyPr/>
                    <a:lstStyle/>
                    <a:p>
                      <a:pPr algn="r"/>
                      <a:r>
                        <a:rPr sz="1019" b="0">
                          <a:solidFill>
                            <a:srgbClr val="1F2937"/>
                          </a:solidFill>
                          <a:latin typeface="Calibri"/>
                        </a:rPr>
                        <a:t>0.52 / 4.65 ms</a:t>
                      </a:r>
                    </a:p>
                  </a:txBody>
                  <a:tcPr anchor="ctr" marL="54864" marR="54864" marT="27432" marB="27432">
                    <a:solidFill>
                      <a:srgbClr val="FFFFFF"/>
                    </a:solidFill>
                  </a:tcPr>
                </a:tc>
                <a:tc>
                  <a:txBody>
                    <a:bodyPr/>
                    <a:lstStyle/>
                    <a:p>
                      <a:pPr algn="r"/>
                      <a:r>
                        <a:rPr sz="1019" b="0">
                          <a:solidFill>
                            <a:srgbClr val="1F2937"/>
                          </a:solidFill>
                          <a:latin typeface="Calibri"/>
                        </a:rPr>
                        <a:t>0.64 / 4.86 ms</a:t>
                      </a:r>
                    </a:p>
                  </a:txBody>
                  <a:tcPr anchor="ctr" marL="54864" marR="54864" marT="27432" marB="27432">
                    <a:solidFill>
                      <a:srgbClr val="FFFFFF"/>
                    </a:solidFill>
                  </a:tcPr>
                </a:tc>
                <a:tc>
                  <a:txBody>
                    <a:bodyPr/>
                    <a:lstStyle/>
                    <a:p>
                      <a:pPr algn="r"/>
                      <a:r>
                        <a:rPr sz="1019" b="0">
                          <a:solidFill>
                            <a:srgbClr val="1F2937"/>
                          </a:solidFill>
                          <a:latin typeface="Calibri"/>
                        </a:rPr>
                        <a:t>−21.1% (+21.1% p50)</a:t>
                      </a:r>
                    </a:p>
                  </a:txBody>
                  <a:tcPr anchor="ctr" marL="54864" marR="54864" marT="27432" marB="27432">
                    <a:solidFill>
                      <a:srgbClr val="FFFFFF"/>
                    </a:solidFill>
                  </a:tcPr>
                </a:tc>
                <a:tc>
                  <a:txBody>
                    <a:bodyPr/>
                    <a:lstStyle/>
                    <a:p>
                      <a:pPr algn="r"/>
                      <a:r>
                        <a:rPr sz="1019" b="0">
                          <a:solidFill>
                            <a:srgbClr val="1F2937"/>
                          </a:solidFill>
                          <a:latin typeface="Calibri"/>
                        </a:rPr>
                        <a:t>0.54 / 4.76 ms</a:t>
                      </a:r>
                    </a:p>
                  </a:txBody>
                  <a:tcPr anchor="ctr" marL="54864" marR="54864" marT="27432" marB="27432">
                    <a:solidFill>
                      <a:srgbClr val="FFFFFF"/>
                    </a:solidFill>
                  </a:tcPr>
                </a:tc>
                <a:tc>
                  <a:txBody>
                    <a:bodyPr/>
                    <a:lstStyle/>
                    <a:p>
                      <a:pPr algn="r"/>
                      <a:r>
                        <a:rPr sz="1019" b="0">
                          <a:solidFill>
                            <a:srgbClr val="1F2937"/>
                          </a:solidFill>
                          <a:latin typeface="Calibri"/>
                        </a:rPr>
                        <a:t>0.65 / 4.97 ms</a:t>
                      </a:r>
                    </a:p>
                  </a:txBody>
                  <a:tcPr anchor="ctr" marL="54864" marR="54864" marT="27432" marB="27432">
                    <a:solidFill>
                      <a:srgbClr val="FFFFFF"/>
                    </a:solidFill>
                  </a:tcPr>
                </a:tc>
                <a:tc>
                  <a:txBody>
                    <a:bodyPr/>
                    <a:lstStyle/>
                    <a:p>
                      <a:pPr algn="r"/>
                      <a:r>
                        <a:rPr sz="1019" b="0">
                          <a:solidFill>
                            <a:srgbClr val="1F2937"/>
                          </a:solidFill>
                          <a:latin typeface="Calibri"/>
                        </a:rPr>
                        <a:t>−21.4% (+21.4% p50)</a:t>
                      </a:r>
                    </a:p>
                  </a:txBody>
                  <a:tcPr anchor="ctr" marL="54864" marR="54864" marT="27432" marB="27432">
                    <a:solidFill>
                      <a:srgbClr val="FFFFFF"/>
                    </a:solidFill>
                  </a:tcPr>
                </a:tc>
              </a:tr>
              <a:tr h="146304">
                <a:tc>
                  <a:txBody>
                    <a:bodyPr/>
                    <a:lstStyle/>
                    <a:p>
                      <a:pPr algn="l"/>
                      <a:r>
                        <a:rPr sz="1019" b="1">
                          <a:solidFill>
                            <a:srgbClr val="1F2937"/>
                          </a:solidFill>
                          <a:latin typeface="Calibri"/>
                        </a:rPr>
                        <a:t>p95 2xx Latency (ms)</a:t>
                      </a:r>
                    </a:p>
                  </a:txBody>
                  <a:tcPr anchor="ctr" marL="54864" marR="54864" marT="27432" marB="27432">
                    <a:solidFill>
                      <a:srgbClr val="F3F6F9"/>
                    </a:solidFill>
                  </a:tcPr>
                </a:tc>
                <a:tc>
                  <a:txBody>
                    <a:bodyPr/>
                    <a:lstStyle/>
                    <a:p>
                      <a:pPr algn="r"/>
                      <a:r>
                        <a:rPr sz="1019" b="0">
                          <a:solidFill>
                            <a:srgbClr val="1F2937"/>
                          </a:solidFill>
                          <a:latin typeface="Calibri"/>
                        </a:rPr>
                        <a:t>1.31 ± 0.06 ms</a:t>
                      </a:r>
                    </a:p>
                  </a:txBody>
                  <a:tcPr anchor="ctr" marL="54864" marR="54864" marT="27432" marB="27432">
                    <a:solidFill>
                      <a:srgbClr val="F3F6F9"/>
                    </a:solidFill>
                  </a:tcPr>
                </a:tc>
                <a:tc>
                  <a:txBody>
                    <a:bodyPr/>
                    <a:lstStyle/>
                    <a:p>
                      <a:pPr algn="r"/>
                      <a:r>
                        <a:rPr sz="1019" b="0">
                          <a:solidFill>
                            <a:srgbClr val="1F2937"/>
                          </a:solidFill>
                          <a:latin typeface="Calibri"/>
                        </a:rPr>
                        <a:t>72.99 ± 1.25 ms</a:t>
                      </a:r>
                    </a:p>
                  </a:txBody>
                  <a:tcPr anchor="ctr" marL="54864" marR="54864" marT="27432" marB="27432">
                    <a:solidFill>
                      <a:srgbClr val="F3F6F9"/>
                    </a:solidFill>
                  </a:tcPr>
                </a:tc>
                <a:tc>
                  <a:txBody>
                    <a:bodyPr/>
                    <a:lstStyle/>
                    <a:p>
                      <a:pPr algn="r"/>
                      <a:r>
                        <a:rPr sz="1019" b="1">
                          <a:solidFill>
                            <a:srgbClr val="9A5B00"/>
                          </a:solidFill>
                          <a:latin typeface="Calibri"/>
                        </a:rPr>
                        <a:t>−5454.8% (+5454.8%)</a:t>
                      </a:r>
                    </a:p>
                  </a:txBody>
                  <a:tcPr anchor="ctr" marL="54864" marR="54864" marT="27432" marB="27432">
                    <a:solidFill>
                      <a:srgbClr val="FCF1D9"/>
                    </a:solidFill>
                  </a:tcPr>
                </a:tc>
                <a:tc>
                  <a:txBody>
                    <a:bodyPr/>
                    <a:lstStyle/>
                    <a:p>
                      <a:pPr algn="r"/>
                      <a:r>
                        <a:rPr sz="1019" b="0">
                          <a:solidFill>
                            <a:srgbClr val="1F2937"/>
                          </a:solidFill>
                          <a:latin typeface="Calibri"/>
                        </a:rPr>
                        <a:t>1.34 ± 0.07 ms</a:t>
                      </a:r>
                    </a:p>
                  </a:txBody>
                  <a:tcPr anchor="ctr" marL="54864" marR="54864" marT="27432" marB="27432">
                    <a:solidFill>
                      <a:srgbClr val="F3F6F9"/>
                    </a:solidFill>
                  </a:tcPr>
                </a:tc>
                <a:tc>
                  <a:txBody>
                    <a:bodyPr/>
                    <a:lstStyle/>
                    <a:p>
                      <a:pPr algn="r"/>
                      <a:r>
                        <a:rPr sz="1019" b="0">
                          <a:solidFill>
                            <a:srgbClr val="1F2937"/>
                          </a:solidFill>
                          <a:latin typeface="Calibri"/>
                        </a:rPr>
                        <a:t>74.65 ± 1.24 ms</a:t>
                      </a:r>
                    </a:p>
                  </a:txBody>
                  <a:tcPr anchor="ctr" marL="54864" marR="54864" marT="27432" marB="27432">
                    <a:solidFill>
                      <a:srgbClr val="F3F6F9"/>
                    </a:solidFill>
                  </a:tcPr>
                </a:tc>
                <a:tc>
                  <a:txBody>
                    <a:bodyPr/>
                    <a:lstStyle/>
                    <a:p>
                      <a:pPr algn="r"/>
                      <a:r>
                        <a:rPr sz="1019" b="1">
                          <a:solidFill>
                            <a:srgbClr val="9A5B00"/>
                          </a:solidFill>
                          <a:latin typeface="Calibri"/>
                        </a:rPr>
                        <a:t>−5479.2% (+5479.2%)</a:t>
                      </a:r>
                    </a:p>
                  </a:txBody>
                  <a:tcPr anchor="ctr" marL="54864" marR="54864" marT="27432" marB="27432">
                    <a:solidFill>
                      <a:srgbClr val="FCF1D9"/>
                    </a:solidFill>
                  </a:tcPr>
                </a:tc>
              </a:tr>
              <a:tr h="146304">
                <a:tc>
                  <a:txBody>
                    <a:bodyPr/>
                    <a:lstStyle/>
                    <a:p>
                      <a:pPr algn="l"/>
                      <a:r>
                        <a:rPr sz="1019" b="1">
                          <a:solidFill>
                            <a:srgbClr val="1F2937"/>
                          </a:solidFill>
                          <a:latin typeface="Calibri"/>
                        </a:rPr>
                        <a:t>p99 Tail Latency (ms)</a:t>
                      </a:r>
                    </a:p>
                  </a:txBody>
                  <a:tcPr anchor="ctr" marL="54864" marR="54864" marT="27432" marB="27432">
                    <a:solidFill>
                      <a:srgbClr val="FFFFFF"/>
                    </a:solidFill>
                  </a:tcPr>
                </a:tc>
                <a:tc>
                  <a:txBody>
                    <a:bodyPr/>
                    <a:lstStyle/>
                    <a:p>
                      <a:pPr algn="r"/>
                      <a:r>
                        <a:rPr sz="1019" b="0">
                          <a:solidFill>
                            <a:srgbClr val="1F2937"/>
                          </a:solidFill>
                          <a:latin typeface="Calibri"/>
                        </a:rPr>
                        <a:t>201.93 ± 6.43 ms</a:t>
                      </a:r>
                    </a:p>
                  </a:txBody>
                  <a:tcPr anchor="ctr" marL="54864" marR="54864" marT="27432" marB="27432">
                    <a:solidFill>
                      <a:srgbClr val="FFFFFF"/>
                    </a:solidFill>
                  </a:tcPr>
                </a:tc>
                <a:tc>
                  <a:txBody>
                    <a:bodyPr/>
                    <a:lstStyle/>
                    <a:p>
                      <a:pPr algn="r"/>
                      <a:r>
                        <a:rPr sz="1019" b="1">
                          <a:solidFill>
                            <a:srgbClr val="2E8B57"/>
                          </a:solidFill>
                          <a:latin typeface="Calibri"/>
                        </a:rPr>
                        <a:t>78.17 ± 1.19 ms</a:t>
                      </a:r>
                    </a:p>
                  </a:txBody>
                  <a:tcPr anchor="ctr" marL="54864" marR="54864" marT="27432" marB="27432">
                    <a:solidFill>
                      <a:srgbClr val="E3F3EA"/>
                    </a:solidFill>
                  </a:tcPr>
                </a:tc>
                <a:tc>
                  <a:txBody>
                    <a:bodyPr/>
                    <a:lstStyle/>
                    <a:p>
                      <a:pPr algn="r"/>
                      <a:r>
                        <a:rPr sz="1019" b="1">
                          <a:solidFill>
                            <a:srgbClr val="2E8B57"/>
                          </a:solidFill>
                          <a:latin typeface="Calibri"/>
                        </a:rPr>
                        <a:t>+61.3% (−61.3%)</a:t>
                      </a:r>
                    </a:p>
                  </a:txBody>
                  <a:tcPr anchor="ctr" marL="54864" marR="54864" marT="27432" marB="27432">
                    <a:solidFill>
                      <a:srgbClr val="E3F3EA"/>
                    </a:solidFill>
                  </a:tcPr>
                </a:tc>
                <a:tc>
                  <a:txBody>
                    <a:bodyPr/>
                    <a:lstStyle/>
                    <a:p>
                      <a:pPr algn="r"/>
                      <a:r>
                        <a:rPr sz="1019" b="0">
                          <a:solidFill>
                            <a:srgbClr val="1F2937"/>
                          </a:solidFill>
                          <a:latin typeface="Calibri"/>
                        </a:rPr>
                        <a:t>206.97 ± 7.90 ms</a:t>
                      </a:r>
                    </a:p>
                  </a:txBody>
                  <a:tcPr anchor="ctr" marL="54864" marR="54864" marT="27432" marB="27432">
                    <a:solidFill>
                      <a:srgbClr val="FFFFFF"/>
                    </a:solidFill>
                  </a:tcPr>
                </a:tc>
                <a:tc>
                  <a:txBody>
                    <a:bodyPr/>
                    <a:lstStyle/>
                    <a:p>
                      <a:pPr algn="r"/>
                      <a:r>
                        <a:rPr sz="1019" b="1">
                          <a:solidFill>
                            <a:srgbClr val="2E8B57"/>
                          </a:solidFill>
                          <a:latin typeface="Calibri"/>
                        </a:rPr>
                        <a:t>80.15 ± 1.84 ms</a:t>
                      </a:r>
                    </a:p>
                  </a:txBody>
                  <a:tcPr anchor="ctr" marL="54864" marR="54864" marT="27432" marB="27432">
                    <a:solidFill>
                      <a:srgbClr val="E3F3EA"/>
                    </a:solidFill>
                  </a:tcPr>
                </a:tc>
                <a:tc>
                  <a:txBody>
                    <a:bodyPr/>
                    <a:lstStyle/>
                    <a:p>
                      <a:pPr algn="r"/>
                      <a:r>
                        <a:rPr sz="1019" b="1">
                          <a:solidFill>
                            <a:srgbClr val="2E8B57"/>
                          </a:solidFill>
                          <a:latin typeface="Calibri"/>
                        </a:rPr>
                        <a:t>+61.3% (−61.3%)</a:t>
                      </a:r>
                    </a:p>
                  </a:txBody>
                  <a:tcPr anchor="ctr" marL="54864" marR="54864" marT="27432" marB="27432">
                    <a:solidFill>
                      <a:srgbClr val="E3F3EA"/>
                    </a:solidFill>
                  </a:tcPr>
                </a:tc>
              </a:tr>
              <a:tr h="146304">
                <a:tc>
                  <a:txBody>
                    <a:bodyPr/>
                    <a:lstStyle/>
                    <a:p>
                      <a:pPr algn="l"/>
                      <a:r>
                        <a:rPr sz="1019" b="1">
                          <a:solidFill>
                            <a:srgbClr val="1F2937"/>
                          </a:solidFill>
                          <a:latin typeface="Calibri"/>
                        </a:rPr>
                        <a:t>HTTP 503 Rejections &amp; Rate (%)</a:t>
                      </a:r>
                    </a:p>
                  </a:txBody>
                  <a:tcPr anchor="ctr" marL="54864" marR="54864" marT="27432" marB="27432">
                    <a:solidFill>
                      <a:srgbClr val="F3F6F9"/>
                    </a:solidFill>
                  </a:tcPr>
                </a:tc>
                <a:tc>
                  <a:txBody>
                    <a:bodyPr/>
                    <a:lstStyle/>
                    <a:p>
                      <a:pPr algn="r"/>
                      <a:r>
                        <a:rPr sz="1019" b="0">
                          <a:solidFill>
                            <a:srgbClr val="1F2937"/>
                          </a:solidFill>
                          <a:latin typeface="Calibri"/>
                        </a:rPr>
                        <a:t>0.0 ± 0.0 (0.00%)</a:t>
                      </a:r>
                    </a:p>
                  </a:txBody>
                  <a:tcPr anchor="ctr" marL="54864" marR="54864" marT="27432" marB="27432">
                    <a:solidFill>
                      <a:srgbClr val="F3F6F9"/>
                    </a:solidFill>
                  </a:tcPr>
                </a:tc>
                <a:tc>
                  <a:txBody>
                    <a:bodyPr/>
                    <a:lstStyle/>
                    <a:p>
                      <a:pPr algn="r"/>
                      <a:r>
                        <a:rPr sz="1019" b="1">
                          <a:solidFill>
                            <a:srgbClr val="2E8B57"/>
                          </a:solidFill>
                          <a:latin typeface="Calibri"/>
                        </a:rPr>
                        <a:t>0.0 ± 0.0 (0.00%)</a:t>
                      </a:r>
                    </a:p>
                  </a:txBody>
                  <a:tcPr anchor="ctr" marL="54864" marR="54864" marT="27432" marB="27432">
                    <a:solidFill>
                      <a:srgbClr val="E3F3EA"/>
                    </a:solidFill>
                  </a:tcPr>
                </a:tc>
                <a:tc>
                  <a:txBody>
                    <a:bodyPr/>
                    <a:lstStyle/>
                    <a:p>
                      <a:pPr algn="r"/>
                      <a:r>
                        <a:rPr sz="1019" b="0">
                          <a:solidFill>
                            <a:srgbClr val="1F2937"/>
                          </a:solidFill>
                          <a:latin typeface="Calibri"/>
                        </a:rPr>
                        <a:t>0 shed (CAUTION)</a:t>
                      </a:r>
                    </a:p>
                  </a:txBody>
                  <a:tcPr anchor="ctr" marL="54864" marR="54864" marT="27432" marB="27432">
                    <a:solidFill>
                      <a:srgbClr val="F3F6F9"/>
                    </a:solidFill>
                  </a:tcPr>
                </a:tc>
                <a:tc>
                  <a:txBody>
                    <a:bodyPr/>
                    <a:lstStyle/>
                    <a:p>
                      <a:pPr algn="r"/>
                      <a:r>
                        <a:rPr sz="1019" b="0">
                          <a:solidFill>
                            <a:srgbClr val="1F2937"/>
                          </a:solidFill>
                          <a:latin typeface="Calibri"/>
                        </a:rPr>
                        <a:t>0.0 ± 0.0 (0.00%)</a:t>
                      </a:r>
                    </a:p>
                  </a:txBody>
                  <a:tcPr anchor="ctr" marL="54864" marR="54864" marT="27432" marB="27432">
                    <a:solidFill>
                      <a:srgbClr val="F3F6F9"/>
                    </a:solidFill>
                  </a:tcPr>
                </a:tc>
                <a:tc>
                  <a:txBody>
                    <a:bodyPr/>
                    <a:lstStyle/>
                    <a:p>
                      <a:pPr algn="r"/>
                      <a:r>
                        <a:rPr sz="1019" b="1">
                          <a:solidFill>
                            <a:srgbClr val="2E8B57"/>
                          </a:solidFill>
                          <a:latin typeface="Calibri"/>
                        </a:rPr>
                        <a:t>0.0 ± 0.0 (0.00%)</a:t>
                      </a:r>
                    </a:p>
                  </a:txBody>
                  <a:tcPr anchor="ctr" marL="54864" marR="54864" marT="27432" marB="27432">
                    <a:solidFill>
                      <a:srgbClr val="E3F3EA"/>
                    </a:solidFill>
                  </a:tcPr>
                </a:tc>
                <a:tc>
                  <a:txBody>
                    <a:bodyPr/>
                    <a:lstStyle/>
                    <a:p>
                      <a:pPr algn="r"/>
                      <a:r>
                        <a:rPr sz="1019" b="0">
                          <a:solidFill>
                            <a:srgbClr val="1F2937"/>
                          </a:solidFill>
                          <a:latin typeface="Calibri"/>
                        </a:rPr>
                        <a:t>0 shed / 0.00 s backoff</a:t>
                      </a:r>
                    </a:p>
                  </a:txBody>
                  <a:tcPr anchor="ctr" marL="54864" marR="54864" marT="27432" marB="27432">
                    <a:solidFill>
                      <a:srgbClr val="F3F6F9"/>
                    </a:solidFill>
                  </a:tcPr>
                </a:tc>
              </a:tr>
            </a:tbl>
          </a:graphicData>
        </a:graphic>
      </p:graphicFrame>
      <p:sp>
        <p:nvSpPr>
          <p:cNvPr id="7" name="TextBox 6"/>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Dataset: historical_v4_20261019 (5 × 10 s paired trials/cell, mean ± SD); Final Report Tables 5.3 &amp; 5.4 (pp. 28–29)</a:t>
            </a:r>
          </a:p>
        </p:txBody>
      </p:sp>
      <p:sp>
        <p:nvSpPr>
          <p:cNvPr id="8" name="TextBox 7"/>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8 · RESULTS (BASELINE VS PROPOSED)</a:t>
            </a:r>
          </a:p>
          <a:p>
            <a:pPr algn="l">
              <a:spcAft>
                <a:spcPts val="300"/>
              </a:spcAft>
            </a:pPr>
            <a:r>
              <a:rPr sz="2700" b="1">
                <a:solidFill>
                  <a:srgbClr val="0B1F3A"/>
                </a:solidFill>
                <a:latin typeface="Cambria"/>
              </a:rPr>
              <a:t>Historical v4 Results at C = 64: OVERLOAD &amp; Client Divergence</a:t>
            </a:r>
          </a:p>
          <a:p>
            <a:pPr algn="l"/>
            <a:r>
              <a:rPr sz="1500" b="0">
                <a:solidFill>
                  <a:srgbClr val="5B6676"/>
                </a:solidFill>
                <a:latin typeface="Calibri"/>
              </a:rPr>
              <a:t>Why accept-gate 503 shedding fails under immediate-reconnect clients but cuts p99 by 60.6% under Retry-After clients</a:t>
            </a:r>
          </a:p>
        </p:txBody>
      </p:sp>
      <p:graphicFrame>
        <p:nvGraphicFramePr>
          <p:cNvPr id="4" name="Chart 3"/>
          <p:cNvGraphicFramePr>
            <a:graphicFrameLocks noGrp="1"/>
          </p:cNvGraphicFramePr>
          <p:nvPr/>
        </p:nvGraphicFramePr>
        <p:xfrm>
          <a:off x="594360" y="1965960"/>
          <a:ext cx="5349240" cy="224028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217920" y="1965960"/>
          <a:ext cx="5376672" cy="224028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94360" y="4279392"/>
          <a:ext cx="11000232" cy="1024128"/>
        </p:xfrm>
        <a:graphic>
          <a:graphicData uri="http://schemas.openxmlformats.org/drawingml/2006/table">
            <a:tbl>
              <a:tblPr firstRow="1" bandRow="1">
                <a:tableStyleId>{5C22544A-7EE6-4342-B048-85BDC9FD1C3A}</a:tableStyleId>
              </a:tblPr>
              <a:tblGrid>
                <a:gridCol w="2240280"/>
                <a:gridCol w="1371600"/>
                <a:gridCol w="1417320"/>
                <a:gridCol w="1508760"/>
                <a:gridCol w="1417320"/>
                <a:gridCol w="1463040"/>
                <a:gridCol w="1581912"/>
              </a:tblGrid>
              <a:tr h="146304">
                <a:tc>
                  <a:txBody>
                    <a:bodyPr/>
                    <a:lstStyle/>
                    <a:p>
                      <a:pPr algn="l"/>
                      <a:r>
                        <a:rPr sz="1050" b="1">
                          <a:solidFill>
                            <a:srgbClr val="FFFFFF"/>
                          </a:solidFill>
                          <a:latin typeface="Calibri"/>
                        </a:rPr>
                        <a:t>Metric (C = 64, n = 5 × 10 s)</a:t>
                      </a:r>
                    </a:p>
                  </a:txBody>
                  <a:tcPr anchor="ctr" marL="54864" marR="54864" marT="27432" marB="27432">
                    <a:solidFill>
                      <a:srgbClr val="0B1F3A"/>
                    </a:solidFill>
                  </a:tcPr>
                </a:tc>
                <a:tc>
                  <a:txBody>
                    <a:bodyPr/>
                    <a:lstStyle/>
                    <a:p>
                      <a:pPr algn="r"/>
                      <a:r>
                        <a:rPr sz="1050" b="1">
                          <a:solidFill>
                            <a:srgbClr val="FFFFFF"/>
                          </a:solidFill>
                          <a:latin typeface="Calibri"/>
                        </a:rPr>
                        <a:t>Standard Baseline</a:t>
                      </a:r>
                    </a:p>
                  </a:txBody>
                  <a:tcPr anchor="ctr" marL="54864" marR="54864" marT="27432" marB="27432">
                    <a:solidFill>
                      <a:srgbClr val="0B1F3A"/>
                    </a:solidFill>
                  </a:tcPr>
                </a:tc>
                <a:tc>
                  <a:txBody>
                    <a:bodyPr/>
                    <a:lstStyle/>
                    <a:p>
                      <a:pPr algn="r"/>
                      <a:r>
                        <a:rPr sz="1050" b="1">
                          <a:solidFill>
                            <a:srgbClr val="FFFFFF"/>
                          </a:solidFill>
                          <a:latin typeface="Calibri"/>
                        </a:rPr>
                        <a:t>Standard QLAAC</a:t>
                      </a:r>
                    </a:p>
                  </a:txBody>
                  <a:tcPr anchor="ctr" marL="54864" marR="54864" marT="27432" marB="27432">
                    <a:solidFill>
                      <a:srgbClr val="0B1F3A"/>
                    </a:solidFill>
                  </a:tcPr>
                </a:tc>
                <a:tc>
                  <a:txBody>
                    <a:bodyPr/>
                    <a:lstStyle/>
                    <a:p>
                      <a:pPr algn="l"/>
                      <a:r>
                        <a:rPr sz="1050" b="1">
                          <a:solidFill>
                            <a:srgbClr val="FFFFFF"/>
                          </a:solidFill>
                          <a:latin typeface="Calibri"/>
                        </a:rPr>
                        <a:t>Std Imp% / Note</a:t>
                      </a:r>
                    </a:p>
                  </a:txBody>
                  <a:tcPr anchor="ctr" marL="54864" marR="54864" marT="27432" marB="27432">
                    <a:solidFill>
                      <a:srgbClr val="0B1F3A"/>
                    </a:solidFill>
                  </a:tcPr>
                </a:tc>
                <a:tc>
                  <a:txBody>
                    <a:bodyPr/>
                    <a:lstStyle/>
                    <a:p>
                      <a:pPr algn="r"/>
                      <a:r>
                        <a:rPr sz="1050" b="1">
                          <a:solidFill>
                            <a:srgbClr val="FFFFFF"/>
                          </a:solidFill>
                          <a:latin typeface="Calibri"/>
                        </a:rPr>
                        <a:t>Retry-Aware Baseline</a:t>
                      </a:r>
                    </a:p>
                  </a:txBody>
                  <a:tcPr anchor="ctr" marL="54864" marR="54864" marT="27432" marB="27432">
                    <a:solidFill>
                      <a:srgbClr val="0B1F3A"/>
                    </a:solidFill>
                  </a:tcPr>
                </a:tc>
                <a:tc>
                  <a:txBody>
                    <a:bodyPr/>
                    <a:lstStyle/>
                    <a:p>
                      <a:pPr algn="r"/>
                      <a:r>
                        <a:rPr sz="1050" b="1">
                          <a:solidFill>
                            <a:srgbClr val="FFFFFF"/>
                          </a:solidFill>
                          <a:latin typeface="Calibri"/>
                        </a:rPr>
                        <a:t>Retry-Aware QLAAC</a:t>
                      </a:r>
                    </a:p>
                  </a:txBody>
                  <a:tcPr anchor="ctr" marL="54864" marR="54864" marT="27432" marB="27432">
                    <a:solidFill>
                      <a:srgbClr val="0B1F3A"/>
                    </a:solidFill>
                  </a:tcPr>
                </a:tc>
                <a:tc>
                  <a:txBody>
                    <a:bodyPr/>
                    <a:lstStyle/>
                    <a:p>
                      <a:pPr algn="l"/>
                      <a:r>
                        <a:rPr sz="1050" b="1">
                          <a:solidFill>
                            <a:srgbClr val="FFFFFF"/>
                          </a:solidFill>
                          <a:latin typeface="Calibri"/>
                        </a:rPr>
                        <a:t>Retry Imp% / Note</a:t>
                      </a:r>
                    </a:p>
                  </a:txBody>
                  <a:tcPr anchor="ctr" marL="54864" marR="54864" marT="27432" marB="27432">
                    <a:solidFill>
                      <a:srgbClr val="0B1F3A"/>
                    </a:solidFill>
                  </a:tcPr>
                </a:tc>
              </a:tr>
              <a:tr h="146304">
                <a:tc>
                  <a:txBody>
                    <a:bodyPr/>
                    <a:lstStyle/>
                    <a:p>
                      <a:pPr algn="l"/>
                      <a:r>
                        <a:rPr sz="980" b="1">
                          <a:solidFill>
                            <a:srgbClr val="1F2937"/>
                          </a:solidFill>
                          <a:latin typeface="Calibri"/>
                        </a:rPr>
                        <a:t>Successful 2xx Throughput (req/s)</a:t>
                      </a:r>
                    </a:p>
                  </a:txBody>
                  <a:tcPr anchor="ctr" marL="54864" marR="54864" marT="27432" marB="27432">
                    <a:solidFill>
                      <a:srgbClr val="F3F6F9"/>
                    </a:solidFill>
                  </a:tcPr>
                </a:tc>
                <a:tc>
                  <a:txBody>
                    <a:bodyPr/>
                    <a:lstStyle/>
                    <a:p>
                      <a:pPr algn="r"/>
                      <a:r>
                        <a:rPr sz="980" b="0">
                          <a:solidFill>
                            <a:srgbClr val="1F2937"/>
                          </a:solidFill>
                          <a:latin typeface="Calibri"/>
                        </a:rPr>
                        <a:t>6,922.30 ± 150.62</a:t>
                      </a:r>
                    </a:p>
                  </a:txBody>
                  <a:tcPr anchor="ctr" marL="54864" marR="54864" marT="27432" marB="27432">
                    <a:solidFill>
                      <a:srgbClr val="F3F6F9"/>
                    </a:solidFill>
                  </a:tcPr>
                </a:tc>
                <a:tc>
                  <a:txBody>
                    <a:bodyPr/>
                    <a:lstStyle/>
                    <a:p>
                      <a:pPr algn="r"/>
                      <a:r>
                        <a:rPr sz="980" b="1">
                          <a:solidFill>
                            <a:srgbClr val="C8453B"/>
                          </a:solidFill>
                          <a:latin typeface="Calibri"/>
                        </a:rPr>
                        <a:t>1,295.26 ± 44.72</a:t>
                      </a:r>
                    </a:p>
                  </a:txBody>
                  <a:tcPr anchor="ctr" marL="54864" marR="54864" marT="27432" marB="27432">
                    <a:solidFill>
                      <a:srgbClr val="FBE4E1"/>
                    </a:solidFill>
                  </a:tcPr>
                </a:tc>
                <a:tc>
                  <a:txBody>
                    <a:bodyPr/>
                    <a:lstStyle/>
                    <a:p>
                      <a:pPr algn="l"/>
                      <a:r>
                        <a:rPr sz="980" b="1">
                          <a:solidFill>
                            <a:srgbClr val="C8453B"/>
                          </a:solidFill>
                          <a:latin typeface="Calibri"/>
                        </a:rPr>
                        <a:t>−81.3% (Collapse)</a:t>
                      </a:r>
                    </a:p>
                  </a:txBody>
                  <a:tcPr anchor="ctr" marL="54864" marR="54864" marT="27432" marB="27432">
                    <a:solidFill>
                      <a:srgbClr val="FBE4E1"/>
                    </a:solidFill>
                  </a:tcPr>
                </a:tc>
                <a:tc>
                  <a:txBody>
                    <a:bodyPr/>
                    <a:lstStyle/>
                    <a:p>
                      <a:pPr algn="r"/>
                      <a:r>
                        <a:rPr sz="980" b="0">
                          <a:solidFill>
                            <a:srgbClr val="1F2937"/>
                          </a:solidFill>
                          <a:latin typeface="Calibri"/>
                        </a:rPr>
                        <a:t>6,805.68 ± 116.05</a:t>
                      </a:r>
                    </a:p>
                  </a:txBody>
                  <a:tcPr anchor="ctr" marL="54864" marR="54864" marT="27432" marB="27432">
                    <a:solidFill>
                      <a:srgbClr val="F3F6F9"/>
                    </a:solidFill>
                  </a:tcPr>
                </a:tc>
                <a:tc>
                  <a:txBody>
                    <a:bodyPr/>
                    <a:lstStyle/>
                    <a:p>
                      <a:pPr algn="r"/>
                      <a:r>
                        <a:rPr sz="980" b="1">
                          <a:solidFill>
                            <a:srgbClr val="9A5B00"/>
                          </a:solidFill>
                          <a:latin typeface="Calibri"/>
                        </a:rPr>
                        <a:t>1,591.48 ± 528.46</a:t>
                      </a:r>
                    </a:p>
                  </a:txBody>
                  <a:tcPr anchor="ctr" marL="54864" marR="54864" marT="27432" marB="27432">
                    <a:solidFill>
                      <a:srgbClr val="FCF1D9"/>
                    </a:solidFill>
                  </a:tcPr>
                </a:tc>
                <a:tc>
                  <a:txBody>
                    <a:bodyPr/>
                    <a:lstStyle/>
                    <a:p>
                      <a:pPr algn="l"/>
                      <a:r>
                        <a:rPr sz="980" b="1">
                          <a:solidFill>
                            <a:srgbClr val="9A5B00"/>
                          </a:solidFill>
                          <a:latin typeface="Calibri"/>
                        </a:rPr>
                        <a:t>−76.6% (Backoff cost)</a:t>
                      </a:r>
                    </a:p>
                  </a:txBody>
                  <a:tcPr anchor="ctr" marL="54864" marR="54864" marT="27432" marB="27432">
                    <a:solidFill>
                      <a:srgbClr val="FCF1D9"/>
                    </a:solidFill>
                  </a:tcPr>
                </a:tc>
              </a:tr>
              <a:tr h="146304">
                <a:tc>
                  <a:txBody>
                    <a:bodyPr/>
                    <a:lstStyle/>
                    <a:p>
                      <a:pPr algn="l"/>
                      <a:r>
                        <a:rPr sz="980" b="1">
                          <a:solidFill>
                            <a:srgbClr val="1F2937"/>
                          </a:solidFill>
                          <a:latin typeface="Calibri"/>
                        </a:rPr>
                        <a:t>p50 / p95 2xx Latency (ms)</a:t>
                      </a:r>
                    </a:p>
                  </a:txBody>
                  <a:tcPr anchor="ctr" marL="54864" marR="54864" marT="27432" marB="27432">
                    <a:solidFill>
                      <a:srgbClr val="FFFFFF"/>
                    </a:solidFill>
                  </a:tcPr>
                </a:tc>
                <a:tc>
                  <a:txBody>
                    <a:bodyPr/>
                    <a:lstStyle/>
                    <a:p>
                      <a:pPr algn="r"/>
                      <a:r>
                        <a:rPr sz="980" b="0">
                          <a:solidFill>
                            <a:srgbClr val="1F2937"/>
                          </a:solidFill>
                          <a:latin typeface="Calibri"/>
                        </a:rPr>
                        <a:t>0.53 / 1.33 ms</a:t>
                      </a:r>
                    </a:p>
                  </a:txBody>
                  <a:tcPr anchor="ctr" marL="54864" marR="54864" marT="27432" marB="27432">
                    <a:solidFill>
                      <a:srgbClr val="FFFFFF"/>
                    </a:solidFill>
                  </a:tcPr>
                </a:tc>
                <a:tc>
                  <a:txBody>
                    <a:bodyPr/>
                    <a:lstStyle/>
                    <a:p>
                      <a:pPr algn="r"/>
                      <a:r>
                        <a:rPr sz="980" b="0">
                          <a:solidFill>
                            <a:srgbClr val="1F2937"/>
                          </a:solidFill>
                          <a:latin typeface="Calibri"/>
                        </a:rPr>
                        <a:t>0.65 / 13.74 ms</a:t>
                      </a:r>
                    </a:p>
                  </a:txBody>
                  <a:tcPr anchor="ctr" marL="54864" marR="54864" marT="27432" marB="27432">
                    <a:solidFill>
                      <a:srgbClr val="FFFFFF"/>
                    </a:solidFill>
                  </a:tcPr>
                </a:tc>
                <a:tc>
                  <a:txBody>
                    <a:bodyPr/>
                    <a:lstStyle/>
                    <a:p>
                      <a:pPr algn="l"/>
                      <a:r>
                        <a:rPr sz="980" b="0">
                          <a:solidFill>
                            <a:srgbClr val="1F2937"/>
                          </a:solidFill>
                          <a:latin typeface="Calibri"/>
                        </a:rPr>
                        <a:t>p95 −936.2% (+10.4×)</a:t>
                      </a:r>
                    </a:p>
                  </a:txBody>
                  <a:tcPr anchor="ctr" marL="54864" marR="54864" marT="27432" marB="27432">
                    <a:solidFill>
                      <a:srgbClr val="FFFFFF"/>
                    </a:solidFill>
                  </a:tcPr>
                </a:tc>
                <a:tc>
                  <a:txBody>
                    <a:bodyPr/>
                    <a:lstStyle/>
                    <a:p>
                      <a:pPr algn="r"/>
                      <a:r>
                        <a:rPr sz="980" b="0">
                          <a:solidFill>
                            <a:srgbClr val="1F2937"/>
                          </a:solidFill>
                          <a:latin typeface="Calibri"/>
                        </a:rPr>
                        <a:t>0.54 / 1.33 ms</a:t>
                      </a:r>
                    </a:p>
                  </a:txBody>
                  <a:tcPr anchor="ctr" marL="54864" marR="54864" marT="27432" marB="27432">
                    <a:solidFill>
                      <a:srgbClr val="FFFFFF"/>
                    </a:solidFill>
                  </a:tcPr>
                </a:tc>
                <a:tc>
                  <a:txBody>
                    <a:bodyPr/>
                    <a:lstStyle/>
                    <a:p>
                      <a:pPr algn="r"/>
                      <a:r>
                        <a:rPr sz="980" b="0">
                          <a:solidFill>
                            <a:srgbClr val="1F2937"/>
                          </a:solidFill>
                          <a:latin typeface="Calibri"/>
                        </a:rPr>
                        <a:t>0.59 / 29.11 ± 45.62</a:t>
                      </a:r>
                    </a:p>
                  </a:txBody>
                  <a:tcPr anchor="ctr" marL="54864" marR="54864" marT="27432" marB="27432">
                    <a:solidFill>
                      <a:srgbClr val="FFFFFF"/>
                    </a:solidFill>
                  </a:tcPr>
                </a:tc>
                <a:tc>
                  <a:txBody>
                    <a:bodyPr/>
                    <a:lstStyle/>
                    <a:p>
                      <a:pPr algn="l"/>
                      <a:r>
                        <a:rPr sz="980" b="0">
                          <a:solidFill>
                            <a:srgbClr val="1F2937"/>
                          </a:solidFill>
                          <a:latin typeface="Calibri"/>
                        </a:rPr>
                        <a:t>p95 −2095% (high SD)</a:t>
                      </a:r>
                    </a:p>
                  </a:txBody>
                  <a:tcPr anchor="ctr" marL="54864" marR="54864" marT="27432" marB="27432">
                    <a:solidFill>
                      <a:srgbClr val="FFFFFF"/>
                    </a:solidFill>
                  </a:tcPr>
                </a:tc>
              </a:tr>
              <a:tr h="146304">
                <a:tc>
                  <a:txBody>
                    <a:bodyPr/>
                    <a:lstStyle/>
                    <a:p>
                      <a:pPr algn="l"/>
                      <a:r>
                        <a:rPr sz="980" b="1">
                          <a:solidFill>
                            <a:srgbClr val="1F2937"/>
                          </a:solidFill>
                          <a:latin typeface="Calibri"/>
                        </a:rPr>
                        <a:t>p99 Tail Latency (admitted 2xx)</a:t>
                      </a:r>
                    </a:p>
                  </a:txBody>
                  <a:tcPr anchor="ctr" marL="54864" marR="54864" marT="27432" marB="27432">
                    <a:solidFill>
                      <a:srgbClr val="F3F6F9"/>
                    </a:solidFill>
                  </a:tcPr>
                </a:tc>
                <a:tc>
                  <a:txBody>
                    <a:bodyPr/>
                    <a:lstStyle/>
                    <a:p>
                      <a:pPr algn="r"/>
                      <a:r>
                        <a:rPr sz="980" b="0">
                          <a:solidFill>
                            <a:srgbClr val="1F2937"/>
                          </a:solidFill>
                          <a:latin typeface="Calibri"/>
                        </a:rPr>
                        <a:t>434.75 ± 9.41 ms</a:t>
                      </a:r>
                    </a:p>
                  </a:txBody>
                  <a:tcPr anchor="ctr" marL="54864" marR="54864" marT="27432" marB="27432">
                    <a:solidFill>
                      <a:srgbClr val="F3F6F9"/>
                    </a:solidFill>
                  </a:tcPr>
                </a:tc>
                <a:tc>
                  <a:txBody>
                    <a:bodyPr/>
                    <a:lstStyle/>
                    <a:p>
                      <a:pPr algn="r"/>
                      <a:r>
                        <a:rPr sz="980" b="0">
                          <a:solidFill>
                            <a:srgbClr val="1F2937"/>
                          </a:solidFill>
                          <a:latin typeface="Calibri"/>
                        </a:rPr>
                        <a:t>393.73 ± 21.75 ms</a:t>
                      </a:r>
                    </a:p>
                  </a:txBody>
                  <a:tcPr anchor="ctr" marL="54864" marR="54864" marT="27432" marB="27432">
                    <a:solidFill>
                      <a:srgbClr val="F3F6F9"/>
                    </a:solidFill>
                  </a:tcPr>
                </a:tc>
                <a:tc>
                  <a:txBody>
                    <a:bodyPr/>
                    <a:lstStyle/>
                    <a:p>
                      <a:pPr algn="l"/>
                      <a:r>
                        <a:rPr sz="980" b="1">
                          <a:solidFill>
                            <a:srgbClr val="C8453B"/>
                          </a:solidFill>
                          <a:latin typeface="Calibri"/>
                        </a:rPr>
                        <a:t>+9.4% (−9.4% Δ)</a:t>
                      </a:r>
                    </a:p>
                  </a:txBody>
                  <a:tcPr anchor="ctr" marL="54864" marR="54864" marT="27432" marB="27432">
                    <a:solidFill>
                      <a:srgbClr val="FBE4E1"/>
                    </a:solidFill>
                  </a:tcPr>
                </a:tc>
                <a:tc>
                  <a:txBody>
                    <a:bodyPr/>
                    <a:lstStyle/>
                    <a:p>
                      <a:pPr algn="r"/>
                      <a:r>
                        <a:rPr sz="980" b="0">
                          <a:solidFill>
                            <a:srgbClr val="1F2937"/>
                          </a:solidFill>
                          <a:latin typeface="Calibri"/>
                        </a:rPr>
                        <a:t>444.17 ± 7.13 ms</a:t>
                      </a:r>
                    </a:p>
                  </a:txBody>
                  <a:tcPr anchor="ctr" marL="54864" marR="54864" marT="27432" marB="27432">
                    <a:solidFill>
                      <a:srgbClr val="F3F6F9"/>
                    </a:solidFill>
                  </a:tcPr>
                </a:tc>
                <a:tc>
                  <a:txBody>
                    <a:bodyPr/>
                    <a:lstStyle/>
                    <a:p>
                      <a:pPr algn="r"/>
                      <a:r>
                        <a:rPr sz="980" b="1">
                          <a:solidFill>
                            <a:srgbClr val="2E8B57"/>
                          </a:solidFill>
                          <a:latin typeface="Calibri"/>
                        </a:rPr>
                        <a:t>175.15 ± 47.31 ms</a:t>
                      </a:r>
                    </a:p>
                  </a:txBody>
                  <a:tcPr anchor="ctr" marL="54864" marR="54864" marT="27432" marB="27432">
                    <a:solidFill>
                      <a:srgbClr val="E3F3EA"/>
                    </a:solidFill>
                  </a:tcPr>
                </a:tc>
                <a:tc>
                  <a:txBody>
                    <a:bodyPr/>
                    <a:lstStyle/>
                    <a:p>
                      <a:pPr algn="l"/>
                      <a:r>
                        <a:rPr sz="980" b="1">
                          <a:solidFill>
                            <a:srgbClr val="2E8B57"/>
                          </a:solidFill>
                          <a:latin typeface="Calibri"/>
                        </a:rPr>
                        <a:t>+60.6% (−60.6% Δ)</a:t>
                      </a:r>
                    </a:p>
                  </a:txBody>
                  <a:tcPr anchor="ctr" marL="54864" marR="54864" marT="27432" marB="27432">
                    <a:solidFill>
                      <a:srgbClr val="E3F3EA"/>
                    </a:solidFill>
                  </a:tcPr>
                </a:tc>
              </a:tr>
              <a:tr h="146304">
                <a:tc>
                  <a:txBody>
                    <a:bodyPr/>
                    <a:lstStyle/>
                    <a:p>
                      <a:pPr algn="l"/>
                      <a:r>
                        <a:rPr sz="980" b="1">
                          <a:solidFill>
                            <a:srgbClr val="1F2937"/>
                          </a:solidFill>
                          <a:latin typeface="Calibri"/>
                        </a:rPr>
                        <a:t>Attempted Reqs / Trial</a:t>
                      </a:r>
                    </a:p>
                  </a:txBody>
                  <a:tcPr anchor="ctr" marL="54864" marR="54864" marT="27432" marB="27432">
                    <a:solidFill>
                      <a:srgbClr val="FFFFFF"/>
                    </a:solidFill>
                  </a:tcPr>
                </a:tc>
                <a:tc>
                  <a:txBody>
                    <a:bodyPr/>
                    <a:lstStyle/>
                    <a:p>
                      <a:pPr algn="r"/>
                      <a:r>
                        <a:rPr sz="980" b="0">
                          <a:solidFill>
                            <a:srgbClr val="1F2937"/>
                          </a:solidFill>
                          <a:latin typeface="Calibri"/>
                        </a:rPr>
                        <a:t>69,223.0 ± 1,506.2</a:t>
                      </a:r>
                    </a:p>
                  </a:txBody>
                  <a:tcPr anchor="ctr" marL="54864" marR="54864" marT="27432" marB="27432">
                    <a:solidFill>
                      <a:srgbClr val="FFFFFF"/>
                    </a:solidFill>
                  </a:tcPr>
                </a:tc>
                <a:tc>
                  <a:txBody>
                    <a:bodyPr/>
                    <a:lstStyle/>
                    <a:p>
                      <a:pPr algn="r"/>
                      <a:r>
                        <a:rPr sz="980" b="0">
                          <a:solidFill>
                            <a:srgbClr val="1F2937"/>
                          </a:solidFill>
                          <a:latin typeface="Calibri"/>
                        </a:rPr>
                        <a:t>30,079.4 ± 532.4</a:t>
                      </a:r>
                    </a:p>
                  </a:txBody>
                  <a:tcPr anchor="ctr" marL="54864" marR="54864" marT="27432" marB="27432">
                    <a:solidFill>
                      <a:srgbClr val="FFFFFF"/>
                    </a:solidFill>
                  </a:tcPr>
                </a:tc>
                <a:tc>
                  <a:txBody>
                    <a:bodyPr/>
                    <a:lstStyle/>
                    <a:p>
                      <a:pPr algn="l"/>
                      <a:r>
                        <a:rPr sz="980" b="0">
                          <a:solidFill>
                            <a:srgbClr val="1F2937"/>
                          </a:solidFill>
                          <a:latin typeface="Calibri"/>
                        </a:rPr>
                        <a:t>Reconnect churn</a:t>
                      </a:r>
                    </a:p>
                  </a:txBody>
                  <a:tcPr anchor="ctr" marL="54864" marR="54864" marT="27432" marB="27432">
                    <a:solidFill>
                      <a:srgbClr val="FFFFFF"/>
                    </a:solidFill>
                  </a:tcPr>
                </a:tc>
                <a:tc>
                  <a:txBody>
                    <a:bodyPr/>
                    <a:lstStyle/>
                    <a:p>
                      <a:pPr algn="r"/>
                      <a:r>
                        <a:rPr sz="980" b="0">
                          <a:solidFill>
                            <a:srgbClr val="1F2937"/>
                          </a:solidFill>
                          <a:latin typeface="Calibri"/>
                        </a:rPr>
                        <a:t>68,056.8 ± 1,160.5</a:t>
                      </a:r>
                    </a:p>
                  </a:txBody>
                  <a:tcPr anchor="ctr" marL="54864" marR="54864" marT="27432" marB="27432">
                    <a:solidFill>
                      <a:srgbClr val="FFFFFF"/>
                    </a:solidFill>
                  </a:tcPr>
                </a:tc>
                <a:tc>
                  <a:txBody>
                    <a:bodyPr/>
                    <a:lstStyle/>
                    <a:p>
                      <a:pPr algn="r"/>
                      <a:r>
                        <a:rPr sz="980" b="0">
                          <a:solidFill>
                            <a:srgbClr val="1F2937"/>
                          </a:solidFill>
                          <a:latin typeface="Calibri"/>
                        </a:rPr>
                        <a:t>16,042.8 ± 5,284.6</a:t>
                      </a:r>
                    </a:p>
                  </a:txBody>
                  <a:tcPr anchor="ctr" marL="54864" marR="54864" marT="27432" marB="27432">
                    <a:solidFill>
                      <a:srgbClr val="FFFFFF"/>
                    </a:solidFill>
                  </a:tcPr>
                </a:tc>
                <a:tc>
                  <a:txBody>
                    <a:bodyPr/>
                    <a:lstStyle/>
                    <a:p>
                      <a:pPr algn="l"/>
                      <a:r>
                        <a:rPr sz="980" b="0">
                          <a:solidFill>
                            <a:srgbClr val="1F2937"/>
                          </a:solidFill>
                          <a:latin typeface="Calibri"/>
                        </a:rPr>
                        <a:t>Paused during sleep</a:t>
                      </a:r>
                    </a:p>
                  </a:txBody>
                  <a:tcPr anchor="ctr" marL="54864" marR="54864" marT="27432" marB="27432">
                    <a:solidFill>
                      <a:srgbClr val="FFFFFF"/>
                    </a:solidFill>
                  </a:tcPr>
                </a:tc>
              </a:tr>
              <a:tr h="146304">
                <a:tc>
                  <a:txBody>
                    <a:bodyPr/>
                    <a:lstStyle/>
                    <a:p>
                      <a:pPr algn="l"/>
                      <a:r>
                        <a:rPr sz="980" b="1">
                          <a:solidFill>
                            <a:srgbClr val="1F2937"/>
                          </a:solidFill>
                          <a:latin typeface="Calibri"/>
                        </a:rPr>
                        <a:t>HTTP 503s / Trial &amp; Rej. Rate</a:t>
                      </a:r>
                    </a:p>
                  </a:txBody>
                  <a:tcPr anchor="ctr" marL="54864" marR="54864" marT="27432" marB="27432">
                    <a:solidFill>
                      <a:srgbClr val="F3F6F9"/>
                    </a:solidFill>
                  </a:tcPr>
                </a:tc>
                <a:tc>
                  <a:txBody>
                    <a:bodyPr/>
                    <a:lstStyle/>
                    <a:p>
                      <a:pPr algn="r"/>
                      <a:r>
                        <a:rPr sz="980" b="0">
                          <a:solidFill>
                            <a:srgbClr val="1F2937"/>
                          </a:solidFill>
                          <a:latin typeface="Calibri"/>
                        </a:rPr>
                        <a:t>0.0 (0.00%)</a:t>
                      </a:r>
                    </a:p>
                  </a:txBody>
                  <a:tcPr anchor="ctr" marL="54864" marR="54864" marT="27432" marB="27432">
                    <a:solidFill>
                      <a:srgbClr val="F3F6F9"/>
                    </a:solidFill>
                  </a:tcPr>
                </a:tc>
                <a:tc>
                  <a:txBody>
                    <a:bodyPr/>
                    <a:lstStyle/>
                    <a:p>
                      <a:pPr algn="r"/>
                      <a:r>
                        <a:rPr sz="980" b="1">
                          <a:solidFill>
                            <a:srgbClr val="C8453B"/>
                          </a:solidFill>
                          <a:latin typeface="Calibri"/>
                        </a:rPr>
                        <a:t>17,126.8 ± 171.3</a:t>
                      </a:r>
                    </a:p>
                  </a:txBody>
                  <a:tcPr anchor="ctr" marL="54864" marR="54864" marT="27432" marB="27432">
                    <a:solidFill>
                      <a:srgbClr val="FBE4E1"/>
                    </a:solidFill>
                  </a:tcPr>
                </a:tc>
                <a:tc>
                  <a:txBody>
                    <a:bodyPr/>
                    <a:lstStyle/>
                    <a:p>
                      <a:pPr algn="l"/>
                      <a:r>
                        <a:rPr sz="980" b="1">
                          <a:solidFill>
                            <a:srgbClr val="C8453B"/>
                          </a:solidFill>
                          <a:latin typeface="Calibri"/>
                        </a:rPr>
                        <a:t>56.94% (56.95% avg*)</a:t>
                      </a:r>
                    </a:p>
                  </a:txBody>
                  <a:tcPr anchor="ctr" marL="54864" marR="54864" marT="27432" marB="27432">
                    <a:solidFill>
                      <a:srgbClr val="FBE4E1"/>
                    </a:solidFill>
                  </a:tcPr>
                </a:tc>
                <a:tc>
                  <a:txBody>
                    <a:bodyPr/>
                    <a:lstStyle/>
                    <a:p>
                      <a:pPr algn="r"/>
                      <a:r>
                        <a:rPr sz="980" b="0">
                          <a:solidFill>
                            <a:srgbClr val="1F2937"/>
                          </a:solidFill>
                          <a:latin typeface="Calibri"/>
                        </a:rPr>
                        <a:t>0.0 (0.00%)</a:t>
                      </a:r>
                    </a:p>
                  </a:txBody>
                  <a:tcPr anchor="ctr" marL="54864" marR="54864" marT="27432" marB="27432">
                    <a:solidFill>
                      <a:srgbClr val="F3F6F9"/>
                    </a:solidFill>
                  </a:tcPr>
                </a:tc>
                <a:tc>
                  <a:txBody>
                    <a:bodyPr/>
                    <a:lstStyle/>
                    <a:p>
                      <a:pPr algn="r"/>
                      <a:r>
                        <a:rPr sz="980" b="1">
                          <a:solidFill>
                            <a:srgbClr val="2E8B57"/>
                          </a:solidFill>
                          <a:latin typeface="Calibri"/>
                        </a:rPr>
                        <a:t>128.0 ± 0.0 (exact!)</a:t>
                      </a:r>
                    </a:p>
                  </a:txBody>
                  <a:tcPr anchor="ctr" marL="54864" marR="54864" marT="27432" marB="27432">
                    <a:solidFill>
                      <a:srgbClr val="E3F3EA"/>
                    </a:solidFill>
                  </a:tcPr>
                </a:tc>
                <a:tc>
                  <a:txBody>
                    <a:bodyPr/>
                    <a:lstStyle/>
                    <a:p>
                      <a:pPr algn="l"/>
                      <a:r>
                        <a:rPr sz="980" b="1">
                          <a:solidFill>
                            <a:srgbClr val="2E8B57"/>
                          </a:solidFill>
                          <a:latin typeface="Calibri"/>
                        </a:rPr>
                        <a:t>0.80% (0.86% avg*)</a:t>
                      </a:r>
                    </a:p>
                  </a:txBody>
                  <a:tcPr anchor="ctr" marL="54864" marR="54864" marT="27432" marB="27432">
                    <a:solidFill>
                      <a:srgbClr val="E3F3EA"/>
                    </a:solidFill>
                  </a:tcPr>
                </a:tc>
              </a:tr>
              <a:tr h="146304">
                <a:tc>
                  <a:txBody>
                    <a:bodyPr/>
                    <a:lstStyle/>
                    <a:p>
                      <a:pPr algn="l"/>
                      <a:r>
                        <a:rPr sz="980" b="1">
                          <a:solidFill>
                            <a:srgbClr val="1F2937"/>
                          </a:solidFill>
                          <a:latin typeface="Calibri"/>
                        </a:rPr>
                        <a:t>Client Back-Off / Evaluation</a:t>
                      </a:r>
                    </a:p>
                  </a:txBody>
                  <a:tcPr anchor="ctr" marL="54864" marR="54864" marT="27432" marB="27432">
                    <a:solidFill>
                      <a:srgbClr val="FFFFFF"/>
                    </a:solidFill>
                  </a:tcPr>
                </a:tc>
                <a:tc>
                  <a:txBody>
                    <a:bodyPr/>
                    <a:lstStyle/>
                    <a:p>
                      <a:pPr algn="r"/>
                      <a:r>
                        <a:rPr sz="980" b="0">
                          <a:solidFill>
                            <a:srgbClr val="1F2937"/>
                          </a:solidFill>
                          <a:latin typeface="Calibri"/>
                        </a:rPr>
                        <a:t>n/a</a:t>
                      </a:r>
                    </a:p>
                  </a:txBody>
                  <a:tcPr anchor="ctr" marL="54864" marR="54864" marT="27432" marB="27432">
                    <a:solidFill>
                      <a:srgbClr val="FFFFFF"/>
                    </a:solidFill>
                  </a:tcPr>
                </a:tc>
                <a:tc>
                  <a:txBody>
                    <a:bodyPr/>
                    <a:lstStyle/>
                    <a:p>
                      <a:pPr algn="r"/>
                      <a:r>
                        <a:rPr sz="980" b="0">
                          <a:solidFill>
                            <a:srgbClr val="1F2937"/>
                          </a:solidFill>
                          <a:latin typeface="Calibri"/>
                        </a:rPr>
                        <a:t>n/a (ignores Retry-After)</a:t>
                      </a:r>
                    </a:p>
                  </a:txBody>
                  <a:tcPr anchor="ctr" marL="54864" marR="54864" marT="27432" marB="27432">
                    <a:solidFill>
                      <a:srgbClr val="FFFFFF"/>
                    </a:solidFill>
                  </a:tcPr>
                </a:tc>
                <a:tc>
                  <a:txBody>
                    <a:bodyPr/>
                    <a:lstStyle/>
                    <a:p>
                      <a:pPr algn="l"/>
                      <a:r>
                        <a:rPr sz="980" b="1">
                          <a:solidFill>
                            <a:srgbClr val="C8453B"/>
                          </a:solidFill>
                          <a:latin typeface="Calibri"/>
                        </a:rPr>
                        <a:t>Unsuccessful</a:t>
                      </a:r>
                    </a:p>
                  </a:txBody>
                  <a:tcPr anchor="ctr" marL="54864" marR="54864" marT="27432" marB="27432">
                    <a:solidFill>
                      <a:srgbClr val="FBE4E1"/>
                    </a:solidFill>
                  </a:tcPr>
                </a:tc>
                <a:tc>
                  <a:txBody>
                    <a:bodyPr/>
                    <a:lstStyle/>
                    <a:p>
                      <a:pPr algn="r"/>
                      <a:r>
                        <a:rPr sz="980" b="0">
                          <a:solidFill>
                            <a:srgbClr val="1F2937"/>
                          </a:solidFill>
                          <a:latin typeface="Calibri"/>
                        </a:rPr>
                        <a:t>0.00 ± 0.00 s</a:t>
                      </a:r>
                    </a:p>
                  </a:txBody>
                  <a:tcPr anchor="ctr" marL="54864" marR="54864" marT="27432" marB="27432">
                    <a:solidFill>
                      <a:srgbClr val="FFFFFF"/>
                    </a:solidFill>
                  </a:tcPr>
                </a:tc>
                <a:tc>
                  <a:txBody>
                    <a:bodyPr/>
                    <a:lstStyle/>
                    <a:p>
                      <a:pPr algn="r"/>
                      <a:r>
                        <a:rPr sz="980" b="1">
                          <a:solidFill>
                            <a:srgbClr val="9A5B00"/>
                          </a:solidFill>
                          <a:latin typeface="Calibri"/>
                        </a:rPr>
                        <a:t>511.91 ± 1.65 s / trial</a:t>
                      </a:r>
                    </a:p>
                  </a:txBody>
                  <a:tcPr anchor="ctr" marL="54864" marR="54864" marT="27432" marB="27432">
                    <a:solidFill>
                      <a:srgbClr val="FCF1D9"/>
                    </a:solidFill>
                  </a:tcPr>
                </a:tc>
                <a:tc>
                  <a:txBody>
                    <a:bodyPr/>
                    <a:lstStyle/>
                    <a:p>
                      <a:pPr algn="l"/>
                      <a:r>
                        <a:rPr sz="980" b="1">
                          <a:solidFill>
                            <a:srgbClr val="9A5B00"/>
                          </a:solidFill>
                          <a:latin typeface="Calibri"/>
                        </a:rPr>
                        <a:t>Conditional Trade-Off</a:t>
                      </a:r>
                    </a:p>
                  </a:txBody>
                  <a:tcPr anchor="ctr" marL="54864" marR="54864" marT="27432" marB="27432">
                    <a:solidFill>
                      <a:srgbClr val="FCF1D9"/>
                    </a:solidFill>
                  </a:tcPr>
                </a:tc>
              </a:tr>
            </a:tbl>
          </a:graphicData>
        </a:graphic>
      </p:graphicFrame>
      <p:sp>
        <p:nvSpPr>
          <p:cNvPr id="7" name="TextBox 6"/>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Dataset: historical_v4_20261019; Report Tables 5.3 &amp; 5.4 (pp. 28–29). *56.94%/0.80% = ratio of means; 56.95%/0.86% = mean of trial ratios</a:t>
            </a:r>
          </a:p>
        </p:txBody>
      </p:sp>
      <p:sp>
        <p:nvSpPr>
          <p:cNvPr id="8" name="TextBox 7"/>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8 · RESULTS (BASELINE VS PROPOSED — SEPARATE ENVIRONMENT)</a:t>
            </a:r>
          </a:p>
          <a:p>
            <a:pPr algn="l">
              <a:spcAft>
                <a:spcPts val="300"/>
              </a:spcAft>
            </a:pPr>
            <a:r>
              <a:rPr sz="2700" b="1">
                <a:solidFill>
                  <a:srgbClr val="0B1F3A"/>
                </a:solidFill>
                <a:latin typeface="Cambria"/>
              </a:rPr>
              <a:t>Separate Verification-Host Rerun Results (21 Oct 2026)</a:t>
            </a:r>
          </a:p>
          <a:p>
            <a:pPr algn="l"/>
            <a:r>
              <a:rPr sz="1500" b="0">
                <a:solidFill>
                  <a:srgbClr val="5B6676"/>
                </a:solidFill>
                <a:latin typeface="Calibri"/>
              </a:rPr>
              <a:t>Independent 80-trial paired replication on virtualized AMD EPYC 9V74 host, Port 18080 (Report Appendix B.7, Tables B.7–B.8)</a:t>
            </a:r>
          </a:p>
        </p:txBody>
      </p:sp>
      <p:graphicFrame>
        <p:nvGraphicFramePr>
          <p:cNvPr id="4" name="Chart 3"/>
          <p:cNvGraphicFramePr>
            <a:graphicFrameLocks noGrp="1"/>
          </p:cNvGraphicFramePr>
          <p:nvPr/>
        </p:nvGraphicFramePr>
        <p:xfrm>
          <a:off x="594360" y="1965960"/>
          <a:ext cx="5349240" cy="214884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217920" y="1965960"/>
          <a:ext cx="5376672" cy="214884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94360" y="4187952"/>
          <a:ext cx="11000232" cy="1316736"/>
        </p:xfrm>
        <a:graphic>
          <a:graphicData uri="http://schemas.openxmlformats.org/drawingml/2006/table">
            <a:tbl>
              <a:tblPr firstRow="1" bandRow="1">
                <a:tableStyleId>{5C22544A-7EE6-4342-B048-85BDC9FD1C3A}</a:tableStyleId>
              </a:tblPr>
              <a:tblGrid>
                <a:gridCol w="1691640"/>
                <a:gridCol w="365760"/>
                <a:gridCol w="1417320"/>
                <a:gridCol w="1417320"/>
                <a:gridCol w="658368"/>
                <a:gridCol w="1234440"/>
                <a:gridCol w="1234440"/>
                <a:gridCol w="713232"/>
                <a:gridCol w="2267712"/>
              </a:tblGrid>
              <a:tr h="146304">
                <a:tc>
                  <a:txBody>
                    <a:bodyPr/>
                    <a:lstStyle/>
                    <a:p>
                      <a:pPr algn="l"/>
                      <a:r>
                        <a:rPr sz="1000" b="1">
                          <a:solidFill>
                            <a:srgbClr val="FFFFFF"/>
                          </a:solidFill>
                          <a:latin typeface="Calibri"/>
                        </a:rPr>
                        <a:t>Mode (fresh_rerun_20261021)</a:t>
                      </a:r>
                    </a:p>
                  </a:txBody>
                  <a:tcPr anchor="ctr" marL="47548" marR="47548" marT="21945" marB="21945">
                    <a:solidFill>
                      <a:srgbClr val="0B1F3A"/>
                    </a:solidFill>
                  </a:tcPr>
                </a:tc>
                <a:tc>
                  <a:txBody>
                    <a:bodyPr/>
                    <a:lstStyle/>
                    <a:p>
                      <a:pPr algn="r"/>
                      <a:r>
                        <a:rPr sz="1000" b="1">
                          <a:solidFill>
                            <a:srgbClr val="FFFFFF"/>
                          </a:solidFill>
                          <a:latin typeface="Calibri"/>
                        </a:rPr>
                        <a:t>C</a:t>
                      </a:r>
                    </a:p>
                  </a:txBody>
                  <a:tcPr anchor="ctr" marL="47548" marR="47548" marT="21945" marB="21945">
                    <a:solidFill>
                      <a:srgbClr val="0B1F3A"/>
                    </a:solidFill>
                  </a:tcPr>
                </a:tc>
                <a:tc>
                  <a:txBody>
                    <a:bodyPr/>
                    <a:lstStyle/>
                    <a:p>
                      <a:pPr algn="r"/>
                      <a:r>
                        <a:rPr sz="1000" b="1">
                          <a:solidFill>
                            <a:srgbClr val="FFFFFF"/>
                          </a:solidFill>
                          <a:latin typeface="Calibri"/>
                        </a:rPr>
                        <a:t>Baseline 2xx RPS</a:t>
                      </a:r>
                    </a:p>
                  </a:txBody>
                  <a:tcPr anchor="ctr" marL="47548" marR="47548" marT="21945" marB="21945">
                    <a:solidFill>
                      <a:srgbClr val="0B1F3A"/>
                    </a:solidFill>
                  </a:tcPr>
                </a:tc>
                <a:tc>
                  <a:txBody>
                    <a:bodyPr/>
                    <a:lstStyle/>
                    <a:p>
                      <a:pPr algn="r"/>
                      <a:r>
                        <a:rPr sz="1000" b="1">
                          <a:solidFill>
                            <a:srgbClr val="FFFFFF"/>
                          </a:solidFill>
                          <a:latin typeface="Calibri"/>
                        </a:rPr>
                        <a:t>QLAAC 2xx RPS</a:t>
                      </a:r>
                    </a:p>
                  </a:txBody>
                  <a:tcPr anchor="ctr" marL="47548" marR="47548" marT="21945" marB="21945">
                    <a:solidFill>
                      <a:srgbClr val="0B1F3A"/>
                    </a:solidFill>
                  </a:tcPr>
                </a:tc>
                <a:tc>
                  <a:txBody>
                    <a:bodyPr/>
                    <a:lstStyle/>
                    <a:p>
                      <a:pPr algn="r"/>
                      <a:r>
                        <a:rPr sz="1000" b="1">
                          <a:solidFill>
                            <a:srgbClr val="FFFFFF"/>
                          </a:solidFill>
                          <a:latin typeface="Calibri"/>
                        </a:rPr>
                        <a:t>Δ RPS</a:t>
                      </a:r>
                    </a:p>
                  </a:txBody>
                  <a:tcPr anchor="ctr" marL="47548" marR="47548" marT="21945" marB="21945">
                    <a:solidFill>
                      <a:srgbClr val="0B1F3A"/>
                    </a:solidFill>
                  </a:tcPr>
                </a:tc>
                <a:tc>
                  <a:txBody>
                    <a:bodyPr/>
                    <a:lstStyle/>
                    <a:p>
                      <a:pPr algn="r"/>
                      <a:r>
                        <a:rPr sz="1000" b="1">
                          <a:solidFill>
                            <a:srgbClr val="FFFFFF"/>
                          </a:solidFill>
                          <a:latin typeface="Calibri"/>
                        </a:rPr>
                        <a:t>Baseline p95 / p99 (ms)</a:t>
                      </a:r>
                    </a:p>
                  </a:txBody>
                  <a:tcPr anchor="ctr" marL="47548" marR="47548" marT="21945" marB="21945">
                    <a:solidFill>
                      <a:srgbClr val="0B1F3A"/>
                    </a:solidFill>
                  </a:tcPr>
                </a:tc>
                <a:tc>
                  <a:txBody>
                    <a:bodyPr/>
                    <a:lstStyle/>
                    <a:p>
                      <a:pPr algn="r"/>
                      <a:r>
                        <a:rPr sz="1000" b="1">
                          <a:solidFill>
                            <a:srgbClr val="FFFFFF"/>
                          </a:solidFill>
                          <a:latin typeface="Calibri"/>
                        </a:rPr>
                        <a:t>QLAAC p95 / p99 (ms)</a:t>
                      </a:r>
                    </a:p>
                  </a:txBody>
                  <a:tcPr anchor="ctr" marL="47548" marR="47548" marT="21945" marB="21945">
                    <a:solidFill>
                      <a:srgbClr val="0B1F3A"/>
                    </a:solidFill>
                  </a:tcPr>
                </a:tc>
                <a:tc>
                  <a:txBody>
                    <a:bodyPr/>
                    <a:lstStyle/>
                    <a:p>
                      <a:pPr algn="r"/>
                      <a:r>
                        <a:rPr sz="1000" b="1">
                          <a:solidFill>
                            <a:srgbClr val="FFFFFF"/>
                          </a:solidFill>
                          <a:latin typeface="Calibri"/>
                        </a:rPr>
                        <a:t>p99 Red%</a:t>
                      </a:r>
                    </a:p>
                  </a:txBody>
                  <a:tcPr anchor="ctr" marL="47548" marR="47548" marT="21945" marB="21945">
                    <a:solidFill>
                      <a:srgbClr val="0B1F3A"/>
                    </a:solidFill>
                  </a:tcPr>
                </a:tc>
                <a:tc>
                  <a:txBody>
                    <a:bodyPr/>
                    <a:lstStyle/>
                    <a:p>
                      <a:pPr algn="l"/>
                      <a:r>
                        <a:rPr sz="1000" b="1">
                          <a:solidFill>
                            <a:srgbClr val="FFFFFF"/>
                          </a:solidFill>
                          <a:latin typeface="Calibri"/>
                        </a:rPr>
                        <a:t>503 Total (5 tr) / Backoff</a:t>
                      </a:r>
                    </a:p>
                  </a:txBody>
                  <a:tcPr anchor="ctr" marL="47548" marR="47548" marT="21945" marB="21945">
                    <a:solidFill>
                      <a:srgbClr val="0B1F3A"/>
                    </a:solidFill>
                  </a:tcPr>
                </a:tc>
              </a:tr>
              <a:tr h="146304">
                <a:tc>
                  <a:txBody>
                    <a:bodyPr/>
                    <a:lstStyle/>
                    <a:p>
                      <a:pPr algn="l"/>
                      <a:r>
                        <a:rPr sz="930" b="1">
                          <a:solidFill>
                            <a:srgbClr val="1F2937"/>
                          </a:solidFill>
                          <a:latin typeface="Calibri"/>
                        </a:rPr>
                        <a:t>Standard (Port 18080)</a:t>
                      </a:r>
                    </a:p>
                  </a:txBody>
                  <a:tcPr anchor="ctr" marL="47548" marR="47548" marT="21945" marB="21945">
                    <a:solidFill>
                      <a:srgbClr val="F3F6F9"/>
                    </a:solidFill>
                  </a:tcPr>
                </a:tc>
                <a:tc>
                  <a:txBody>
                    <a:bodyPr/>
                    <a:lstStyle/>
                    <a:p>
                      <a:pPr algn="r"/>
                      <a:r>
                        <a:rPr sz="930" b="0">
                          <a:solidFill>
                            <a:srgbClr val="1F2937"/>
                          </a:solidFill>
                          <a:latin typeface="Calibri"/>
                        </a:rPr>
                        <a:t>2</a:t>
                      </a:r>
                    </a:p>
                  </a:txBody>
                  <a:tcPr anchor="ctr" marL="47548" marR="47548" marT="21945" marB="21945">
                    <a:solidFill>
                      <a:srgbClr val="F3F6F9"/>
                    </a:solidFill>
                  </a:tcPr>
                </a:tc>
                <a:tc>
                  <a:txBody>
                    <a:bodyPr/>
                    <a:lstStyle/>
                    <a:p>
                      <a:pPr algn="r"/>
                      <a:r>
                        <a:rPr sz="930" b="0">
                          <a:solidFill>
                            <a:srgbClr val="1F2937"/>
                          </a:solidFill>
                          <a:latin typeface="Calibri"/>
                        </a:rPr>
                        <a:t>37,065.64 ± 1,233.08</a:t>
                      </a:r>
                    </a:p>
                  </a:txBody>
                  <a:tcPr anchor="ctr" marL="47548" marR="47548" marT="21945" marB="21945">
                    <a:solidFill>
                      <a:srgbClr val="F3F6F9"/>
                    </a:solidFill>
                  </a:tcPr>
                </a:tc>
                <a:tc>
                  <a:txBody>
                    <a:bodyPr/>
                    <a:lstStyle/>
                    <a:p>
                      <a:pPr algn="r"/>
                      <a:r>
                        <a:rPr sz="930" b="0">
                          <a:solidFill>
                            <a:srgbClr val="1F2937"/>
                          </a:solidFill>
                          <a:latin typeface="Calibri"/>
                        </a:rPr>
                        <a:t>36,254.12 ± 997.66</a:t>
                      </a:r>
                    </a:p>
                  </a:txBody>
                  <a:tcPr anchor="ctr" marL="47548" marR="47548" marT="21945" marB="21945">
                    <a:solidFill>
                      <a:srgbClr val="F3F6F9"/>
                    </a:solidFill>
                  </a:tcPr>
                </a:tc>
                <a:tc>
                  <a:txBody>
                    <a:bodyPr/>
                    <a:lstStyle/>
                    <a:p>
                      <a:pPr algn="r"/>
                      <a:r>
                        <a:rPr sz="930" b="0">
                          <a:solidFill>
                            <a:srgbClr val="1F2937"/>
                          </a:solidFill>
                          <a:latin typeface="Calibri"/>
                        </a:rPr>
                        <a:t>−2.2%</a:t>
                      </a:r>
                    </a:p>
                  </a:txBody>
                  <a:tcPr anchor="ctr" marL="47548" marR="47548" marT="21945" marB="21945">
                    <a:solidFill>
                      <a:srgbClr val="F3F6F9"/>
                    </a:solidFill>
                  </a:tcPr>
                </a:tc>
                <a:tc>
                  <a:txBody>
                    <a:bodyPr/>
                    <a:lstStyle/>
                    <a:p>
                      <a:pPr algn="r"/>
                      <a:r>
                        <a:rPr sz="930" b="0">
                          <a:solidFill>
                            <a:srgbClr val="1F2937"/>
                          </a:solidFill>
                          <a:latin typeface="Calibri"/>
                        </a:rPr>
                        <a:t>0.100 / 0.202</a:t>
                      </a:r>
                    </a:p>
                  </a:txBody>
                  <a:tcPr anchor="ctr" marL="47548" marR="47548" marT="21945" marB="21945">
                    <a:solidFill>
                      <a:srgbClr val="F3F6F9"/>
                    </a:solidFill>
                  </a:tcPr>
                </a:tc>
                <a:tc>
                  <a:txBody>
                    <a:bodyPr/>
                    <a:lstStyle/>
                    <a:p>
                      <a:pPr algn="r"/>
                      <a:r>
                        <a:rPr sz="930" b="0">
                          <a:solidFill>
                            <a:srgbClr val="1F2937"/>
                          </a:solidFill>
                          <a:latin typeface="Calibri"/>
                        </a:rPr>
                        <a:t>0.102 / 0.202</a:t>
                      </a:r>
                    </a:p>
                  </a:txBody>
                  <a:tcPr anchor="ctr" marL="47548" marR="47548" marT="21945" marB="21945">
                    <a:solidFill>
                      <a:srgbClr val="F3F6F9"/>
                    </a:solidFill>
                  </a:tcPr>
                </a:tc>
                <a:tc>
                  <a:txBody>
                    <a:bodyPr/>
                    <a:lstStyle/>
                    <a:p>
                      <a:pPr algn="r"/>
                      <a:r>
                        <a:rPr sz="930" b="0">
                          <a:solidFill>
                            <a:srgbClr val="1F2937"/>
                          </a:solidFill>
                          <a:latin typeface="Calibri"/>
                        </a:rPr>
                        <a:t>+0.0%</a:t>
                      </a:r>
                    </a:p>
                  </a:txBody>
                  <a:tcPr anchor="ctr" marL="47548" marR="47548" marT="21945" marB="21945">
                    <a:solidFill>
                      <a:srgbClr val="F3F6F9"/>
                    </a:solidFill>
                  </a:tcPr>
                </a:tc>
                <a:tc>
                  <a:txBody>
                    <a:bodyPr/>
                    <a:lstStyle/>
                    <a:p>
                      <a:pPr algn="l"/>
                      <a:r>
                        <a:rPr sz="930" b="0">
                          <a:solidFill>
                            <a:srgbClr val="1F2937"/>
                          </a:solidFill>
                          <a:latin typeface="Calibri"/>
                        </a:rPr>
                        <a:t>0 (0.00%)</a:t>
                      </a:r>
                    </a:p>
                  </a:txBody>
                  <a:tcPr anchor="ctr" marL="47548" marR="47548" marT="21945" marB="21945">
                    <a:solidFill>
                      <a:srgbClr val="F3F6F9"/>
                    </a:solidFill>
                  </a:tcPr>
                </a:tc>
              </a:tr>
              <a:tr h="146304">
                <a:tc>
                  <a:txBody>
                    <a:bodyPr/>
                    <a:lstStyle/>
                    <a:p>
                      <a:pPr algn="l"/>
                      <a:r>
                        <a:rPr sz="930" b="1">
                          <a:solidFill>
                            <a:srgbClr val="1F2937"/>
                          </a:solidFill>
                          <a:latin typeface="Calibri"/>
                        </a:rPr>
                        <a:t>Standard (Port 18080)</a:t>
                      </a:r>
                    </a:p>
                  </a:txBody>
                  <a:tcPr anchor="ctr" marL="47548" marR="47548" marT="21945" marB="21945">
                    <a:solidFill>
                      <a:srgbClr val="FFFFFF"/>
                    </a:solidFill>
                  </a:tcPr>
                </a:tc>
                <a:tc>
                  <a:txBody>
                    <a:bodyPr/>
                    <a:lstStyle/>
                    <a:p>
                      <a:pPr algn="r"/>
                      <a:r>
                        <a:rPr sz="930" b="0">
                          <a:solidFill>
                            <a:srgbClr val="1F2937"/>
                          </a:solidFill>
                          <a:latin typeface="Calibri"/>
                        </a:rPr>
                        <a:t>8</a:t>
                      </a:r>
                    </a:p>
                  </a:txBody>
                  <a:tcPr anchor="ctr" marL="47548" marR="47548" marT="21945" marB="21945">
                    <a:solidFill>
                      <a:srgbClr val="FFFFFF"/>
                    </a:solidFill>
                  </a:tcPr>
                </a:tc>
                <a:tc>
                  <a:txBody>
                    <a:bodyPr/>
                    <a:lstStyle/>
                    <a:p>
                      <a:pPr algn="r"/>
                      <a:r>
                        <a:rPr sz="930" b="0">
                          <a:solidFill>
                            <a:srgbClr val="1F2937"/>
                          </a:solidFill>
                          <a:latin typeface="Calibri"/>
                        </a:rPr>
                        <a:t>24,702.80 ± 2,083.31</a:t>
                      </a:r>
                    </a:p>
                  </a:txBody>
                  <a:tcPr anchor="ctr" marL="47548" marR="47548" marT="21945" marB="21945">
                    <a:solidFill>
                      <a:srgbClr val="FFFFFF"/>
                    </a:solidFill>
                  </a:tcPr>
                </a:tc>
                <a:tc>
                  <a:txBody>
                    <a:bodyPr/>
                    <a:lstStyle/>
                    <a:p>
                      <a:pPr algn="r"/>
                      <a:r>
                        <a:rPr sz="930" b="0">
                          <a:solidFill>
                            <a:srgbClr val="1F2937"/>
                          </a:solidFill>
                          <a:latin typeface="Calibri"/>
                        </a:rPr>
                        <a:t>25,966.64 ± 973.23</a:t>
                      </a:r>
                    </a:p>
                  </a:txBody>
                  <a:tcPr anchor="ctr" marL="47548" marR="47548" marT="21945" marB="21945">
                    <a:solidFill>
                      <a:srgbClr val="FFFFFF"/>
                    </a:solidFill>
                  </a:tcPr>
                </a:tc>
                <a:tc>
                  <a:txBody>
                    <a:bodyPr/>
                    <a:lstStyle/>
                    <a:p>
                      <a:pPr algn="r"/>
                      <a:r>
                        <a:rPr sz="930" b="0">
                          <a:solidFill>
                            <a:srgbClr val="1F2937"/>
                          </a:solidFill>
                          <a:latin typeface="Calibri"/>
                        </a:rPr>
                        <a:t>+5.1%</a:t>
                      </a:r>
                    </a:p>
                  </a:txBody>
                  <a:tcPr anchor="ctr" marL="47548" marR="47548" marT="21945" marB="21945">
                    <a:solidFill>
                      <a:srgbClr val="FFFFFF"/>
                    </a:solidFill>
                  </a:tcPr>
                </a:tc>
                <a:tc>
                  <a:txBody>
                    <a:bodyPr/>
                    <a:lstStyle/>
                    <a:p>
                      <a:pPr algn="r"/>
                      <a:r>
                        <a:rPr sz="930" b="0">
                          <a:solidFill>
                            <a:srgbClr val="1F2937"/>
                          </a:solidFill>
                          <a:latin typeface="Calibri"/>
                        </a:rPr>
                        <a:t>0.460 / 7.766</a:t>
                      </a:r>
                    </a:p>
                  </a:txBody>
                  <a:tcPr anchor="ctr" marL="47548" marR="47548" marT="21945" marB="21945">
                    <a:solidFill>
                      <a:srgbClr val="FFFFFF"/>
                    </a:solidFill>
                  </a:tcPr>
                </a:tc>
                <a:tc>
                  <a:txBody>
                    <a:bodyPr/>
                    <a:lstStyle/>
                    <a:p>
                      <a:pPr algn="r"/>
                      <a:r>
                        <a:rPr sz="930" b="0">
                          <a:solidFill>
                            <a:srgbClr val="1F2937"/>
                          </a:solidFill>
                          <a:latin typeface="Calibri"/>
                        </a:rPr>
                        <a:t>0.418 / 7.390</a:t>
                      </a:r>
                    </a:p>
                  </a:txBody>
                  <a:tcPr anchor="ctr" marL="47548" marR="47548" marT="21945" marB="21945">
                    <a:solidFill>
                      <a:srgbClr val="FFFFFF"/>
                    </a:solidFill>
                  </a:tcPr>
                </a:tc>
                <a:tc>
                  <a:txBody>
                    <a:bodyPr/>
                    <a:lstStyle/>
                    <a:p>
                      <a:pPr algn="r"/>
                      <a:r>
                        <a:rPr sz="930" b="0">
                          <a:solidFill>
                            <a:srgbClr val="1F2937"/>
                          </a:solidFill>
                          <a:latin typeface="Calibri"/>
                        </a:rPr>
                        <a:t>+4.8%</a:t>
                      </a:r>
                    </a:p>
                  </a:txBody>
                  <a:tcPr anchor="ctr" marL="47548" marR="47548" marT="21945" marB="21945">
                    <a:solidFill>
                      <a:srgbClr val="FFFFFF"/>
                    </a:solidFill>
                  </a:tcPr>
                </a:tc>
                <a:tc>
                  <a:txBody>
                    <a:bodyPr/>
                    <a:lstStyle/>
                    <a:p>
                      <a:pPr algn="l"/>
                      <a:r>
                        <a:rPr sz="930" b="0">
                          <a:solidFill>
                            <a:srgbClr val="1F2937"/>
                          </a:solidFill>
                          <a:latin typeface="Calibri"/>
                        </a:rPr>
                        <a:t>0 (0.00%)</a:t>
                      </a:r>
                    </a:p>
                  </a:txBody>
                  <a:tcPr anchor="ctr" marL="47548" marR="47548" marT="21945" marB="21945">
                    <a:solidFill>
                      <a:srgbClr val="FFFFFF"/>
                    </a:solidFill>
                  </a:tcPr>
                </a:tc>
              </a:tr>
              <a:tr h="146304">
                <a:tc>
                  <a:txBody>
                    <a:bodyPr/>
                    <a:lstStyle/>
                    <a:p>
                      <a:pPr algn="l"/>
                      <a:r>
                        <a:rPr sz="930" b="1">
                          <a:solidFill>
                            <a:srgbClr val="1F2937"/>
                          </a:solidFill>
                          <a:latin typeface="Calibri"/>
                        </a:rPr>
                        <a:t>Standard (Port 18080)</a:t>
                      </a:r>
                    </a:p>
                  </a:txBody>
                  <a:tcPr anchor="ctr" marL="47548" marR="47548" marT="21945" marB="21945">
                    <a:solidFill>
                      <a:srgbClr val="F3F6F9"/>
                    </a:solidFill>
                  </a:tcPr>
                </a:tc>
                <a:tc>
                  <a:txBody>
                    <a:bodyPr/>
                    <a:lstStyle/>
                    <a:p>
                      <a:pPr algn="r"/>
                      <a:r>
                        <a:rPr sz="930" b="0">
                          <a:solidFill>
                            <a:srgbClr val="1F2937"/>
                          </a:solidFill>
                          <a:latin typeface="Calibri"/>
                        </a:rPr>
                        <a:t>32</a:t>
                      </a:r>
                    </a:p>
                  </a:txBody>
                  <a:tcPr anchor="ctr" marL="47548" marR="47548" marT="21945" marB="21945">
                    <a:solidFill>
                      <a:srgbClr val="F3F6F9"/>
                    </a:solidFill>
                  </a:tcPr>
                </a:tc>
                <a:tc>
                  <a:txBody>
                    <a:bodyPr/>
                    <a:lstStyle/>
                    <a:p>
                      <a:pPr algn="r"/>
                      <a:r>
                        <a:rPr sz="930" b="0">
                          <a:solidFill>
                            <a:srgbClr val="1F2937"/>
                          </a:solidFill>
                          <a:latin typeface="Calibri"/>
                        </a:rPr>
                        <a:t>26,315.90 ± 981.51</a:t>
                      </a:r>
                    </a:p>
                  </a:txBody>
                  <a:tcPr anchor="ctr" marL="47548" marR="47548" marT="21945" marB="21945">
                    <a:solidFill>
                      <a:srgbClr val="F3F6F9"/>
                    </a:solidFill>
                  </a:tcPr>
                </a:tc>
                <a:tc>
                  <a:txBody>
                    <a:bodyPr/>
                    <a:lstStyle/>
                    <a:p>
                      <a:pPr algn="r"/>
                      <a:r>
                        <a:rPr sz="930" b="0">
                          <a:solidFill>
                            <a:srgbClr val="1F2937"/>
                          </a:solidFill>
                          <a:latin typeface="Calibri"/>
                        </a:rPr>
                        <a:t>22,846.24 ± 867.64</a:t>
                      </a:r>
                    </a:p>
                  </a:txBody>
                  <a:tcPr anchor="ctr" marL="47548" marR="47548" marT="21945" marB="21945">
                    <a:solidFill>
                      <a:srgbClr val="F3F6F9"/>
                    </a:solidFill>
                  </a:tcPr>
                </a:tc>
                <a:tc>
                  <a:txBody>
                    <a:bodyPr/>
                    <a:lstStyle/>
                    <a:p>
                      <a:pPr algn="r"/>
                      <a:r>
                        <a:rPr sz="930" b="0">
                          <a:solidFill>
                            <a:srgbClr val="1F2937"/>
                          </a:solidFill>
                          <a:latin typeface="Calibri"/>
                        </a:rPr>
                        <a:t>−13.2%</a:t>
                      </a:r>
                    </a:p>
                  </a:txBody>
                  <a:tcPr anchor="ctr" marL="47548" marR="47548" marT="21945" marB="21945">
                    <a:solidFill>
                      <a:srgbClr val="F3F6F9"/>
                    </a:solidFill>
                  </a:tcPr>
                </a:tc>
                <a:tc>
                  <a:txBody>
                    <a:bodyPr/>
                    <a:lstStyle/>
                    <a:p>
                      <a:pPr algn="r"/>
                      <a:r>
                        <a:rPr sz="930" b="0">
                          <a:solidFill>
                            <a:srgbClr val="1F2937"/>
                          </a:solidFill>
                          <a:latin typeface="Calibri"/>
                        </a:rPr>
                        <a:t>0.418 / 52.716</a:t>
                      </a:r>
                    </a:p>
                  </a:txBody>
                  <a:tcPr anchor="ctr" marL="47548" marR="47548" marT="21945" marB="21945">
                    <a:solidFill>
                      <a:srgbClr val="F3F6F9"/>
                    </a:solidFill>
                  </a:tcPr>
                </a:tc>
                <a:tc>
                  <a:txBody>
                    <a:bodyPr/>
                    <a:lstStyle/>
                    <a:p>
                      <a:pPr algn="r"/>
                      <a:r>
                        <a:rPr sz="930" b="0">
                          <a:solidFill>
                            <a:srgbClr val="1F2937"/>
                          </a:solidFill>
                          <a:latin typeface="Calibri"/>
                        </a:rPr>
                        <a:t>17.640 / 21.944</a:t>
                      </a:r>
                    </a:p>
                  </a:txBody>
                  <a:tcPr anchor="ctr" marL="47548" marR="47548" marT="21945" marB="21945">
                    <a:solidFill>
                      <a:srgbClr val="F3F6F9"/>
                    </a:solidFill>
                  </a:tcPr>
                </a:tc>
                <a:tc>
                  <a:txBody>
                    <a:bodyPr/>
                    <a:lstStyle/>
                    <a:p>
                      <a:pPr algn="r"/>
                      <a:r>
                        <a:rPr sz="930" b="1">
                          <a:solidFill>
                            <a:srgbClr val="2E8B57"/>
                          </a:solidFill>
                          <a:latin typeface="Calibri"/>
                        </a:rPr>
                        <a:t>+58.4%</a:t>
                      </a:r>
                    </a:p>
                  </a:txBody>
                  <a:tcPr anchor="ctr" marL="47548" marR="47548" marT="21945" marB="21945">
                    <a:solidFill>
                      <a:srgbClr val="E3F3EA"/>
                    </a:solidFill>
                  </a:tcPr>
                </a:tc>
                <a:tc>
                  <a:txBody>
                    <a:bodyPr/>
                    <a:lstStyle/>
                    <a:p>
                      <a:pPr algn="l"/>
                      <a:r>
                        <a:rPr sz="930" b="1">
                          <a:solidFill>
                            <a:srgbClr val="2E8B57"/>
                          </a:solidFill>
                          <a:latin typeface="Calibri"/>
                        </a:rPr>
                        <a:t>0 (0.00%, CAUTION)</a:t>
                      </a:r>
                    </a:p>
                  </a:txBody>
                  <a:tcPr anchor="ctr" marL="47548" marR="47548" marT="21945" marB="21945">
                    <a:solidFill>
                      <a:srgbClr val="E3F3EA"/>
                    </a:solidFill>
                  </a:tcPr>
                </a:tc>
              </a:tr>
              <a:tr h="146304">
                <a:tc>
                  <a:txBody>
                    <a:bodyPr/>
                    <a:lstStyle/>
                    <a:p>
                      <a:pPr algn="l"/>
                      <a:r>
                        <a:rPr sz="930" b="1">
                          <a:solidFill>
                            <a:srgbClr val="1F2937"/>
                          </a:solidFill>
                          <a:latin typeface="Calibri"/>
                        </a:rPr>
                        <a:t>Standard (Port 18080)</a:t>
                      </a:r>
                    </a:p>
                  </a:txBody>
                  <a:tcPr anchor="ctr" marL="47548" marR="47548" marT="21945" marB="21945">
                    <a:solidFill>
                      <a:srgbClr val="FFFFFF"/>
                    </a:solidFill>
                  </a:tcPr>
                </a:tc>
                <a:tc>
                  <a:txBody>
                    <a:bodyPr/>
                    <a:lstStyle/>
                    <a:p>
                      <a:pPr algn="r"/>
                      <a:r>
                        <a:rPr sz="930" b="0">
                          <a:solidFill>
                            <a:srgbClr val="1F2937"/>
                          </a:solidFill>
                          <a:latin typeface="Calibri"/>
                        </a:rPr>
                        <a:t>64</a:t>
                      </a:r>
                    </a:p>
                  </a:txBody>
                  <a:tcPr anchor="ctr" marL="47548" marR="47548" marT="21945" marB="21945">
                    <a:solidFill>
                      <a:srgbClr val="FFFFFF"/>
                    </a:solidFill>
                  </a:tcPr>
                </a:tc>
                <a:tc>
                  <a:txBody>
                    <a:bodyPr/>
                    <a:lstStyle/>
                    <a:p>
                      <a:pPr algn="r"/>
                      <a:r>
                        <a:rPr sz="930" b="0">
                          <a:solidFill>
                            <a:srgbClr val="1F2937"/>
                          </a:solidFill>
                          <a:latin typeface="Calibri"/>
                        </a:rPr>
                        <a:t>26,205.88 ± 846.95</a:t>
                      </a:r>
                    </a:p>
                  </a:txBody>
                  <a:tcPr anchor="ctr" marL="47548" marR="47548" marT="21945" marB="21945">
                    <a:solidFill>
                      <a:srgbClr val="FFFFFF"/>
                    </a:solidFill>
                  </a:tcPr>
                </a:tc>
                <a:tc>
                  <a:txBody>
                    <a:bodyPr/>
                    <a:lstStyle/>
                    <a:p>
                      <a:pPr algn="r"/>
                      <a:r>
                        <a:rPr sz="930" b="1">
                          <a:solidFill>
                            <a:srgbClr val="C8453B"/>
                          </a:solidFill>
                          <a:latin typeface="Calibri"/>
                        </a:rPr>
                        <a:t>4,662.02 ± 73.38</a:t>
                      </a:r>
                    </a:p>
                  </a:txBody>
                  <a:tcPr anchor="ctr" marL="47548" marR="47548" marT="21945" marB="21945">
                    <a:solidFill>
                      <a:srgbClr val="FBE4E1"/>
                    </a:solidFill>
                  </a:tcPr>
                </a:tc>
                <a:tc>
                  <a:txBody>
                    <a:bodyPr/>
                    <a:lstStyle/>
                    <a:p>
                      <a:pPr algn="r"/>
                      <a:r>
                        <a:rPr sz="930" b="1">
                          <a:solidFill>
                            <a:srgbClr val="C8453B"/>
                          </a:solidFill>
                          <a:latin typeface="Calibri"/>
                        </a:rPr>
                        <a:t>−82.2%</a:t>
                      </a:r>
                    </a:p>
                  </a:txBody>
                  <a:tcPr anchor="ctr" marL="47548" marR="47548" marT="21945" marB="21945">
                    <a:solidFill>
                      <a:srgbClr val="FBE4E1"/>
                    </a:solidFill>
                  </a:tcPr>
                </a:tc>
                <a:tc>
                  <a:txBody>
                    <a:bodyPr/>
                    <a:lstStyle/>
                    <a:p>
                      <a:pPr algn="r"/>
                      <a:r>
                        <a:rPr sz="930" b="0">
                          <a:solidFill>
                            <a:srgbClr val="1F2937"/>
                          </a:solidFill>
                          <a:latin typeface="Calibri"/>
                        </a:rPr>
                        <a:t>0.414 / 113.210</a:t>
                      </a:r>
                    </a:p>
                  </a:txBody>
                  <a:tcPr anchor="ctr" marL="47548" marR="47548" marT="21945" marB="21945">
                    <a:solidFill>
                      <a:srgbClr val="FFFFFF"/>
                    </a:solidFill>
                  </a:tcPr>
                </a:tc>
                <a:tc>
                  <a:txBody>
                    <a:bodyPr/>
                    <a:lstStyle/>
                    <a:p>
                      <a:pPr algn="r"/>
                      <a:r>
                        <a:rPr sz="930" b="0">
                          <a:solidFill>
                            <a:srgbClr val="1F2937"/>
                          </a:solidFill>
                          <a:latin typeface="Calibri"/>
                        </a:rPr>
                        <a:t>2.658 / 90.162</a:t>
                      </a:r>
                    </a:p>
                  </a:txBody>
                  <a:tcPr anchor="ctr" marL="47548" marR="47548" marT="21945" marB="21945">
                    <a:solidFill>
                      <a:srgbClr val="FFFFFF"/>
                    </a:solidFill>
                  </a:tcPr>
                </a:tc>
                <a:tc>
                  <a:txBody>
                    <a:bodyPr/>
                    <a:lstStyle/>
                    <a:p>
                      <a:pPr algn="r"/>
                      <a:r>
                        <a:rPr sz="930" b="0">
                          <a:solidFill>
                            <a:srgbClr val="1F2937"/>
                          </a:solidFill>
                          <a:latin typeface="Calibri"/>
                        </a:rPr>
                        <a:t>+20.4%</a:t>
                      </a:r>
                    </a:p>
                  </a:txBody>
                  <a:tcPr anchor="ctr" marL="47548" marR="47548" marT="21945" marB="21945">
                    <a:solidFill>
                      <a:srgbClr val="FFFFFF"/>
                    </a:solidFill>
                  </a:tcPr>
                </a:tc>
                <a:tc>
                  <a:txBody>
                    <a:bodyPr/>
                    <a:lstStyle/>
                    <a:p>
                      <a:pPr algn="l"/>
                      <a:r>
                        <a:rPr sz="930" b="1">
                          <a:solidFill>
                            <a:srgbClr val="C8453B"/>
                          </a:solidFill>
                          <a:latin typeface="Calibri"/>
                        </a:rPr>
                        <a:t>276,337 (54.24% shed)</a:t>
                      </a:r>
                    </a:p>
                  </a:txBody>
                  <a:tcPr anchor="ctr" marL="47548" marR="47548" marT="21945" marB="21945">
                    <a:solidFill>
                      <a:srgbClr val="FBE4E1"/>
                    </a:solidFill>
                  </a:tcPr>
                </a:tc>
              </a:tr>
              <a:tr h="146304">
                <a:tc>
                  <a:txBody>
                    <a:bodyPr/>
                    <a:lstStyle/>
                    <a:p>
                      <a:pPr algn="l"/>
                      <a:r>
                        <a:rPr sz="930" b="1">
                          <a:solidFill>
                            <a:srgbClr val="1F2937"/>
                          </a:solidFill>
                          <a:latin typeface="Calibri"/>
                        </a:rPr>
                        <a:t>Retry-Aware (Port 18080)</a:t>
                      </a:r>
                    </a:p>
                  </a:txBody>
                  <a:tcPr anchor="ctr" marL="47548" marR="47548" marT="21945" marB="21945">
                    <a:solidFill>
                      <a:srgbClr val="F3F6F9"/>
                    </a:solidFill>
                  </a:tcPr>
                </a:tc>
                <a:tc>
                  <a:txBody>
                    <a:bodyPr/>
                    <a:lstStyle/>
                    <a:p>
                      <a:pPr algn="r"/>
                      <a:r>
                        <a:rPr sz="930" b="0">
                          <a:solidFill>
                            <a:srgbClr val="1F2937"/>
                          </a:solidFill>
                          <a:latin typeface="Calibri"/>
                        </a:rPr>
                        <a:t>2</a:t>
                      </a:r>
                    </a:p>
                  </a:txBody>
                  <a:tcPr anchor="ctr" marL="47548" marR="47548" marT="21945" marB="21945">
                    <a:solidFill>
                      <a:srgbClr val="F3F6F9"/>
                    </a:solidFill>
                  </a:tcPr>
                </a:tc>
                <a:tc>
                  <a:txBody>
                    <a:bodyPr/>
                    <a:lstStyle/>
                    <a:p>
                      <a:pPr algn="r"/>
                      <a:r>
                        <a:rPr sz="930" b="0">
                          <a:solidFill>
                            <a:srgbClr val="1F2937"/>
                          </a:solidFill>
                          <a:latin typeface="Calibri"/>
                        </a:rPr>
                        <a:t>36,594.26 ± 1,206.41</a:t>
                      </a:r>
                    </a:p>
                  </a:txBody>
                  <a:tcPr anchor="ctr" marL="47548" marR="47548" marT="21945" marB="21945">
                    <a:solidFill>
                      <a:srgbClr val="F3F6F9"/>
                    </a:solidFill>
                  </a:tcPr>
                </a:tc>
                <a:tc>
                  <a:txBody>
                    <a:bodyPr/>
                    <a:lstStyle/>
                    <a:p>
                      <a:pPr algn="r"/>
                      <a:r>
                        <a:rPr sz="930" b="0">
                          <a:solidFill>
                            <a:srgbClr val="1F2937"/>
                          </a:solidFill>
                          <a:latin typeface="Calibri"/>
                        </a:rPr>
                        <a:t>36,727.30 ± 1,786.18</a:t>
                      </a:r>
                    </a:p>
                  </a:txBody>
                  <a:tcPr anchor="ctr" marL="47548" marR="47548" marT="21945" marB="21945">
                    <a:solidFill>
                      <a:srgbClr val="F3F6F9"/>
                    </a:solidFill>
                  </a:tcPr>
                </a:tc>
                <a:tc>
                  <a:txBody>
                    <a:bodyPr/>
                    <a:lstStyle/>
                    <a:p>
                      <a:pPr algn="r"/>
                      <a:r>
                        <a:rPr sz="930" b="0">
                          <a:solidFill>
                            <a:srgbClr val="1F2937"/>
                          </a:solidFill>
                          <a:latin typeface="Calibri"/>
                        </a:rPr>
                        <a:t>+0.4%</a:t>
                      </a:r>
                    </a:p>
                  </a:txBody>
                  <a:tcPr anchor="ctr" marL="47548" marR="47548" marT="21945" marB="21945">
                    <a:solidFill>
                      <a:srgbClr val="F3F6F9"/>
                    </a:solidFill>
                  </a:tcPr>
                </a:tc>
                <a:tc>
                  <a:txBody>
                    <a:bodyPr/>
                    <a:lstStyle/>
                    <a:p>
                      <a:pPr algn="r"/>
                      <a:r>
                        <a:rPr sz="930" b="0">
                          <a:solidFill>
                            <a:srgbClr val="1F2937"/>
                          </a:solidFill>
                          <a:latin typeface="Calibri"/>
                        </a:rPr>
                        <a:t>0.098 / 0.200</a:t>
                      </a:r>
                    </a:p>
                  </a:txBody>
                  <a:tcPr anchor="ctr" marL="47548" marR="47548" marT="21945" marB="21945">
                    <a:solidFill>
                      <a:srgbClr val="F3F6F9"/>
                    </a:solidFill>
                  </a:tcPr>
                </a:tc>
                <a:tc>
                  <a:txBody>
                    <a:bodyPr/>
                    <a:lstStyle/>
                    <a:p>
                      <a:pPr algn="r"/>
                      <a:r>
                        <a:rPr sz="930" b="0">
                          <a:solidFill>
                            <a:srgbClr val="1F2937"/>
                          </a:solidFill>
                          <a:latin typeface="Calibri"/>
                        </a:rPr>
                        <a:t>0.100 / 0.198</a:t>
                      </a:r>
                    </a:p>
                  </a:txBody>
                  <a:tcPr anchor="ctr" marL="47548" marR="47548" marT="21945" marB="21945">
                    <a:solidFill>
                      <a:srgbClr val="F3F6F9"/>
                    </a:solidFill>
                  </a:tcPr>
                </a:tc>
                <a:tc>
                  <a:txBody>
                    <a:bodyPr/>
                    <a:lstStyle/>
                    <a:p>
                      <a:pPr algn="r"/>
                      <a:r>
                        <a:rPr sz="930" b="0">
                          <a:solidFill>
                            <a:srgbClr val="1F2937"/>
                          </a:solidFill>
                          <a:latin typeface="Calibri"/>
                        </a:rPr>
                        <a:t>+1.0%</a:t>
                      </a:r>
                    </a:p>
                  </a:txBody>
                  <a:tcPr anchor="ctr" marL="47548" marR="47548" marT="21945" marB="21945">
                    <a:solidFill>
                      <a:srgbClr val="F3F6F9"/>
                    </a:solidFill>
                  </a:tcPr>
                </a:tc>
                <a:tc>
                  <a:txBody>
                    <a:bodyPr/>
                    <a:lstStyle/>
                    <a:p>
                      <a:pPr algn="l"/>
                      <a:r>
                        <a:rPr sz="930" b="0">
                          <a:solidFill>
                            <a:srgbClr val="1F2937"/>
                          </a:solidFill>
                          <a:latin typeface="Calibri"/>
                        </a:rPr>
                        <a:t>0 (0.00%) / 0.00 s</a:t>
                      </a:r>
                    </a:p>
                  </a:txBody>
                  <a:tcPr anchor="ctr" marL="47548" marR="47548" marT="21945" marB="21945">
                    <a:solidFill>
                      <a:srgbClr val="F3F6F9"/>
                    </a:solidFill>
                  </a:tcPr>
                </a:tc>
              </a:tr>
              <a:tr h="146304">
                <a:tc>
                  <a:txBody>
                    <a:bodyPr/>
                    <a:lstStyle/>
                    <a:p>
                      <a:pPr algn="l"/>
                      <a:r>
                        <a:rPr sz="930" b="1">
                          <a:solidFill>
                            <a:srgbClr val="1F2937"/>
                          </a:solidFill>
                          <a:latin typeface="Calibri"/>
                        </a:rPr>
                        <a:t>Retry-Aware (Port 18080)</a:t>
                      </a:r>
                    </a:p>
                  </a:txBody>
                  <a:tcPr anchor="ctr" marL="47548" marR="47548" marT="21945" marB="21945">
                    <a:solidFill>
                      <a:srgbClr val="FFFFFF"/>
                    </a:solidFill>
                  </a:tcPr>
                </a:tc>
                <a:tc>
                  <a:txBody>
                    <a:bodyPr/>
                    <a:lstStyle/>
                    <a:p>
                      <a:pPr algn="r"/>
                      <a:r>
                        <a:rPr sz="930" b="0">
                          <a:solidFill>
                            <a:srgbClr val="1F2937"/>
                          </a:solidFill>
                          <a:latin typeface="Calibri"/>
                        </a:rPr>
                        <a:t>8</a:t>
                      </a:r>
                    </a:p>
                  </a:txBody>
                  <a:tcPr anchor="ctr" marL="47548" marR="47548" marT="21945" marB="21945">
                    <a:solidFill>
                      <a:srgbClr val="FFFFFF"/>
                    </a:solidFill>
                  </a:tcPr>
                </a:tc>
                <a:tc>
                  <a:txBody>
                    <a:bodyPr/>
                    <a:lstStyle/>
                    <a:p>
                      <a:pPr algn="r"/>
                      <a:r>
                        <a:rPr sz="930" b="0">
                          <a:solidFill>
                            <a:srgbClr val="1F2937"/>
                          </a:solidFill>
                          <a:latin typeface="Calibri"/>
                        </a:rPr>
                        <a:t>25,284.54 ± 559.12</a:t>
                      </a:r>
                    </a:p>
                  </a:txBody>
                  <a:tcPr anchor="ctr" marL="47548" marR="47548" marT="21945" marB="21945">
                    <a:solidFill>
                      <a:srgbClr val="FFFFFF"/>
                    </a:solidFill>
                  </a:tcPr>
                </a:tc>
                <a:tc>
                  <a:txBody>
                    <a:bodyPr/>
                    <a:lstStyle/>
                    <a:p>
                      <a:pPr algn="r"/>
                      <a:r>
                        <a:rPr sz="930" b="0">
                          <a:solidFill>
                            <a:srgbClr val="1F2937"/>
                          </a:solidFill>
                          <a:latin typeface="Calibri"/>
                        </a:rPr>
                        <a:t>25,267.98 ± 2,395.09</a:t>
                      </a:r>
                    </a:p>
                  </a:txBody>
                  <a:tcPr anchor="ctr" marL="47548" marR="47548" marT="21945" marB="21945">
                    <a:solidFill>
                      <a:srgbClr val="FFFFFF"/>
                    </a:solidFill>
                  </a:tcPr>
                </a:tc>
                <a:tc>
                  <a:txBody>
                    <a:bodyPr/>
                    <a:lstStyle/>
                    <a:p>
                      <a:pPr algn="r"/>
                      <a:r>
                        <a:rPr sz="930" b="0">
                          <a:solidFill>
                            <a:srgbClr val="1F2937"/>
                          </a:solidFill>
                          <a:latin typeface="Calibri"/>
                        </a:rPr>
                        <a:t>−0.1%</a:t>
                      </a:r>
                    </a:p>
                  </a:txBody>
                  <a:tcPr anchor="ctr" marL="47548" marR="47548" marT="21945" marB="21945">
                    <a:solidFill>
                      <a:srgbClr val="FFFFFF"/>
                    </a:solidFill>
                  </a:tcPr>
                </a:tc>
                <a:tc>
                  <a:txBody>
                    <a:bodyPr/>
                    <a:lstStyle/>
                    <a:p>
                      <a:pPr algn="r"/>
                      <a:r>
                        <a:rPr sz="930" b="0">
                          <a:solidFill>
                            <a:srgbClr val="1F2937"/>
                          </a:solidFill>
                          <a:latin typeface="Calibri"/>
                        </a:rPr>
                        <a:t>0.428 / 7.588</a:t>
                      </a:r>
                    </a:p>
                  </a:txBody>
                  <a:tcPr anchor="ctr" marL="47548" marR="47548" marT="21945" marB="21945">
                    <a:solidFill>
                      <a:srgbClr val="FFFFFF"/>
                    </a:solidFill>
                  </a:tcPr>
                </a:tc>
                <a:tc>
                  <a:txBody>
                    <a:bodyPr/>
                    <a:lstStyle/>
                    <a:p>
                      <a:pPr algn="r"/>
                      <a:r>
                        <a:rPr sz="930" b="0">
                          <a:solidFill>
                            <a:srgbClr val="1F2937"/>
                          </a:solidFill>
                          <a:latin typeface="Calibri"/>
                        </a:rPr>
                        <a:t>0.444 / 7.662</a:t>
                      </a:r>
                    </a:p>
                  </a:txBody>
                  <a:tcPr anchor="ctr" marL="47548" marR="47548" marT="21945" marB="21945">
                    <a:solidFill>
                      <a:srgbClr val="FFFFFF"/>
                    </a:solidFill>
                  </a:tcPr>
                </a:tc>
                <a:tc>
                  <a:txBody>
                    <a:bodyPr/>
                    <a:lstStyle/>
                    <a:p>
                      <a:pPr algn="r"/>
                      <a:r>
                        <a:rPr sz="930" b="0">
                          <a:solidFill>
                            <a:srgbClr val="1F2937"/>
                          </a:solidFill>
                          <a:latin typeface="Calibri"/>
                        </a:rPr>
                        <a:t>−1.0%</a:t>
                      </a:r>
                    </a:p>
                  </a:txBody>
                  <a:tcPr anchor="ctr" marL="47548" marR="47548" marT="21945" marB="21945">
                    <a:solidFill>
                      <a:srgbClr val="FFFFFF"/>
                    </a:solidFill>
                  </a:tcPr>
                </a:tc>
                <a:tc>
                  <a:txBody>
                    <a:bodyPr/>
                    <a:lstStyle/>
                    <a:p>
                      <a:pPr algn="l"/>
                      <a:r>
                        <a:rPr sz="930" b="0">
                          <a:solidFill>
                            <a:srgbClr val="1F2937"/>
                          </a:solidFill>
                          <a:latin typeface="Calibri"/>
                        </a:rPr>
                        <a:t>0 (0.00%) / 0.00 s</a:t>
                      </a:r>
                    </a:p>
                  </a:txBody>
                  <a:tcPr anchor="ctr" marL="47548" marR="47548" marT="21945" marB="21945">
                    <a:solidFill>
                      <a:srgbClr val="FFFFFF"/>
                    </a:solidFill>
                  </a:tcPr>
                </a:tc>
              </a:tr>
              <a:tr h="146304">
                <a:tc>
                  <a:txBody>
                    <a:bodyPr/>
                    <a:lstStyle/>
                    <a:p>
                      <a:pPr algn="l"/>
                      <a:r>
                        <a:rPr sz="930" b="1">
                          <a:solidFill>
                            <a:srgbClr val="1F2937"/>
                          </a:solidFill>
                          <a:latin typeface="Calibri"/>
                        </a:rPr>
                        <a:t>Retry-Aware (Port 18080)</a:t>
                      </a:r>
                    </a:p>
                  </a:txBody>
                  <a:tcPr anchor="ctr" marL="47548" marR="47548" marT="21945" marB="21945">
                    <a:solidFill>
                      <a:srgbClr val="F3F6F9"/>
                    </a:solidFill>
                  </a:tcPr>
                </a:tc>
                <a:tc>
                  <a:txBody>
                    <a:bodyPr/>
                    <a:lstStyle/>
                    <a:p>
                      <a:pPr algn="r"/>
                      <a:r>
                        <a:rPr sz="930" b="0">
                          <a:solidFill>
                            <a:srgbClr val="1F2937"/>
                          </a:solidFill>
                          <a:latin typeface="Calibri"/>
                        </a:rPr>
                        <a:t>32</a:t>
                      </a:r>
                    </a:p>
                  </a:txBody>
                  <a:tcPr anchor="ctr" marL="47548" marR="47548" marT="21945" marB="21945">
                    <a:solidFill>
                      <a:srgbClr val="F3F6F9"/>
                    </a:solidFill>
                  </a:tcPr>
                </a:tc>
                <a:tc>
                  <a:txBody>
                    <a:bodyPr/>
                    <a:lstStyle/>
                    <a:p>
                      <a:pPr algn="r"/>
                      <a:r>
                        <a:rPr sz="930" b="0">
                          <a:solidFill>
                            <a:srgbClr val="1F2937"/>
                          </a:solidFill>
                          <a:latin typeface="Calibri"/>
                        </a:rPr>
                        <a:t>26,100.96 ± 473.80</a:t>
                      </a:r>
                    </a:p>
                  </a:txBody>
                  <a:tcPr anchor="ctr" marL="47548" marR="47548" marT="21945" marB="21945">
                    <a:solidFill>
                      <a:srgbClr val="F3F6F9"/>
                    </a:solidFill>
                  </a:tcPr>
                </a:tc>
                <a:tc>
                  <a:txBody>
                    <a:bodyPr/>
                    <a:lstStyle/>
                    <a:p>
                      <a:pPr algn="r"/>
                      <a:r>
                        <a:rPr sz="930" b="0">
                          <a:solidFill>
                            <a:srgbClr val="1F2937"/>
                          </a:solidFill>
                          <a:latin typeface="Calibri"/>
                        </a:rPr>
                        <a:t>23,295.10 ± 569.28</a:t>
                      </a:r>
                    </a:p>
                  </a:txBody>
                  <a:tcPr anchor="ctr" marL="47548" marR="47548" marT="21945" marB="21945">
                    <a:solidFill>
                      <a:srgbClr val="F3F6F9"/>
                    </a:solidFill>
                  </a:tcPr>
                </a:tc>
                <a:tc>
                  <a:txBody>
                    <a:bodyPr/>
                    <a:lstStyle/>
                    <a:p>
                      <a:pPr algn="r"/>
                      <a:r>
                        <a:rPr sz="930" b="0">
                          <a:solidFill>
                            <a:srgbClr val="1F2937"/>
                          </a:solidFill>
                          <a:latin typeface="Calibri"/>
                        </a:rPr>
                        <a:t>−10.8%</a:t>
                      </a:r>
                    </a:p>
                  </a:txBody>
                  <a:tcPr anchor="ctr" marL="47548" marR="47548" marT="21945" marB="21945">
                    <a:solidFill>
                      <a:srgbClr val="F3F6F9"/>
                    </a:solidFill>
                  </a:tcPr>
                </a:tc>
                <a:tc>
                  <a:txBody>
                    <a:bodyPr/>
                    <a:lstStyle/>
                    <a:p>
                      <a:pPr algn="r"/>
                      <a:r>
                        <a:rPr sz="930" b="0">
                          <a:solidFill>
                            <a:srgbClr val="1F2937"/>
                          </a:solidFill>
                          <a:latin typeface="Calibri"/>
                        </a:rPr>
                        <a:t>0.414 / 52.868</a:t>
                      </a:r>
                    </a:p>
                  </a:txBody>
                  <a:tcPr anchor="ctr" marL="47548" marR="47548" marT="21945" marB="21945">
                    <a:solidFill>
                      <a:srgbClr val="F3F6F9"/>
                    </a:solidFill>
                  </a:tcPr>
                </a:tc>
                <a:tc>
                  <a:txBody>
                    <a:bodyPr/>
                    <a:lstStyle/>
                    <a:p>
                      <a:pPr algn="r"/>
                      <a:r>
                        <a:rPr sz="930" b="0">
                          <a:solidFill>
                            <a:srgbClr val="1F2937"/>
                          </a:solidFill>
                          <a:latin typeface="Calibri"/>
                        </a:rPr>
                        <a:t>17.370 / 21.476</a:t>
                      </a:r>
                    </a:p>
                  </a:txBody>
                  <a:tcPr anchor="ctr" marL="47548" marR="47548" marT="21945" marB="21945">
                    <a:solidFill>
                      <a:srgbClr val="F3F6F9"/>
                    </a:solidFill>
                  </a:tcPr>
                </a:tc>
                <a:tc>
                  <a:txBody>
                    <a:bodyPr/>
                    <a:lstStyle/>
                    <a:p>
                      <a:pPr algn="r"/>
                      <a:r>
                        <a:rPr sz="930" b="1">
                          <a:solidFill>
                            <a:srgbClr val="2E8B57"/>
                          </a:solidFill>
                          <a:latin typeface="Calibri"/>
                        </a:rPr>
                        <a:t>+59.4%</a:t>
                      </a:r>
                    </a:p>
                  </a:txBody>
                  <a:tcPr anchor="ctr" marL="47548" marR="47548" marT="21945" marB="21945">
                    <a:solidFill>
                      <a:srgbClr val="E3F3EA"/>
                    </a:solidFill>
                  </a:tcPr>
                </a:tc>
                <a:tc>
                  <a:txBody>
                    <a:bodyPr/>
                    <a:lstStyle/>
                    <a:p>
                      <a:pPr algn="l"/>
                      <a:r>
                        <a:rPr sz="930" b="1">
                          <a:solidFill>
                            <a:srgbClr val="2E8B57"/>
                          </a:solidFill>
                          <a:latin typeface="Calibri"/>
                        </a:rPr>
                        <a:t>0 (0.00%) / 0.00 s</a:t>
                      </a:r>
                    </a:p>
                  </a:txBody>
                  <a:tcPr anchor="ctr" marL="47548" marR="47548" marT="21945" marB="21945">
                    <a:solidFill>
                      <a:srgbClr val="E3F3EA"/>
                    </a:solidFill>
                  </a:tcPr>
                </a:tc>
              </a:tr>
              <a:tr h="146304">
                <a:tc>
                  <a:txBody>
                    <a:bodyPr/>
                    <a:lstStyle/>
                    <a:p>
                      <a:pPr algn="l"/>
                      <a:r>
                        <a:rPr sz="930" b="1">
                          <a:solidFill>
                            <a:srgbClr val="1F2937"/>
                          </a:solidFill>
                          <a:latin typeface="Calibri"/>
                        </a:rPr>
                        <a:t>Retry-Aware (Port 18080)</a:t>
                      </a:r>
                    </a:p>
                  </a:txBody>
                  <a:tcPr anchor="ctr" marL="47548" marR="47548" marT="21945" marB="21945">
                    <a:solidFill>
                      <a:srgbClr val="FFFFFF"/>
                    </a:solidFill>
                  </a:tcPr>
                </a:tc>
                <a:tc>
                  <a:txBody>
                    <a:bodyPr/>
                    <a:lstStyle/>
                    <a:p>
                      <a:pPr algn="r"/>
                      <a:r>
                        <a:rPr sz="930" b="0">
                          <a:solidFill>
                            <a:srgbClr val="1F2937"/>
                          </a:solidFill>
                          <a:latin typeface="Calibri"/>
                        </a:rPr>
                        <a:t>64</a:t>
                      </a:r>
                    </a:p>
                  </a:txBody>
                  <a:tcPr anchor="ctr" marL="47548" marR="47548" marT="21945" marB="21945">
                    <a:solidFill>
                      <a:srgbClr val="FFFFFF"/>
                    </a:solidFill>
                  </a:tcPr>
                </a:tc>
                <a:tc>
                  <a:txBody>
                    <a:bodyPr/>
                    <a:lstStyle/>
                    <a:p>
                      <a:pPr algn="r"/>
                      <a:r>
                        <a:rPr sz="930" b="0">
                          <a:solidFill>
                            <a:srgbClr val="1F2937"/>
                          </a:solidFill>
                          <a:latin typeface="Calibri"/>
                        </a:rPr>
                        <a:t>25,891.42 ± 667.90</a:t>
                      </a:r>
                    </a:p>
                  </a:txBody>
                  <a:tcPr anchor="ctr" marL="47548" marR="47548" marT="21945" marB="21945">
                    <a:solidFill>
                      <a:srgbClr val="FFFFFF"/>
                    </a:solidFill>
                  </a:tcPr>
                </a:tc>
                <a:tc>
                  <a:txBody>
                    <a:bodyPr/>
                    <a:lstStyle/>
                    <a:p>
                      <a:pPr algn="r"/>
                      <a:r>
                        <a:rPr sz="930" b="1">
                          <a:solidFill>
                            <a:srgbClr val="9A5B00"/>
                          </a:solidFill>
                          <a:latin typeface="Calibri"/>
                        </a:rPr>
                        <a:t>8,727.14 ± 167.96</a:t>
                      </a:r>
                    </a:p>
                  </a:txBody>
                  <a:tcPr anchor="ctr" marL="47548" marR="47548" marT="21945" marB="21945">
                    <a:solidFill>
                      <a:srgbClr val="FCF1D9"/>
                    </a:solidFill>
                  </a:tcPr>
                </a:tc>
                <a:tc>
                  <a:txBody>
                    <a:bodyPr/>
                    <a:lstStyle/>
                    <a:p>
                      <a:pPr algn="r"/>
                      <a:r>
                        <a:rPr sz="930" b="1">
                          <a:solidFill>
                            <a:srgbClr val="9A5B00"/>
                          </a:solidFill>
                          <a:latin typeface="Calibri"/>
                        </a:rPr>
                        <a:t>−66.3%</a:t>
                      </a:r>
                    </a:p>
                  </a:txBody>
                  <a:tcPr anchor="ctr" marL="47548" marR="47548" marT="21945" marB="21945">
                    <a:solidFill>
                      <a:srgbClr val="FCF1D9"/>
                    </a:solidFill>
                  </a:tcPr>
                </a:tc>
                <a:tc>
                  <a:txBody>
                    <a:bodyPr/>
                    <a:lstStyle/>
                    <a:p>
                      <a:pPr algn="r"/>
                      <a:r>
                        <a:rPr sz="930" b="0">
                          <a:solidFill>
                            <a:srgbClr val="1F2937"/>
                          </a:solidFill>
                          <a:latin typeface="Calibri"/>
                        </a:rPr>
                        <a:t>0.418 / 114.790</a:t>
                      </a:r>
                    </a:p>
                  </a:txBody>
                  <a:tcPr anchor="ctr" marL="47548" marR="47548" marT="21945" marB="21945">
                    <a:solidFill>
                      <a:srgbClr val="FFFFFF"/>
                    </a:solidFill>
                  </a:tcPr>
                </a:tc>
                <a:tc>
                  <a:txBody>
                    <a:bodyPr/>
                    <a:lstStyle/>
                    <a:p>
                      <a:pPr algn="r"/>
                      <a:r>
                        <a:rPr sz="930" b="0">
                          <a:solidFill>
                            <a:srgbClr val="1F2937"/>
                          </a:solidFill>
                          <a:latin typeface="Calibri"/>
                        </a:rPr>
                        <a:t>26.858 / 33.424</a:t>
                      </a:r>
                    </a:p>
                  </a:txBody>
                  <a:tcPr anchor="ctr" marL="47548" marR="47548" marT="21945" marB="21945">
                    <a:solidFill>
                      <a:srgbClr val="FFFFFF"/>
                    </a:solidFill>
                  </a:tcPr>
                </a:tc>
                <a:tc>
                  <a:txBody>
                    <a:bodyPr/>
                    <a:lstStyle/>
                    <a:p>
                      <a:pPr algn="r"/>
                      <a:r>
                        <a:rPr sz="930" b="1">
                          <a:solidFill>
                            <a:srgbClr val="2E8B57"/>
                          </a:solidFill>
                          <a:latin typeface="Calibri"/>
                        </a:rPr>
                        <a:t>+70.9%</a:t>
                      </a:r>
                    </a:p>
                  </a:txBody>
                  <a:tcPr anchor="ctr" marL="47548" marR="47548" marT="21945" marB="21945">
                    <a:solidFill>
                      <a:srgbClr val="E3F3EA"/>
                    </a:solidFill>
                  </a:tcPr>
                </a:tc>
                <a:tc>
                  <a:txBody>
                    <a:bodyPr/>
                    <a:lstStyle/>
                    <a:p>
                      <a:pPr algn="l"/>
                      <a:r>
                        <a:rPr sz="930" b="1">
                          <a:solidFill>
                            <a:srgbClr val="9A5B00"/>
                          </a:solidFill>
                          <a:latin typeface="Calibri"/>
                        </a:rPr>
                        <a:t>640 (128/tr, 0.15%) / 452.48 s</a:t>
                      </a:r>
                    </a:p>
                  </a:txBody>
                  <a:tcPr anchor="ctr" marL="47548" marR="47548" marT="21945" marB="21945">
                    <a:solidFill>
                      <a:srgbClr val="FCF1D9"/>
                    </a:solidFill>
                  </a:tcPr>
                </a:tc>
              </a:tr>
            </a:tbl>
          </a:graphicData>
        </a:graphic>
      </p:graphicFrame>
      <p:sp>
        <p:nvSpPr>
          <p:cNvPr id="7" name="TextBox 6"/>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Separate Dataset: fresh_rerun_20261021 (AMD EPYC 9V74, Port 18080, 5 × 10 s paired trials); Report Appendix B.7 Tables B.7–B.8 (pp. 51–53)</a:t>
            </a:r>
          </a:p>
        </p:txBody>
      </p:sp>
      <p:sp>
        <p:nvSpPr>
          <p:cNvPr id="8" name="TextBox 7"/>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9 · ANALYSIS, LIMITATIONS</a:t>
            </a:r>
          </a:p>
          <a:p>
            <a:pPr algn="l">
              <a:spcAft>
                <a:spcPts val="300"/>
              </a:spcAft>
            </a:pPr>
            <a:r>
              <a:rPr sz="2700" b="1">
                <a:solidFill>
                  <a:srgbClr val="0B1F3A"/>
                </a:solidFill>
                <a:latin typeface="Cambria"/>
              </a:rPr>
              <a:t>Analysis: p95 vs. p99 Rotation, Timelines &amp; Failure Conditions</a:t>
            </a:r>
          </a:p>
          <a:p>
            <a:pPr algn="l"/>
            <a:r>
              <a:rPr sz="1500" b="0">
                <a:solidFill>
                  <a:srgbClr val="5B6676"/>
                </a:solidFill>
                <a:latin typeface="Calibri"/>
              </a:rPr>
              <a:t>Why CAUTION raises p95 while cutting p99, how hysteresis shapes C = 64 timelines, and when QLAAC reduces performance</a:t>
            </a:r>
          </a:p>
        </p:txBody>
      </p:sp>
      <p:sp>
        <p:nvSpPr>
          <p:cNvPr id="4" name="Rounded Rectangle 3"/>
          <p:cNvSpPr/>
          <p:nvPr/>
        </p:nvSpPr>
        <p:spPr>
          <a:xfrm>
            <a:off x="594360" y="1965960"/>
            <a:ext cx="5376672" cy="2057400"/>
          </a:xfrm>
          <a:prstGeom prst="roundRect">
            <a:avLst>
              <a:gd name="adj" fmla="val 4000"/>
            </a:avLst>
          </a:prstGeom>
          <a:solidFill>
            <a:srgbClr val="FCF1D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039112"/>
            <a:ext cx="5047488" cy="1911095"/>
          </a:xfrm>
          <a:prstGeom prst="rect">
            <a:avLst/>
          </a:prstGeom>
          <a:noFill/>
        </p:spPr>
        <p:txBody>
          <a:bodyPr wrap="square" anchor="t" lIns="0" tIns="0" rIns="0" bIns="0">
            <a:noAutofit/>
          </a:bodyPr>
          <a:lstStyle/>
          <a:p>
            <a:pPr algn="l">
              <a:spcAft>
                <a:spcPts val="350"/>
              </a:spcAft>
            </a:pPr>
            <a:r>
              <a:rPr sz="1400" b="1">
                <a:solidFill>
                  <a:srgbClr val="9A5B00"/>
                </a:solidFill>
                <a:latin typeface="Cambria"/>
              </a:rPr>
              <a:t>1. Why C = 32 Cuts p99 (−61.3%) While Raising p95 (~56×)</a:t>
            </a:r>
          </a:p>
          <a:p>
            <a:pPr algn="l" marL="182880" indent="-182880">
              <a:spcAft>
                <a:spcPts val="200"/>
              </a:spcAft>
              <a:buFont typeface="Calibri"/>
              <a:buChar char="•"/>
            </a:pPr>
            <a:r>
              <a:rPr sz="1060" b="1">
                <a:solidFill>
                  <a:srgbClr val="0B1F3A"/>
                </a:solidFill>
                <a:latin typeface="Calibri"/>
              </a:rPr>
              <a:t>Baseline (50 reqs/conn): </a:t>
            </a:r>
            <a:r>
              <a:rPr sz="1060" b="0">
                <a:solidFill>
                  <a:srgbClr val="1F2937"/>
                </a:solidFill>
                <a:latin typeface="Calibri"/>
              </a:rPr>
              <a:t>Only 1 in 50 requests (2.0%) is the 1st request on a queued socket; 98% bypass the queue (~0.5 ms). Thus p95 stays at 1.31 ms while p99 absorbs 7 rounds of 200 reqs (201.93 ms).</a:t>
            </a:r>
          </a:p>
          <a:p>
            <a:pPr algn="l" marL="182880" indent="-182880">
              <a:spcAft>
                <a:spcPts val="0"/>
              </a:spcAft>
              <a:buFont typeface="Calibri"/>
              <a:buChar char="•"/>
            </a:pPr>
            <a:r>
              <a:rPr sz="1060" b="1">
                <a:solidFill>
                  <a:srgbClr val="0B1F3A"/>
                </a:solidFill>
                <a:latin typeface="Calibri"/>
              </a:rPr>
              <a:t>QLAAC CAUTION (≤16 reqs/conn): </a:t>
            </a:r>
            <a:r>
              <a:rPr sz="1060" b="0">
                <a:solidFill>
                  <a:srgbClr val="1F2937"/>
                </a:solidFill>
                <a:latin typeface="Calibri"/>
              </a:rPr>
              <a:t>1 in 16 requests (6.25% &gt; 5%) now waits in the queue, shifting p95 into the waiting group! Approximate consistency model: T_wait ≈ 7 × (4 × 16 / X) × 1000 ms ≈ 74.8 ms at X = 5,988.46 RPS (v4 Std: p95 = 72.99 ms, p99 = 78.17 ms; Fresh Std: T_wait ≈ 19.6 ms vs p95 = 17.640 ms, p99 = 21.944 ms).</a:t>
            </a:r>
          </a:p>
        </p:txBody>
      </p:sp>
      <p:sp>
        <p:nvSpPr>
          <p:cNvPr id="6" name="Rounded Rectangle 5"/>
          <p:cNvSpPr/>
          <p:nvPr/>
        </p:nvSpPr>
        <p:spPr>
          <a:xfrm>
            <a:off x="6217920" y="1965960"/>
            <a:ext cx="5376672" cy="2057400"/>
          </a:xfrm>
          <a:prstGeom prst="roundRect">
            <a:avLst>
              <a:gd name="adj" fmla="val 4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82512" y="2039112"/>
            <a:ext cx="5047488" cy="1911095"/>
          </a:xfrm>
          <a:prstGeom prst="rect">
            <a:avLst/>
          </a:prstGeom>
          <a:noFill/>
        </p:spPr>
        <p:txBody>
          <a:bodyPr wrap="square" anchor="t" lIns="0" tIns="0" rIns="0" bIns="0">
            <a:noAutofit/>
          </a:bodyPr>
          <a:lstStyle/>
          <a:p>
            <a:pPr algn="l">
              <a:spcAft>
                <a:spcPts val="350"/>
              </a:spcAft>
            </a:pPr>
            <a:r>
              <a:rPr sz="1400" b="1">
                <a:solidFill>
                  <a:srgbClr val="0B1F3A"/>
                </a:solidFill>
                <a:latin typeface="Cambria"/>
              </a:rPr>
              <a:t>2. Diagnostic Timelines (Fig. 5.6) &amp; Survivorship Bias</a:t>
            </a:r>
          </a:p>
          <a:p>
            <a:pPr algn="l" marL="182880" indent="-182880">
              <a:spcAft>
                <a:spcPts val="200"/>
              </a:spcAft>
              <a:buFont typeface="Calibri"/>
              <a:buChar char="•"/>
            </a:pPr>
            <a:r>
              <a:rPr sz="1060" b="1">
                <a:solidFill>
                  <a:srgbClr val="0B1F3A"/>
                </a:solidFill>
                <a:latin typeface="Calibri"/>
              </a:rPr>
              <a:t>C = 32 &amp; C = 64 Timelines (0.25 s Polls): </a:t>
            </a:r>
            <a:r>
              <a:rPr sz="1060" b="0">
                <a:solidFill>
                  <a:srgbClr val="1F2937"/>
                </a:solidFill>
                <a:latin typeface="Calibri"/>
              </a:rPr>
              <a:t>At C = 32, QLAAC enters CAUTION at t ≈ 0.7 s (q = 28/64, qw ~200 ms) and stays in CAUTION with 0 shed. At C = 64, q = 60/64 triggers OVERLOAD at t ≈ 0.95 s; 5-window recovery steps down to CAUTION at t ≈ 6 s and re-triggers OVERLOAD in 3 of 5 trials.</a:t>
            </a:r>
          </a:p>
          <a:p>
            <a:pPr algn="l" marL="182880" indent="-182880">
              <a:spcAft>
                <a:spcPts val="0"/>
              </a:spcAft>
              <a:buFont typeface="Calibri"/>
              <a:buChar char="•"/>
            </a:pPr>
            <a:r>
              <a:rPr sz="1060" b="1">
                <a:solidFill>
                  <a:srgbClr val="0B1F3A"/>
                </a:solidFill>
                <a:latin typeface="Calibri"/>
              </a:rPr>
              <a:t>Cost of 503s &amp; Survivorship Caveat: </a:t>
            </a:r>
            <a:r>
              <a:rPr sz="1060" b="0">
                <a:solidFill>
                  <a:srgbClr val="1F2937"/>
                </a:solidFill>
                <a:latin typeface="Calibri"/>
              </a:rPr>
              <a:t>At C = 64, Retry-Aware p99 (175.15 ms v4 / 33.424 ms Fresh) measures only admitted 2xx survivors while clients spend ~71–80% of trial time (511.91 s / 452.48 s) sleeping on Retry-After: 5.</a:t>
            </a:r>
          </a:p>
        </p:txBody>
      </p:sp>
      <p:sp>
        <p:nvSpPr>
          <p:cNvPr id="8" name="Rounded Rectangle 7"/>
          <p:cNvSpPr/>
          <p:nvPr/>
        </p:nvSpPr>
        <p:spPr>
          <a:xfrm>
            <a:off x="594360" y="4133087"/>
            <a:ext cx="11002975" cy="2039112"/>
          </a:xfrm>
          <a:prstGeom prst="roundRect">
            <a:avLst>
              <a:gd name="adj" fmla="val 4000"/>
            </a:avLst>
          </a:prstGeom>
          <a:solidFill>
            <a:srgbClr val="FBE4E1"/>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0664" y="4178807"/>
            <a:ext cx="10710367" cy="1947672"/>
          </a:xfrm>
          <a:prstGeom prst="rect">
            <a:avLst/>
          </a:prstGeom>
          <a:noFill/>
        </p:spPr>
        <p:txBody>
          <a:bodyPr wrap="square" anchor="t" lIns="0" tIns="0" rIns="0" bIns="0">
            <a:noAutofit/>
          </a:bodyPr>
          <a:lstStyle/>
          <a:p>
            <a:pPr algn="l">
              <a:spcAft>
                <a:spcPts val="350"/>
              </a:spcAft>
            </a:pPr>
            <a:r>
              <a:rPr sz="1400" b="1">
                <a:solidFill>
                  <a:srgbClr val="C8453B"/>
                </a:solidFill>
                <a:latin typeface="Cambria"/>
              </a:rPr>
              <a:t>3. Five Explicit Conditions Where QLAAC Reduces Performance or Fails (Report §5.5, p. 37)</a:t>
            </a:r>
          </a:p>
          <a:p>
            <a:pPr algn="l" marL="182880" indent="-182880">
              <a:spcAft>
                <a:spcPts val="200"/>
              </a:spcAft>
              <a:buFont typeface="Calibri"/>
              <a:buChar char="•"/>
            </a:pPr>
            <a:r>
              <a:rPr sz="1050" b="1">
                <a:solidFill>
                  <a:srgbClr val="0B1F3A"/>
                </a:solidFill>
                <a:latin typeface="Calibri"/>
              </a:rPr>
              <a:t>(i) Low or Moderate Load (C = 2, 8): </a:t>
            </a:r>
            <a:r>
              <a:rPr sz="1050" b="0">
                <a:solidFill>
                  <a:srgbClr val="1F2937"/>
                </a:solidFill>
                <a:latin typeface="Calibri"/>
              </a:rPr>
              <a:t>When concurrency ≤ workers or queue depth stays below q = 0.20, QLAAC stays in NORMAL and provides no benefit over baseline.</a:t>
            </a:r>
          </a:p>
          <a:p>
            <a:pPr algn="l" marL="182880" indent="-182880">
              <a:spcAft>
                <a:spcPts val="200"/>
              </a:spcAft>
              <a:buFont typeface="Calibri"/>
              <a:buChar char="•"/>
            </a:pPr>
            <a:r>
              <a:rPr sz="1050" b="1">
                <a:solidFill>
                  <a:srgbClr val="0B1F3A"/>
                </a:solidFill>
                <a:latin typeface="Calibri"/>
              </a:rPr>
              <a:t>(ii) Objective Is Maximum Throughput, p50, Mean, or p95: </a:t>
            </a:r>
            <a:r>
              <a:rPr sz="1050" b="0">
                <a:solidFill>
                  <a:srgbClr val="1F2937"/>
                </a:solidFill>
                <a:latin typeface="Calibri"/>
              </a:rPr>
              <a:t>At C = 32, QLAAC loses 13.7% / 13.4% throughput (v4) and raises p95 ~56-fold (1.31 → 72.99 ms); only p99 tail latency improves.</a:t>
            </a:r>
          </a:p>
          <a:p>
            <a:pPr algn="l" marL="182880" indent="-182880">
              <a:spcAft>
                <a:spcPts val="200"/>
              </a:spcAft>
              <a:buFont typeface="Calibri"/>
              <a:buChar char="•"/>
            </a:pPr>
            <a:r>
              <a:rPr sz="1050" b="1">
                <a:solidFill>
                  <a:srgbClr val="0B1F3A"/>
                </a:solidFill>
                <a:latin typeface="Calibri"/>
              </a:rPr>
              <a:t>(iii) Non-Cooperative / Immediate-Reconnect Clients: </a:t>
            </a:r>
            <a:r>
              <a:rPr sz="1050" b="0">
                <a:solidFill>
                  <a:srgbClr val="1F2937"/>
                </a:solidFill>
                <a:latin typeface="Calibri"/>
              </a:rPr>
              <a:t>At C = 64 Standard mode, 503 shedding causes a reconnect storm (56.94% shed, −81.3% RPS) for only a 9.4% p99 gain.</a:t>
            </a:r>
          </a:p>
          <a:p>
            <a:pPr algn="l" marL="182880" indent="-182880">
              <a:spcAft>
                <a:spcPts val="200"/>
              </a:spcAft>
              <a:buFont typeface="Calibri"/>
              <a:buChar char="•"/>
            </a:pPr>
            <a:r>
              <a:rPr sz="1050" b="1">
                <a:solidFill>
                  <a:srgbClr val="0B1F3A"/>
                </a:solidFill>
                <a:latin typeface="Calibri"/>
              </a:rPr>
              <a:t>(iv) Short Windows with Cooperative Retry-After Clients: </a:t>
            </a:r>
            <a:r>
              <a:rPr sz="1050" b="0">
                <a:solidFill>
                  <a:srgbClr val="1F2937"/>
                </a:solidFill>
                <a:latin typeface="Calibri"/>
              </a:rPr>
              <a:t>At C = 64 Retry-Aware mode, a 5 s Retry-After sleep consumes half of a 10 s trial (−76.6% RPS in v4, −66.3% in Fresh).</a:t>
            </a:r>
          </a:p>
          <a:p>
            <a:pPr algn="l" marL="182880" indent="-182880">
              <a:spcAft>
                <a:spcPts val="0"/>
              </a:spcAft>
              <a:buFont typeface="Calibri"/>
              <a:buChar char="•"/>
            </a:pPr>
            <a:r>
              <a:rPr sz="1050" b="1">
                <a:solidFill>
                  <a:srgbClr val="0B1F3A"/>
                </a:solidFill>
                <a:latin typeface="Calibri"/>
              </a:rPr>
              <a:t>(v) When Low Trial-to-Trial Overload Variance Is Required: </a:t>
            </a:r>
            <a:r>
              <a:rPr sz="1050" b="0">
                <a:solidFill>
                  <a:srgbClr val="1F2937"/>
                </a:solidFill>
                <a:latin typeface="Calibri"/>
              </a:rPr>
              <a:t>At C = 64 Retry-Aware mode in v4, synchronized retry waves cause wide dispersion (RPS CV 33%; p95: 2.55–108.27 ms).</a:t>
            </a:r>
          </a:p>
        </p:txBody>
      </p:sp>
      <p:sp>
        <p:nvSpPr>
          <p:cNvPr id="10" name="TextBox 9"/>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5.4–5.5, Table 5.6 &amp; Figures 5.5–5.6 (pp. 32–37)</a:t>
            </a:r>
          </a:p>
        </p:txBody>
      </p:sp>
      <p:sp>
        <p:nvSpPr>
          <p:cNvPr id="11" name="TextBox 10"/>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9 · ANALYSIS, LIMITATIONS</a:t>
            </a:r>
          </a:p>
          <a:p>
            <a:pPr algn="l">
              <a:spcAft>
                <a:spcPts val="300"/>
              </a:spcAft>
            </a:pPr>
            <a:r>
              <a:rPr sz="2700" b="1">
                <a:solidFill>
                  <a:srgbClr val="0B1F3A"/>
                </a:solidFill>
                <a:latin typeface="Cambria"/>
              </a:rPr>
              <a:t>Limitations &amp; Threats to Validity: Protocol &amp; Testbed Scope</a:t>
            </a:r>
          </a:p>
          <a:p>
            <a:pPr algn="l"/>
            <a:r>
              <a:rPr sz="1500" b="0">
                <a:solidFill>
                  <a:srgbClr val="5B6676"/>
                </a:solidFill>
                <a:latin typeface="Calibri"/>
              </a:rPr>
              <a:t>Why our server is a documented HTTP/1.1 subset and why benchmark claims are scoped to our loopback testbed</a:t>
            </a:r>
          </a:p>
        </p:txBody>
      </p:sp>
      <p:sp>
        <p:nvSpPr>
          <p:cNvPr id="4" name="Rounded Rectangle 3"/>
          <p:cNvSpPr/>
          <p:nvPr/>
        </p:nvSpPr>
        <p:spPr>
          <a:xfrm>
            <a:off x="594360" y="2011680"/>
            <a:ext cx="5349240" cy="41605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093976"/>
            <a:ext cx="5020055" cy="3995928"/>
          </a:xfrm>
          <a:prstGeom prst="rect">
            <a:avLst/>
          </a:prstGeom>
          <a:noFill/>
        </p:spPr>
        <p:txBody>
          <a:bodyPr wrap="square" anchor="t" lIns="0" tIns="0" rIns="0" bIns="0">
            <a:noAutofit/>
          </a:bodyPr>
          <a:lstStyle/>
          <a:p>
            <a:pPr algn="l">
              <a:spcAft>
                <a:spcPts val="300"/>
              </a:spcAft>
            </a:pPr>
            <a:r>
              <a:rPr sz="1500" b="1">
                <a:solidFill>
                  <a:srgbClr val="0B1F3A"/>
                </a:solidFill>
                <a:latin typeface="Cambria"/>
              </a:rPr>
              <a:t>1. Protocol, Concurrency &amp; Security Scope (Report §1.4, §5.5)</a:t>
            </a:r>
          </a:p>
          <a:p>
            <a:pPr algn="l" marL="182880" indent="-182880">
              <a:spcAft>
                <a:spcPts val="150"/>
              </a:spcAft>
              <a:buFont typeface="Calibri"/>
              <a:buChar char="•"/>
            </a:pPr>
            <a:r>
              <a:rPr sz="1120" b="1">
                <a:solidFill>
                  <a:srgbClr val="0B1F3A"/>
                </a:solidFill>
                <a:latin typeface="Calibri"/>
              </a:rPr>
              <a:t>Documented HTTP/1.1 Subset (Not Full RFC 9112): </a:t>
            </a:r>
            <a:r>
              <a:rPr sz="1120" b="0">
                <a:solidFill>
                  <a:srgbClr val="1F2937"/>
                </a:solidFill>
                <a:latin typeface="Calibri"/>
              </a:rPr>
              <a:t>Supports GET, HEAD, POST, Content-Length (≤10 MiB), and keep-alive. Does NOT implement chunked request decoding (Transfer-Encoding: chunked → 501 Not Implemented, an explicit deviation from RFC 9112 §6.1/§7.1); Expect: 100-continue → 417.</a:t>
            </a:r>
          </a:p>
          <a:p>
            <a:pPr algn="l" marL="182880" indent="-182880">
              <a:spcAft>
                <a:spcPts val="150"/>
              </a:spcAft>
              <a:buFont typeface="Calibri"/>
              <a:buChar char="•"/>
            </a:pPr>
            <a:r>
              <a:rPr sz="1120" b="1">
                <a:solidFill>
                  <a:srgbClr val="0B1F3A"/>
                </a:solidFill>
                <a:latin typeface="Calibri"/>
              </a:rPr>
              <a:t>Defensive Bare-LF Rejection: </a:t>
            </a:r>
            <a:r>
              <a:rPr sz="1120" b="0">
                <a:solidFill>
                  <a:srgbClr val="1F2937"/>
                </a:solidFill>
                <a:latin typeface="Calibri"/>
              </a:rPr>
              <a:t>Rejects bare LF line terminators with 400 Bad Request to prevent smuggling, even though RFC 9112 §2.2 permits recognizing bare LF.</a:t>
            </a:r>
          </a:p>
          <a:p>
            <a:pPr algn="l" marL="182880" indent="-182880">
              <a:spcAft>
                <a:spcPts val="150"/>
              </a:spcAft>
              <a:buFont typeface="Calibri"/>
              <a:buChar char="•"/>
            </a:pPr>
            <a:r>
              <a:rPr sz="1120" b="1">
                <a:solidFill>
                  <a:srgbClr val="0B1F3A"/>
                </a:solidFill>
                <a:latin typeface="Calibri"/>
              </a:rPr>
              <a:t>Out-of-Scope Protocols: </a:t>
            </a:r>
            <a:r>
              <a:rPr sz="1120" b="0">
                <a:solidFill>
                  <a:srgbClr val="1F2937"/>
                </a:solidFill>
                <a:latin typeface="Calibri"/>
              </a:rPr>
              <a:t>No TLS/HTTPS, HTTP/2, HTTP/3, range requests, caching validators, content compression, or virtual hosting. Not production-ready.</a:t>
            </a:r>
          </a:p>
          <a:p>
            <a:pPr algn="l" marL="182880" indent="-182880">
              <a:spcAft>
                <a:spcPts val="150"/>
              </a:spcAft>
              <a:buFont typeface="Calibri"/>
              <a:buChar char="•"/>
            </a:pPr>
            <a:r>
              <a:rPr sz="1120" b="1">
                <a:solidFill>
                  <a:srgbClr val="0B1F3A"/>
                </a:solidFill>
                <a:latin typeface="Calibri"/>
              </a:rPr>
              <a:t>Blocking Worker Pool &amp; Slow-Client Risk: </a:t>
            </a:r>
            <a:r>
              <a:rPr sz="1120" b="0">
                <a:solidFill>
                  <a:srgbClr val="1F2937"/>
                </a:solidFill>
                <a:latin typeface="Calibri"/>
              </a:rPr>
              <a:t>4 synchronous pthreads block per active connection (no epoll/io_uring); 4 slow clients trickling bytes within the 5 s deadline can monopolize all workers (Slowloris risk).</a:t>
            </a:r>
          </a:p>
          <a:p>
            <a:pPr algn="l" marL="182880" indent="-182880">
              <a:spcAft>
                <a:spcPts val="0"/>
              </a:spcAft>
              <a:buFont typeface="Calibri"/>
              <a:buChar char="•"/>
            </a:pPr>
            <a:r>
              <a:rPr sz="1120" b="1">
                <a:solidFill>
                  <a:srgbClr val="0B1F3A"/>
                </a:solidFill>
                <a:latin typeface="Calibri"/>
              </a:rPr>
              <a:t>Controller Parameter Heuristics: </a:t>
            </a:r>
            <a:r>
              <a:rPr sz="1120" b="0">
                <a:solidFill>
                  <a:srgbClr val="1F2937"/>
                </a:solidFill>
                <a:latin typeface="Calibri"/>
              </a:rPr>
              <a:t>1,000 ms sampling, 5-window recovery, and the 16-request cap were selected heuristically without a multi-parameter sensitivity sweep.</a:t>
            </a:r>
          </a:p>
        </p:txBody>
      </p:sp>
      <p:sp>
        <p:nvSpPr>
          <p:cNvPr id="6" name="Rounded Rectangle 5"/>
          <p:cNvSpPr/>
          <p:nvPr/>
        </p:nvSpPr>
        <p:spPr>
          <a:xfrm>
            <a:off x="6217920" y="2011680"/>
            <a:ext cx="5376672" cy="4160520"/>
          </a:xfrm>
          <a:prstGeom prst="roundRect">
            <a:avLst>
              <a:gd name="adj" fmla="val 4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82512" y="2093976"/>
            <a:ext cx="5047488" cy="3995928"/>
          </a:xfrm>
          <a:prstGeom prst="rect">
            <a:avLst/>
          </a:prstGeom>
          <a:noFill/>
        </p:spPr>
        <p:txBody>
          <a:bodyPr wrap="square" anchor="t" lIns="0" tIns="0" rIns="0" bIns="0">
            <a:noAutofit/>
          </a:bodyPr>
          <a:lstStyle/>
          <a:p>
            <a:pPr algn="l">
              <a:spcAft>
                <a:spcPts val="300"/>
              </a:spcAft>
            </a:pPr>
            <a:r>
              <a:rPr sz="1550" b="1">
                <a:solidFill>
                  <a:srgbClr val="0B1F3A"/>
                </a:solidFill>
                <a:latin typeface="Cambria"/>
              </a:rPr>
              <a:t>2. Experimental &amp; Measurement Threats to Validity (Report §6.2)</a:t>
            </a:r>
          </a:p>
          <a:p>
            <a:pPr algn="l" marL="182880" indent="-182880">
              <a:spcAft>
                <a:spcPts val="150"/>
              </a:spcAft>
              <a:buFont typeface="Calibri"/>
              <a:buChar char="•"/>
            </a:pPr>
            <a:r>
              <a:rPr sz="1170" b="1">
                <a:solidFill>
                  <a:srgbClr val="0B1F3A"/>
                </a:solidFill>
                <a:latin typeface="Calibri"/>
              </a:rPr>
              <a:t>Single-Host Loopback Contention: </a:t>
            </a:r>
            <a:r>
              <a:rPr sz="1170" b="0">
                <a:solidFill>
                  <a:srgbClr val="1F2937"/>
                </a:solidFill>
                <a:latin typeface="Calibri"/>
              </a:rPr>
              <a:t>Server and Python load generator run on the same host over 127.0.0.1, eliminating WAN RTT/packet loss while sharing host CPU and kernel scheduler.</a:t>
            </a:r>
          </a:p>
          <a:p>
            <a:pPr algn="l" marL="182880" indent="-182880">
              <a:spcAft>
                <a:spcPts val="150"/>
              </a:spcAft>
              <a:buFont typeface="Calibri"/>
              <a:buChar char="•"/>
            </a:pPr>
            <a:r>
              <a:rPr sz="1170" b="1">
                <a:solidFill>
                  <a:srgbClr val="0B1F3A"/>
                </a:solidFill>
                <a:latin typeface="Calibri"/>
              </a:rPr>
              <a:t>Synthetic /health Micro-Workload: </a:t>
            </a:r>
            <a:r>
              <a:rPr sz="1170" b="0">
                <a:solidFill>
                  <a:srgbClr val="1F2937"/>
                </a:solidFill>
                <a:latin typeface="Calibri"/>
              </a:rPr>
              <a:t>Benchmarks exclusively test GET /health (89-byte in-memory JSON); disk-backed sendfile(2) static files and large POST /api/echo bodies were functionally tested but not load-benchmarked.</a:t>
            </a:r>
          </a:p>
          <a:p>
            <a:pPr algn="l" marL="182880" indent="-182880">
              <a:spcAft>
                <a:spcPts val="150"/>
              </a:spcAft>
              <a:buFont typeface="Calibri"/>
              <a:buChar char="•"/>
            </a:pPr>
            <a:r>
              <a:rPr sz="1170" b="1">
                <a:solidFill>
                  <a:srgbClr val="0B1F3A"/>
                </a:solidFill>
                <a:latin typeface="Calibri"/>
              </a:rPr>
              <a:t>Closed-Loop Python Client Threads: </a:t>
            </a:r>
            <a:r>
              <a:rPr sz="1170" b="0">
                <a:solidFill>
                  <a:srgbClr val="1F2937"/>
                </a:solidFill>
                <a:latin typeface="Calibri"/>
              </a:rPr>
              <a:t>Python threading and GIL overhead can limit offered load at high concurrency compared to an open-loop C generator like wrk; at C ≤ 64, baseline queue depth never exceeded 60/64.</a:t>
            </a:r>
          </a:p>
          <a:p>
            <a:pPr algn="l" marL="182880" indent="-182880">
              <a:spcAft>
                <a:spcPts val="150"/>
              </a:spcAft>
              <a:buFont typeface="Calibri"/>
              <a:buChar char="•"/>
            </a:pPr>
            <a:r>
              <a:rPr sz="1170" b="1">
                <a:solidFill>
                  <a:srgbClr val="0B1F3A"/>
                </a:solidFill>
                <a:latin typeface="Calibri"/>
              </a:rPr>
              <a:t>Short 10 s Window vs. 5 s Retry-After: </a:t>
            </a:r>
            <a:r>
              <a:rPr sz="1170" b="0">
                <a:solidFill>
                  <a:srgbClr val="1F2937"/>
                </a:solidFill>
                <a:latin typeface="Calibri"/>
              </a:rPr>
              <a:t>A 10-second trial window heavily penalizes 2xx throughput when Retry-Aware clients sleep for 5 seconds (50% of the trial duration).</a:t>
            </a:r>
          </a:p>
          <a:p>
            <a:pPr algn="l" marL="182880" indent="-182880">
              <a:spcAft>
                <a:spcPts val="0"/>
              </a:spcAft>
              <a:buFont typeface="Calibri"/>
              <a:buChar char="•"/>
            </a:pPr>
            <a:r>
              <a:rPr sz="1170" b="1">
                <a:solidFill>
                  <a:srgbClr val="0B1F3A"/>
                </a:solidFill>
                <a:latin typeface="Calibri"/>
              </a:rPr>
              <a:t>Sample Size &amp; Missing v4 Host Metadata: </a:t>
            </a:r>
            <a:r>
              <a:rPr sz="1170" b="0">
                <a:solidFill>
                  <a:srgbClr val="1F2937"/>
                </a:solidFill>
                <a:latin typeface="Calibri"/>
              </a:rPr>
              <a:t>5 trials per cell without formal hypothesis tests; historical v4 CSVs did not log CPU model, clock speed, or temperature.</a:t>
            </a:r>
          </a:p>
        </p:txBody>
      </p:sp>
      <p:sp>
        <p:nvSpPr>
          <p:cNvPr id="8" name="TextBox 7"/>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1.4 (p. 8), 5.5 (pp. 36–37) &amp; 6.2 (p. 39)</a:t>
            </a:r>
          </a:p>
        </p:txBody>
      </p:sp>
      <p:sp>
        <p:nvSpPr>
          <p:cNvPr id="9" name="TextBox 8"/>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9 · ANALYSIS, LIMITATIONS</a:t>
            </a:r>
          </a:p>
          <a:p>
            <a:pPr algn="l">
              <a:spcAft>
                <a:spcPts val="300"/>
              </a:spcAft>
            </a:pPr>
            <a:r>
              <a:rPr sz="2700" b="1">
                <a:solidFill>
                  <a:srgbClr val="0B1F3A"/>
                </a:solidFill>
                <a:latin typeface="Cambria"/>
              </a:rPr>
              <a:t>Verification Chronology &amp; Readiness-Check Validation Scope</a:t>
            </a:r>
          </a:p>
          <a:p>
            <a:pPr algn="l"/>
            <a:r>
              <a:rPr sz="1500" b="0">
                <a:solidFill>
                  <a:srgbClr val="5B6676"/>
                </a:solidFill>
                <a:latin typeface="Calibri"/>
              </a:rPr>
              <a:t>Distinct 80-test vs. 92-test chronology, offline skip behavior, and post-benchmark readiness check (Appendix B.2 &amp; B.8)</a:t>
            </a:r>
          </a:p>
        </p:txBody>
      </p:sp>
      <p:sp>
        <p:nvSpPr>
          <p:cNvPr id="4" name="Rounded Rectangle 3"/>
          <p:cNvSpPr/>
          <p:nvPr/>
        </p:nvSpPr>
        <p:spPr>
          <a:xfrm>
            <a:off x="594360" y="1965960"/>
            <a:ext cx="5349240" cy="214884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40664" y="2011679"/>
            <a:ext cx="5056631" cy="2057400"/>
          </a:xfrm>
          <a:prstGeom prst="rect">
            <a:avLst/>
          </a:prstGeom>
          <a:noFill/>
        </p:spPr>
        <p:txBody>
          <a:bodyPr wrap="square" anchor="t" lIns="0" tIns="0" rIns="0" bIns="0">
            <a:noAutofit/>
          </a:bodyPr>
          <a:lstStyle/>
          <a:p>
            <a:pPr algn="l">
              <a:spcAft>
                <a:spcPts val="300"/>
              </a:spcAft>
            </a:pPr>
            <a:r>
              <a:rPr sz="1450" b="1">
                <a:solidFill>
                  <a:srgbClr val="0B1F3A"/>
                </a:solidFill>
                <a:latin typeface="Cambria"/>
              </a:rPr>
              <a:t>1. Strict Test Chronology: 80-Test Run vs. 92-Test Suite</a:t>
            </a:r>
          </a:p>
          <a:p>
            <a:pPr algn="l" marL="182880" indent="-182880">
              <a:spcAft>
                <a:spcPts val="150"/>
              </a:spcAft>
              <a:buFont typeface="Calibri"/>
              <a:buChar char="•"/>
            </a:pPr>
            <a:r>
              <a:rPr sz="1050" b="1">
                <a:solidFill>
                  <a:srgbClr val="0B1F3A"/>
                </a:solidFill>
                <a:latin typeface="Calibri"/>
              </a:rPr>
              <a:t>Stage 1 — Earlier Run: 80 Tests (Appendix B.2): </a:t>
            </a:r>
            <a:r>
              <a:rPr sz="1050" b="0">
                <a:solidFill>
                  <a:srgbClr val="1F2937"/>
                </a:solidFill>
                <a:latin typeface="Calibri"/>
              </a:rPr>
              <a:t>44 C17 unit tests (5 binaries: controller 13, parser 14, queue 4, responses 5, metrics 8) + 36 Python tests = 80/80 passing with server active (15 pass / 21 skip offline). C unit harnesses passed ASan+UBSan &amp; TSan; gcc -fanalyzer 0 warnings.</a:t>
            </a:r>
          </a:p>
          <a:p>
            <a:pPr algn="l" marL="182880" indent="-182880">
              <a:spcAft>
                <a:spcPts val="150"/>
              </a:spcAft>
              <a:buFont typeface="Calibri"/>
              <a:buChar char="•"/>
            </a:pPr>
            <a:r>
              <a:rPr sz="1050" b="1">
                <a:solidFill>
                  <a:srgbClr val="0B1F3A"/>
                </a:solidFill>
                <a:latin typeface="Calibri"/>
              </a:rPr>
              <a:t>Stage 2 — Readiness Suite: 92 Tests (App. B.8, Post-Rerun): </a:t>
            </a:r>
            <a:r>
              <a:rPr sz="1050" b="0">
                <a:solidFill>
                  <a:srgbClr val="1F2937"/>
                </a:solidFill>
                <a:latin typeface="Calibri"/>
              </a:rPr>
              <a:t>Added 12 readiness tests in tests/test_readiness_check.py. Server-active run (bash scripts/run_all_tests.sh): 44 C + 48 Python = 92/92 passing (0 skipped). Offline Python run without port-8080 server: 26 pass (14 accounting + 12 readiness), 22 server-dependent tests skipped.</a:t>
            </a:r>
          </a:p>
          <a:p>
            <a:pPr algn="l" marL="182880" indent="-182880">
              <a:spcAft>
                <a:spcPts val="0"/>
              </a:spcAft>
              <a:buFont typeface="Calibri"/>
              <a:buChar char="•"/>
            </a:pPr>
            <a:r>
              <a:rPr sz="1050" b="1">
                <a:solidFill>
                  <a:srgbClr val="0B1F3A"/>
                </a:solidFill>
                <a:latin typeface="Calibri"/>
              </a:rPr>
              <a:t>No Post-Patch Benchmark Rerun: </a:t>
            </a:r>
            <a:r>
              <a:rPr sz="1050" b="0">
                <a:solidFill>
                  <a:srgbClr val="1F2937"/>
                </a:solidFill>
                <a:latin typeface="Calibri"/>
              </a:rPr>
              <a:t>The 80-trial fresh performance rerun (App. B.7) was completed BEFORE Stage 2; the performance sweep was NOT rerun after the readiness-check refinement.</a:t>
            </a:r>
          </a:p>
        </p:txBody>
      </p:sp>
      <p:sp>
        <p:nvSpPr>
          <p:cNvPr id="6" name="Rounded Rectangle 5"/>
          <p:cNvSpPr/>
          <p:nvPr/>
        </p:nvSpPr>
        <p:spPr>
          <a:xfrm>
            <a:off x="594360" y="4206240"/>
            <a:ext cx="5349240" cy="1965960"/>
          </a:xfrm>
          <a:prstGeom prst="roundRect">
            <a:avLst>
              <a:gd name="adj" fmla="val 4000"/>
            </a:avLst>
          </a:prstGeom>
          <a:solidFill>
            <a:srgbClr val="DDF2F4"/>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58952" y="4270248"/>
            <a:ext cx="5020055" cy="1837943"/>
          </a:xfrm>
          <a:prstGeom prst="rect">
            <a:avLst/>
          </a:prstGeom>
          <a:noFill/>
        </p:spPr>
        <p:txBody>
          <a:bodyPr wrap="square" anchor="t" lIns="0" tIns="0" rIns="0" bIns="0">
            <a:noAutofit/>
          </a:bodyPr>
          <a:lstStyle/>
          <a:p>
            <a:pPr algn="l">
              <a:spcAft>
                <a:spcPts val="300"/>
              </a:spcAft>
            </a:pPr>
            <a:r>
              <a:rPr sz="1450" b="1">
                <a:solidFill>
                  <a:srgbClr val="0B1F3A"/>
                </a:solidFill>
                <a:latin typeface="Cambria"/>
              </a:rPr>
              <a:t>2. Readiness Check (wait_for_server) &amp; Timeout Scope</a:t>
            </a:r>
          </a:p>
          <a:p>
            <a:pPr algn="l" marL="182880" indent="-182880">
              <a:spcAft>
                <a:spcPts val="150"/>
              </a:spcAft>
              <a:buFont typeface="Calibri"/>
              <a:buChar char="•"/>
            </a:pPr>
            <a:r>
              <a:rPr sz="1050" b="1">
                <a:solidFill>
                  <a:srgbClr val="0B1F3A"/>
                </a:solidFill>
                <a:latin typeface="Calibri"/>
              </a:rPr>
              <a:t>Application-Level Identity Probe: </a:t>
            </a:r>
            <a:r>
              <a:rPr sz="1050" b="0">
                <a:solidFill>
                  <a:srgbClr val="1F2937"/>
                </a:solidFill>
                <a:latin typeface="Calibri"/>
              </a:rPr>
              <a:t>Refined wait_for_server() in run_reproducible_evaluation.py sends GET /health and requires HTTP 200, valid JSON dict, status='healthy', server='HTTP-Server-C17/1.0.0', and protocol='HTTP/1.1' so an unrelated listener on port 8080 is never mistaken for our server.</a:t>
            </a:r>
          </a:p>
          <a:p>
            <a:pPr algn="l" marL="182880" indent="-182880">
              <a:spcAft>
                <a:spcPts val="0"/>
              </a:spcAft>
              <a:buFont typeface="Calibri"/>
              <a:buChar char="•"/>
            </a:pPr>
            <a:r>
              <a:rPr sz="1050" b="1">
                <a:solidFill>
                  <a:srgbClr val="0B1F3A"/>
                </a:solidFill>
                <a:latin typeface="Calibri"/>
              </a:rPr>
              <a:t>Honest Timeout Qualification: </a:t>
            </a:r>
            <a:r>
              <a:rPr sz="1050" b="0">
                <a:solidFill>
                  <a:srgbClr val="1F2937"/>
                </a:solidFill>
                <a:latin typeface="Calibri"/>
              </a:rPr>
              <a:t>Uses time.monotonic() deadline and caps each HTTPConnection timeout to min(remaining, 1.0) and retry sleep to min(0.05, remaining). Bounds individual blocking calls/sleeps, NOT a hard preemptive cutoff against a slow-trickle peer.</a:t>
            </a:r>
          </a:p>
        </p:txBody>
      </p:sp>
      <p:sp>
        <p:nvSpPr>
          <p:cNvPr id="8" name="Rounded Rectangle 7"/>
          <p:cNvSpPr/>
          <p:nvPr/>
        </p:nvSpPr>
        <p:spPr>
          <a:xfrm>
            <a:off x="6172200" y="1965960"/>
            <a:ext cx="5422392" cy="2240280"/>
          </a:xfrm>
          <a:prstGeom prst="roundRect">
            <a:avLst>
              <a:gd name="adj" fmla="val 3000"/>
            </a:avLst>
          </a:prstGeom>
          <a:solidFill>
            <a:srgbClr val="111B2B"/>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54496" y="2011679"/>
            <a:ext cx="5257800" cy="2148840"/>
          </a:xfrm>
          <a:prstGeom prst="rect">
            <a:avLst/>
          </a:prstGeom>
          <a:noFill/>
        </p:spPr>
        <p:txBody>
          <a:bodyPr wrap="square" anchor="t" lIns="0" tIns="0" rIns="0" bIns="0">
            <a:noAutofit/>
          </a:bodyPr>
          <a:lstStyle/>
          <a:p>
            <a:pPr algn="l">
              <a:spcAft>
                <a:spcPts val="300"/>
              </a:spcAft>
            </a:pPr>
            <a:r>
              <a:rPr sz="1230" b="1">
                <a:solidFill>
                  <a:srgbClr val="5FD3DD"/>
                </a:solidFill>
                <a:latin typeface="Calibri"/>
              </a:rPr>
              <a:t>Excerpt: benchmark/run_reproducible_evaluation.py (wait_for_server)</a:t>
            </a:r>
          </a:p>
          <a:p>
            <a:pPr algn="l">
              <a:spcAft>
                <a:spcPts val="0"/>
              </a:spcAft>
            </a:pPr>
            <a:r>
              <a:rPr sz="940" b="0">
                <a:solidFill>
                  <a:srgbClr val="F8FAFC"/>
                </a:solidFill>
                <a:latin typeface="Consolas"/>
              </a:rPr>
              <a:t>start = time.monotonic(); deadline = start + max_wait_sec</a:t>
            </a:r>
          </a:p>
          <a:p>
            <a:pPr algn="l">
              <a:spcAft>
                <a:spcPts val="0"/>
              </a:spcAft>
            </a:pPr>
            <a:r>
              <a:rPr sz="940" b="0">
                <a:solidFill>
                  <a:srgbClr val="F8FAFC"/>
                </a:solidFill>
                <a:latin typeface="Consolas"/>
              </a:rPr>
              <a:t>while (rem := deadline - time.monotonic()) &gt; 0:</a:t>
            </a:r>
          </a:p>
          <a:p>
            <a:pPr algn="l">
              <a:spcAft>
                <a:spcPts val="0"/>
              </a:spcAft>
            </a:pPr>
            <a:r>
              <a:rPr sz="940" b="0">
                <a:solidFill>
                  <a:srgbClr val="F8FAFC"/>
                </a:solidFill>
                <a:latin typeface="Consolas"/>
              </a:rPr>
              <a:t>    conn = HTTPConnection(host, port, timeout=min(rem, 1.0))</a:t>
            </a:r>
          </a:p>
          <a:p>
            <a:pPr algn="l">
              <a:spcAft>
                <a:spcPts val="0"/>
              </a:spcAft>
            </a:pPr>
            <a:r>
              <a:rPr sz="940" b="0">
                <a:solidFill>
                  <a:srgbClr val="F8FAFC"/>
                </a:solidFill>
                <a:latin typeface="Consolas"/>
              </a:rPr>
              <a:t>    conn.request("GET", "/health", headers={"Host": hdr})</a:t>
            </a:r>
          </a:p>
          <a:p>
            <a:pPr algn="l">
              <a:spcAft>
                <a:spcPts val="0"/>
              </a:spcAft>
            </a:pPr>
            <a:r>
              <a:rPr sz="940" b="0">
                <a:solidFill>
                  <a:srgbClr val="F8FAFC"/>
                </a:solidFill>
                <a:latin typeface="Consolas"/>
              </a:rPr>
              <a:t>    resp = conn.getresponse()</a:t>
            </a:r>
          </a:p>
          <a:p>
            <a:pPr algn="l">
              <a:spcAft>
                <a:spcPts val="0"/>
              </a:spcAft>
            </a:pPr>
            <a:r>
              <a:rPr sz="940" b="0">
                <a:solidFill>
                  <a:srgbClr val="F8FAFC"/>
                </a:solidFill>
                <a:latin typeface="Consolas"/>
              </a:rPr>
              <a:t>    if resp.status == 200:</a:t>
            </a:r>
          </a:p>
          <a:p>
            <a:pPr algn="l">
              <a:spcAft>
                <a:spcPts val="0"/>
              </a:spcAft>
            </a:pPr>
            <a:r>
              <a:rPr sz="940" b="0">
                <a:solidFill>
                  <a:srgbClr val="F8FAFC"/>
                </a:solidFill>
                <a:latin typeface="Consolas"/>
              </a:rPr>
              <a:t>        d = json.loads(resp.read(65536).decode("utf-8"))</a:t>
            </a:r>
          </a:p>
          <a:p>
            <a:pPr algn="l">
              <a:spcAft>
                <a:spcPts val="0"/>
              </a:spcAft>
            </a:pPr>
            <a:r>
              <a:rPr sz="940" b="0">
                <a:solidFill>
                  <a:srgbClr val="F8FAFC"/>
                </a:solidFill>
                <a:latin typeface="Consolas"/>
              </a:rPr>
              <a:t>        if d.get("status") == "healthy" and d.get("server") == ID:</a:t>
            </a:r>
          </a:p>
          <a:p>
            <a:pPr algn="l">
              <a:spcAft>
                <a:spcPts val="0"/>
              </a:spcAft>
            </a:pPr>
            <a:r>
              <a:rPr sz="940" b="0">
                <a:solidFill>
                  <a:srgbClr val="F8FAFC"/>
                </a:solidFill>
                <a:latin typeface="Consolas"/>
              </a:rPr>
              <a:t>            return (d.get("protocol") == "HTTP/1.1")</a:t>
            </a:r>
          </a:p>
          <a:p>
            <a:pPr algn="l">
              <a:spcAft>
                <a:spcPts val="0"/>
              </a:spcAft>
            </a:pPr>
            <a:r>
              <a:rPr sz="940" b="0">
                <a:solidFill>
                  <a:srgbClr val="F8FAFC"/>
                </a:solidFill>
                <a:latin typeface="Consolas"/>
              </a:rPr>
              <a:t>    time.sleep(min(0.05, max(0.0, deadline - time.monotonic())))</a:t>
            </a:r>
          </a:p>
        </p:txBody>
      </p:sp>
      <p:graphicFrame>
        <p:nvGraphicFramePr>
          <p:cNvPr id="10" name="Table 9"/>
          <p:cNvGraphicFramePr>
            <a:graphicFrameLocks noGrp="1"/>
          </p:cNvGraphicFramePr>
          <p:nvPr/>
        </p:nvGraphicFramePr>
        <p:xfrm>
          <a:off x="6172200" y="4315968"/>
          <a:ext cx="5422392" cy="731520"/>
        </p:xfrm>
        <a:graphic>
          <a:graphicData uri="http://schemas.openxmlformats.org/drawingml/2006/table">
            <a:tbl>
              <a:tblPr firstRow="1" bandRow="1">
                <a:tableStyleId>{5C22544A-7EE6-4342-B048-85BDC9FD1C3A}</a:tableStyleId>
              </a:tblPr>
              <a:tblGrid>
                <a:gridCol w="1600200"/>
                <a:gridCol w="749808"/>
                <a:gridCol w="804672"/>
                <a:gridCol w="896112"/>
                <a:gridCol w="1371600"/>
              </a:tblGrid>
              <a:tr h="146304">
                <a:tc>
                  <a:txBody>
                    <a:bodyPr/>
                    <a:lstStyle/>
                    <a:p>
                      <a:pPr algn="l"/>
                      <a:r>
                        <a:rPr sz="1000" b="1">
                          <a:solidFill>
                            <a:srgbClr val="FFFFFF"/>
                          </a:solidFill>
                          <a:latin typeface="Calibri"/>
                        </a:rPr>
                        <a:t>Test Suite Component</a:t>
                      </a:r>
                    </a:p>
                  </a:txBody>
                  <a:tcPr anchor="ctr" marL="32004" marR="32004" marT="10972" marB="10972">
                    <a:solidFill>
                      <a:srgbClr val="0B1F3A"/>
                    </a:solidFill>
                  </a:tcPr>
                </a:tc>
                <a:tc>
                  <a:txBody>
                    <a:bodyPr/>
                    <a:lstStyle/>
                    <a:p>
                      <a:pPr algn="l"/>
                      <a:r>
                        <a:rPr sz="1000" b="1">
                          <a:solidFill>
                            <a:srgbClr val="FFFFFF"/>
                          </a:solidFill>
                          <a:latin typeface="Calibri"/>
                        </a:rPr>
                        <a:t>Stage 1 (App. B.2)</a:t>
                      </a:r>
                    </a:p>
                  </a:txBody>
                  <a:tcPr anchor="ctr" marL="32004" marR="32004" marT="10972" marB="10972">
                    <a:solidFill>
                      <a:srgbClr val="0B1F3A"/>
                    </a:solidFill>
                  </a:tcPr>
                </a:tc>
                <a:tc>
                  <a:txBody>
                    <a:bodyPr/>
                    <a:lstStyle/>
                    <a:p>
                      <a:pPr algn="l"/>
                      <a:r>
                        <a:rPr sz="1000" b="1">
                          <a:solidFill>
                            <a:srgbClr val="FFFFFF"/>
                          </a:solidFill>
                          <a:latin typeface="Calibri"/>
                        </a:rPr>
                        <a:t>Stage 2 Active</a:t>
                      </a:r>
                    </a:p>
                  </a:txBody>
                  <a:tcPr anchor="ctr" marL="32004" marR="32004" marT="10972" marB="10972">
                    <a:solidFill>
                      <a:srgbClr val="0B1F3A"/>
                    </a:solidFill>
                  </a:tcPr>
                </a:tc>
                <a:tc>
                  <a:txBody>
                    <a:bodyPr/>
                    <a:lstStyle/>
                    <a:p>
                      <a:pPr algn="l"/>
                      <a:r>
                        <a:rPr sz="1000" b="1">
                          <a:solidFill>
                            <a:srgbClr val="FFFFFF"/>
                          </a:solidFill>
                          <a:latin typeface="Calibri"/>
                        </a:rPr>
                        <a:t>Stage 2 Offline</a:t>
                      </a:r>
                    </a:p>
                  </a:txBody>
                  <a:tcPr anchor="ctr" marL="32004" marR="32004" marT="10972" marB="10972">
                    <a:solidFill>
                      <a:srgbClr val="0B1F3A"/>
                    </a:solidFill>
                  </a:tcPr>
                </a:tc>
                <a:tc>
                  <a:txBody>
                    <a:bodyPr/>
                    <a:lstStyle/>
                    <a:p>
                      <a:pPr algn="l"/>
                      <a:r>
                        <a:rPr sz="1000" b="1">
                          <a:solidFill>
                            <a:srgbClr val="FFFFFF"/>
                          </a:solidFill>
                          <a:latin typeface="Calibri"/>
                        </a:rPr>
                        <a:t>Scope Verified</a:t>
                      </a:r>
                    </a:p>
                  </a:txBody>
                  <a:tcPr anchor="ctr" marL="32004" marR="32004" marT="10972" marB="10972">
                    <a:solidFill>
                      <a:srgbClr val="0B1F3A"/>
                    </a:solidFill>
                  </a:tcPr>
                </a:tc>
              </a:tr>
              <a:tr h="146304">
                <a:tc>
                  <a:txBody>
                    <a:bodyPr/>
                    <a:lstStyle/>
                    <a:p>
                      <a:pPr algn="l"/>
                      <a:r>
                        <a:rPr sz="919" b="1">
                          <a:solidFill>
                            <a:srgbClr val="1F2937"/>
                          </a:solidFill>
                          <a:latin typeface="Calibri"/>
                        </a:rPr>
                        <a:t>5 C17 Unit Binaries (make test)</a:t>
                      </a:r>
                    </a:p>
                  </a:txBody>
                  <a:tcPr anchor="ctr" marL="32004" marR="32004" marT="10972" marB="10972">
                    <a:solidFill>
                      <a:srgbClr val="F3F6F9"/>
                    </a:solidFill>
                  </a:tcPr>
                </a:tc>
                <a:tc>
                  <a:txBody>
                    <a:bodyPr/>
                    <a:lstStyle/>
                    <a:p>
                      <a:pPr algn="l"/>
                      <a:r>
                        <a:rPr sz="919" b="0">
                          <a:solidFill>
                            <a:srgbClr val="1F2937"/>
                          </a:solidFill>
                          <a:latin typeface="Calibri"/>
                        </a:rPr>
                        <a:t>44 pass</a:t>
                      </a:r>
                    </a:p>
                  </a:txBody>
                  <a:tcPr anchor="ctr" marL="32004" marR="32004" marT="10972" marB="10972">
                    <a:solidFill>
                      <a:srgbClr val="F3F6F9"/>
                    </a:solidFill>
                  </a:tcPr>
                </a:tc>
                <a:tc>
                  <a:txBody>
                    <a:bodyPr/>
                    <a:lstStyle/>
                    <a:p>
                      <a:pPr algn="l"/>
                      <a:r>
                        <a:rPr sz="919" b="0">
                          <a:solidFill>
                            <a:srgbClr val="1F2937"/>
                          </a:solidFill>
                          <a:latin typeface="Calibri"/>
                        </a:rPr>
                        <a:t>44 pass</a:t>
                      </a:r>
                    </a:p>
                  </a:txBody>
                  <a:tcPr anchor="ctr" marL="32004" marR="32004" marT="10972" marB="10972">
                    <a:solidFill>
                      <a:srgbClr val="F3F6F9"/>
                    </a:solidFill>
                  </a:tcPr>
                </a:tc>
                <a:tc>
                  <a:txBody>
                    <a:bodyPr/>
                    <a:lstStyle/>
                    <a:p>
                      <a:pPr algn="l"/>
                      <a:r>
                        <a:rPr sz="919" b="0">
                          <a:solidFill>
                            <a:srgbClr val="1F2937"/>
                          </a:solidFill>
                          <a:latin typeface="Calibri"/>
                        </a:rPr>
                        <a:t>44 pass</a:t>
                      </a:r>
                    </a:p>
                  </a:txBody>
                  <a:tcPr anchor="ctr" marL="32004" marR="32004" marT="10972" marB="10972">
                    <a:solidFill>
                      <a:srgbClr val="F3F6F9"/>
                    </a:solidFill>
                  </a:tcPr>
                </a:tc>
                <a:tc>
                  <a:txBody>
                    <a:bodyPr/>
                    <a:lstStyle/>
                    <a:p>
                      <a:pPr algn="l"/>
                      <a:r>
                        <a:rPr sz="919" b="0">
                          <a:solidFill>
                            <a:srgbClr val="1F2937"/>
                          </a:solidFill>
                          <a:latin typeface="Calibri"/>
                        </a:rPr>
                        <a:t>Controller (13), Parser (14), Queue (4), Resp (5), Metrics (8)</a:t>
                      </a:r>
                    </a:p>
                  </a:txBody>
                  <a:tcPr anchor="ctr" marL="32004" marR="32004" marT="10972" marB="10972">
                    <a:solidFill>
                      <a:srgbClr val="F3F6F9"/>
                    </a:solidFill>
                  </a:tcPr>
                </a:tc>
              </a:tr>
              <a:tr h="146304">
                <a:tc>
                  <a:txBody>
                    <a:bodyPr/>
                    <a:lstStyle/>
                    <a:p>
                      <a:pPr algn="l"/>
                      <a:r>
                        <a:rPr sz="919" b="1">
                          <a:solidFill>
                            <a:srgbClr val="1F2937"/>
                          </a:solidFill>
                          <a:latin typeface="Calibri"/>
                        </a:rPr>
                        <a:t>Python Accounting / Protocol / Sec</a:t>
                      </a:r>
                    </a:p>
                  </a:txBody>
                  <a:tcPr anchor="ctr" marL="32004" marR="32004" marT="10972" marB="10972">
                    <a:solidFill>
                      <a:srgbClr val="FFFFFF"/>
                    </a:solidFill>
                  </a:tcPr>
                </a:tc>
                <a:tc>
                  <a:txBody>
                    <a:bodyPr/>
                    <a:lstStyle/>
                    <a:p>
                      <a:pPr algn="l"/>
                      <a:r>
                        <a:rPr sz="919" b="0">
                          <a:solidFill>
                            <a:srgbClr val="1F2937"/>
                          </a:solidFill>
                          <a:latin typeface="Calibri"/>
                        </a:rPr>
                        <a:t>36 pass</a:t>
                      </a:r>
                    </a:p>
                  </a:txBody>
                  <a:tcPr anchor="ctr" marL="32004" marR="32004" marT="10972" marB="10972">
                    <a:solidFill>
                      <a:srgbClr val="FFFFFF"/>
                    </a:solidFill>
                  </a:tcPr>
                </a:tc>
                <a:tc>
                  <a:txBody>
                    <a:bodyPr/>
                    <a:lstStyle/>
                    <a:p>
                      <a:pPr algn="l"/>
                      <a:r>
                        <a:rPr sz="919" b="0">
                          <a:solidFill>
                            <a:srgbClr val="1F2937"/>
                          </a:solidFill>
                          <a:latin typeface="Calibri"/>
                        </a:rPr>
                        <a:t>36 pass</a:t>
                      </a:r>
                    </a:p>
                  </a:txBody>
                  <a:tcPr anchor="ctr" marL="32004" marR="32004" marT="10972" marB="10972">
                    <a:solidFill>
                      <a:srgbClr val="FFFFFF"/>
                    </a:solidFill>
                  </a:tcPr>
                </a:tc>
                <a:tc>
                  <a:txBody>
                    <a:bodyPr/>
                    <a:lstStyle/>
                    <a:p>
                      <a:pPr algn="l"/>
                      <a:r>
                        <a:rPr sz="919" b="0">
                          <a:solidFill>
                            <a:srgbClr val="1F2937"/>
                          </a:solidFill>
                          <a:latin typeface="Calibri"/>
                        </a:rPr>
                        <a:t>14 pass / 22 skip</a:t>
                      </a:r>
                    </a:p>
                  </a:txBody>
                  <a:tcPr anchor="ctr" marL="32004" marR="32004" marT="10972" marB="10972">
                    <a:solidFill>
                      <a:srgbClr val="FFFFFF"/>
                    </a:solidFill>
                  </a:tcPr>
                </a:tc>
                <a:tc>
                  <a:txBody>
                    <a:bodyPr/>
                    <a:lstStyle/>
                    <a:p>
                      <a:pPr algn="l"/>
                      <a:r>
                        <a:rPr sz="919" b="0">
                          <a:solidFill>
                            <a:srgbClr val="1F2937"/>
                          </a:solidFill>
                          <a:latin typeface="Calibri"/>
                        </a:rPr>
                        <a:t>22 live-server tests skip via @skipUnless if port 8080 offline</a:t>
                      </a:r>
                    </a:p>
                  </a:txBody>
                  <a:tcPr anchor="ctr" marL="32004" marR="32004" marT="10972" marB="10972">
                    <a:solidFill>
                      <a:srgbClr val="FFFFFF"/>
                    </a:solidFill>
                  </a:tcPr>
                </a:tc>
              </a:tr>
              <a:tr h="146304">
                <a:tc>
                  <a:txBody>
                    <a:bodyPr/>
                    <a:lstStyle/>
                    <a:p>
                      <a:pPr algn="l"/>
                      <a:r>
                        <a:rPr sz="919" b="1">
                          <a:solidFill>
                            <a:srgbClr val="1F2937"/>
                          </a:solidFill>
                          <a:latin typeface="Calibri"/>
                        </a:rPr>
                        <a:t>tests/test_readiness_check.py</a:t>
                      </a:r>
                    </a:p>
                  </a:txBody>
                  <a:tcPr anchor="ctr" marL="32004" marR="32004" marT="10972" marB="10972">
                    <a:solidFill>
                      <a:srgbClr val="F3F6F9"/>
                    </a:solidFill>
                  </a:tcPr>
                </a:tc>
                <a:tc>
                  <a:txBody>
                    <a:bodyPr/>
                    <a:lstStyle/>
                    <a:p>
                      <a:pPr algn="l"/>
                      <a:r>
                        <a:rPr sz="919" b="0">
                          <a:solidFill>
                            <a:srgbClr val="1F2937"/>
                          </a:solidFill>
                          <a:latin typeface="Calibri"/>
                        </a:rPr>
                        <a:t>(Post-B.7)</a:t>
                      </a:r>
                    </a:p>
                  </a:txBody>
                  <a:tcPr anchor="ctr" marL="32004" marR="32004" marT="10972" marB="10972">
                    <a:solidFill>
                      <a:srgbClr val="F3F6F9"/>
                    </a:solidFill>
                  </a:tcPr>
                </a:tc>
                <a:tc>
                  <a:txBody>
                    <a:bodyPr/>
                    <a:lstStyle/>
                    <a:p>
                      <a:pPr algn="l"/>
                      <a:r>
                        <a:rPr sz="919" b="0">
                          <a:solidFill>
                            <a:srgbClr val="1F2937"/>
                          </a:solidFill>
                          <a:latin typeface="Calibri"/>
                        </a:rPr>
                        <a:t>12 pass</a:t>
                      </a:r>
                    </a:p>
                  </a:txBody>
                  <a:tcPr anchor="ctr" marL="32004" marR="32004" marT="10972" marB="10972">
                    <a:solidFill>
                      <a:srgbClr val="F3F6F9"/>
                    </a:solidFill>
                  </a:tcPr>
                </a:tc>
                <a:tc>
                  <a:txBody>
                    <a:bodyPr/>
                    <a:lstStyle/>
                    <a:p>
                      <a:pPr algn="l"/>
                      <a:r>
                        <a:rPr sz="919" b="0">
                          <a:solidFill>
                            <a:srgbClr val="1F2937"/>
                          </a:solidFill>
                          <a:latin typeface="Calibri"/>
                        </a:rPr>
                        <a:t>12 pass</a:t>
                      </a:r>
                    </a:p>
                  </a:txBody>
                  <a:tcPr anchor="ctr" marL="32004" marR="32004" marT="10972" marB="10972">
                    <a:solidFill>
                      <a:srgbClr val="F3F6F9"/>
                    </a:solidFill>
                  </a:tcPr>
                </a:tc>
                <a:tc>
                  <a:txBody>
                    <a:bodyPr/>
                    <a:lstStyle/>
                    <a:p>
                      <a:pPr algn="l"/>
                      <a:r>
                        <a:rPr sz="919" b="0">
                          <a:solidFill>
                            <a:srgbClr val="1F2937"/>
                          </a:solidFill>
                          <a:latin typeface="Calibri"/>
                        </a:rPr>
                        <a:t>Ephemeral-port mock servers (Cases 1–6) + live C17 binary (Case 7)</a:t>
                      </a:r>
                    </a:p>
                  </a:txBody>
                  <a:tcPr anchor="ctr" marL="32004" marR="32004" marT="10972" marB="10972">
                    <a:solidFill>
                      <a:srgbClr val="F3F6F9"/>
                    </a:solidFill>
                  </a:tcPr>
                </a:tc>
              </a:tr>
              <a:tr h="146304">
                <a:tc>
                  <a:txBody>
                    <a:bodyPr/>
                    <a:lstStyle/>
                    <a:p>
                      <a:pPr algn="l"/>
                      <a:r>
                        <a:rPr sz="919" b="1">
                          <a:solidFill>
                            <a:srgbClr val="2E8B57"/>
                          </a:solidFill>
                          <a:latin typeface="Calibri"/>
                        </a:rPr>
                        <a:t>Total Automated Tests</a:t>
                      </a:r>
                    </a:p>
                  </a:txBody>
                  <a:tcPr anchor="ctr" marL="32004" marR="32004" marT="10972" marB="10972">
                    <a:solidFill>
                      <a:srgbClr val="E3F3EA"/>
                    </a:solidFill>
                  </a:tcPr>
                </a:tc>
                <a:tc>
                  <a:txBody>
                    <a:bodyPr/>
                    <a:lstStyle/>
                    <a:p>
                      <a:pPr algn="l"/>
                      <a:r>
                        <a:rPr sz="919" b="1">
                          <a:solidFill>
                            <a:srgbClr val="0B1F3A"/>
                          </a:solidFill>
                          <a:latin typeface="Calibri"/>
                        </a:rPr>
                        <a:t>80 pass</a:t>
                      </a:r>
                    </a:p>
                  </a:txBody>
                  <a:tcPr anchor="ctr" marL="32004" marR="32004" marT="10972" marB="10972">
                    <a:solidFill>
                      <a:srgbClr val="DCE6F2"/>
                    </a:solidFill>
                  </a:tcPr>
                </a:tc>
                <a:tc>
                  <a:txBody>
                    <a:bodyPr/>
                    <a:lstStyle/>
                    <a:p>
                      <a:pPr algn="l"/>
                      <a:r>
                        <a:rPr sz="919" b="1">
                          <a:solidFill>
                            <a:srgbClr val="2E8B57"/>
                          </a:solidFill>
                          <a:latin typeface="Calibri"/>
                        </a:rPr>
                        <a:t>92 / 92 pass</a:t>
                      </a:r>
                    </a:p>
                  </a:txBody>
                  <a:tcPr anchor="ctr" marL="32004" marR="32004" marT="10972" marB="10972">
                    <a:solidFill>
                      <a:srgbClr val="E3F3EA"/>
                    </a:solidFill>
                  </a:tcPr>
                </a:tc>
                <a:tc>
                  <a:txBody>
                    <a:bodyPr/>
                    <a:lstStyle/>
                    <a:p>
                      <a:pPr algn="l"/>
                      <a:r>
                        <a:rPr sz="919" b="0">
                          <a:solidFill>
                            <a:srgbClr val="1F2937"/>
                          </a:solidFill>
                          <a:latin typeface="Calibri"/>
                        </a:rPr>
                        <a:t>26 Py pass / 22 skip</a:t>
                      </a:r>
                    </a:p>
                  </a:txBody>
                  <a:tcPr anchor="ctr" marL="32004" marR="32004" marT="10972" marB="10972">
                    <a:solidFill>
                      <a:srgbClr val="FFFFFF"/>
                    </a:solidFill>
                  </a:tcPr>
                </a:tc>
                <a:tc>
                  <a:txBody>
                    <a:bodyPr/>
                    <a:lstStyle/>
                    <a:p>
                      <a:pPr algn="l"/>
                      <a:r>
                        <a:rPr sz="919" b="0">
                          <a:solidFill>
                            <a:srgbClr val="1F2937"/>
                          </a:solidFill>
                          <a:latin typeface="Calibri"/>
                        </a:rPr>
                        <a:t>Old 72-test claim &amp; unverified 06_test_results.png excluded</a:t>
                      </a:r>
                    </a:p>
                  </a:txBody>
                  <a:tcPr anchor="ctr" marL="32004" marR="32004" marT="10972" marB="10972">
                    <a:solidFill>
                      <a:srgbClr val="FFFFFF"/>
                    </a:solidFill>
                  </a:tcPr>
                </a:tc>
              </a:tr>
            </a:tbl>
          </a:graphicData>
        </a:graphic>
      </p:graphicFrame>
      <p:sp>
        <p:nvSpPr>
          <p:cNvPr id="11" name="TextBox 10"/>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4.4 (p. 25), Appendix B.2 (pp. 46–47) &amp; Appendix B.8 (p. 54)</a:t>
            </a:r>
          </a:p>
        </p:txBody>
      </p:sp>
      <p:sp>
        <p:nvSpPr>
          <p:cNvPr id="12" name="TextBox 11"/>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10 · CONCLUSION, FUTURE WORK AND REFERENCES</a:t>
            </a:r>
          </a:p>
          <a:p>
            <a:pPr algn="l">
              <a:spcAft>
                <a:spcPts val="300"/>
              </a:spcAft>
            </a:pPr>
            <a:r>
              <a:rPr sz="2700" b="1">
                <a:solidFill>
                  <a:srgbClr val="0B1F3A"/>
                </a:solidFill>
                <a:latin typeface="Cambria"/>
              </a:rPr>
              <a:t>Conclusion, Quantified Findings &amp; Future Work Proposals</a:t>
            </a:r>
          </a:p>
          <a:p>
            <a:pPr algn="l"/>
            <a:r>
              <a:rPr sz="1500" b="0">
                <a:solidFill>
                  <a:srgbClr val="5B6676"/>
                </a:solidFill>
                <a:latin typeface="Calibri"/>
              </a:rPr>
              <a:t>Summary of delivered C17 system, qualified experimental findings (Report §6.1), and unimplemented future proposals (§6.3)</a:t>
            </a:r>
          </a:p>
        </p:txBody>
      </p:sp>
      <p:sp>
        <p:nvSpPr>
          <p:cNvPr id="4" name="Rounded Rectangle 3"/>
          <p:cNvSpPr/>
          <p:nvPr/>
        </p:nvSpPr>
        <p:spPr>
          <a:xfrm>
            <a:off x="594360" y="1965960"/>
            <a:ext cx="5440680" cy="420624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039112"/>
            <a:ext cx="5111496" cy="4059935"/>
          </a:xfrm>
          <a:prstGeom prst="rect">
            <a:avLst/>
          </a:prstGeom>
          <a:noFill/>
        </p:spPr>
        <p:txBody>
          <a:bodyPr wrap="square" anchor="t" lIns="0" tIns="0" rIns="0" bIns="0">
            <a:noAutofit/>
          </a:bodyPr>
          <a:lstStyle/>
          <a:p>
            <a:pPr algn="l">
              <a:spcAft>
                <a:spcPts val="300"/>
              </a:spcAft>
            </a:pPr>
            <a:r>
              <a:rPr sz="1500" b="1">
                <a:solidFill>
                  <a:srgbClr val="0B1F3A"/>
                </a:solidFill>
                <a:latin typeface="Cambria"/>
              </a:rPr>
              <a:t>1. Engineering Contribution &amp; Quantified Findings (Report §6.1)</a:t>
            </a:r>
          </a:p>
          <a:p>
            <a:pPr algn="l" marL="182880" indent="-182880">
              <a:spcAft>
                <a:spcPts val="150"/>
              </a:spcAft>
              <a:buFont typeface="Calibri"/>
              <a:buChar char="•"/>
            </a:pPr>
            <a:r>
              <a:rPr sz="1090" b="1">
                <a:solidFill>
                  <a:srgbClr val="0B1F3A"/>
                </a:solidFill>
                <a:latin typeface="Calibri"/>
              </a:rPr>
              <a:t>From-Scratch C17 HTTP/1.1 Server: </a:t>
            </a:r>
            <a:r>
              <a:rPr sz="1090" b="0">
                <a:solidFill>
                  <a:srgbClr val="1F2937"/>
                </a:solidFill>
                <a:latin typeface="Calibri"/>
              </a:rPr>
              <a:t>Implemented on raw POSIX TCP sockets and pthreads (3,569 snapshot / 3,573 ZIP lines in 12 .c files, 1,144 lines in 11 .h files), verified by 92 automated tests (44 C + 48 Python).</a:t>
            </a:r>
          </a:p>
          <a:p>
            <a:pPr algn="l" marL="182880" indent="-182880">
              <a:spcAft>
                <a:spcPts val="150"/>
              </a:spcAft>
              <a:buFont typeface="Calibri"/>
              <a:buChar char="•"/>
            </a:pPr>
            <a:r>
              <a:rPr sz="1090" b="1">
                <a:solidFill>
                  <a:srgbClr val="0B1F3A"/>
                </a:solidFill>
                <a:latin typeface="Calibri"/>
              </a:rPr>
              <a:t>Low &amp; Medium Load (C = 2, 8 — NORMAL): </a:t>
            </a:r>
            <a:r>
              <a:rPr sz="1090" b="0">
                <a:solidFill>
                  <a:srgbClr val="1F2937"/>
                </a:solidFill>
                <a:latin typeface="Calibri"/>
              </a:rPr>
              <a:t>Zero 503 rejections and comparable performance to baseline (−4.3% to +1.7% RPS in v4; −2.2% to +5.1% in Fresh Rerun).</a:t>
            </a:r>
          </a:p>
          <a:p>
            <a:pPr algn="l" marL="182880" indent="-182880">
              <a:spcAft>
                <a:spcPts val="150"/>
              </a:spcAft>
              <a:buFont typeface="Calibri"/>
              <a:buChar char="•"/>
            </a:pPr>
            <a:r>
              <a:rPr sz="1090" b="1">
                <a:solidFill>
                  <a:srgbClr val="0B1F3A"/>
                </a:solidFill>
                <a:latin typeface="Calibri"/>
              </a:rPr>
              <a:t>Medium-High Load (C = 32 — CAUTION Fair Sharing): </a:t>
            </a:r>
            <a:r>
              <a:rPr sz="1090" b="0">
                <a:solidFill>
                  <a:srgbClr val="1F2937"/>
                </a:solidFill>
                <a:latin typeface="Calibri"/>
              </a:rPr>
              <a:t>16-request keep-alive rotation cuts p99 tail latency by 61.3% in both v4 modes (201.93 → 78.17 ms Std; 206.97 → 80.15 ms Retry) and 58.4%–59.4% in Fresh Rerun with ZERO 503 rejections, trading 10.8%–13.7% RPS and raising p95 (~1.3 → 73–75 ms v4).</a:t>
            </a:r>
          </a:p>
          <a:p>
            <a:pPr algn="l" marL="182880" indent="-182880">
              <a:spcAft>
                <a:spcPts val="150"/>
              </a:spcAft>
              <a:buFont typeface="Calibri"/>
              <a:buChar char="•"/>
            </a:pPr>
            <a:r>
              <a:rPr sz="1090" b="1">
                <a:solidFill>
                  <a:srgbClr val="0B1F3A"/>
                </a:solidFill>
                <a:latin typeface="Calibri"/>
              </a:rPr>
              <a:t>High Load (C = 64 — OVERLOAD Client Divergence): </a:t>
            </a:r>
            <a:r>
              <a:rPr sz="1090" b="0">
                <a:solidFill>
                  <a:srgbClr val="1F2937"/>
                </a:solidFill>
                <a:latin typeface="Calibri"/>
              </a:rPr>
              <a:t>Fails under immediate-reconnect Standard clients (56.94% shed, −81.3% RPS, +9.4% p99 in v4). Under cooperative Retry-Aware clients (128 503s/trial, 0.80% shed, 511.91 s sleep), cuts admitted p99 by 60.6% (444.17 → 175.15 ms; +70.9% in Fresh) at a 76.6% (66.3% Fresh) throughput cost.</a:t>
            </a:r>
          </a:p>
          <a:p>
            <a:pPr algn="l" marL="182880" indent="-182880">
              <a:spcAft>
                <a:spcPts val="0"/>
              </a:spcAft>
              <a:buFont typeface="Calibri"/>
              <a:buChar char="•"/>
            </a:pPr>
            <a:r>
              <a:rPr sz="1090" b="1">
                <a:solidFill>
                  <a:srgbClr val="0B1F3A"/>
                </a:solidFill>
                <a:latin typeface="Calibri"/>
              </a:rPr>
              <a:t>Overall Takeaway: </a:t>
            </a:r>
            <a:r>
              <a:rPr sz="1090" b="0">
                <a:solidFill>
                  <a:srgbClr val="1F2937"/>
                </a:solidFill>
                <a:latin typeface="Calibri"/>
              </a:rPr>
              <a:t>QLAAC is a conditional, regime- and client-dependent latency–throughput trade-off, not a universal improvement.</a:t>
            </a:r>
          </a:p>
        </p:txBody>
      </p:sp>
      <p:sp>
        <p:nvSpPr>
          <p:cNvPr id="6" name="Rounded Rectangle 5"/>
          <p:cNvSpPr/>
          <p:nvPr/>
        </p:nvSpPr>
        <p:spPr>
          <a:xfrm>
            <a:off x="6217920" y="1965960"/>
            <a:ext cx="5376672" cy="4206240"/>
          </a:xfrm>
          <a:prstGeom prst="roundRect">
            <a:avLst>
              <a:gd name="adj" fmla="val 4000"/>
            </a:avLst>
          </a:prstGeom>
          <a:solidFill>
            <a:srgbClr val="DDF2F4"/>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82512" y="2039112"/>
            <a:ext cx="5047488" cy="4059935"/>
          </a:xfrm>
          <a:prstGeom prst="rect">
            <a:avLst/>
          </a:prstGeom>
          <a:noFill/>
        </p:spPr>
        <p:txBody>
          <a:bodyPr wrap="square" anchor="t" lIns="0" tIns="0" rIns="0" bIns="0">
            <a:noAutofit/>
          </a:bodyPr>
          <a:lstStyle/>
          <a:p>
            <a:pPr algn="l">
              <a:spcAft>
                <a:spcPts val="350"/>
              </a:spcAft>
            </a:pPr>
            <a:r>
              <a:rPr sz="1550" b="1">
                <a:solidFill>
                  <a:srgbClr val="0B1F3A"/>
                </a:solidFill>
                <a:latin typeface="Cambria"/>
              </a:rPr>
              <a:t>2. Future Enhancements — Proposals Only (Report §6.3)</a:t>
            </a:r>
          </a:p>
          <a:p>
            <a:pPr algn="l" marL="182880" indent="-182880">
              <a:spcAft>
                <a:spcPts val="200"/>
              </a:spcAft>
              <a:buFont typeface="Calibri"/>
              <a:buChar char="•"/>
            </a:pPr>
            <a:r>
              <a:rPr sz="1160" b="1">
                <a:solidFill>
                  <a:srgbClr val="0B1F3A"/>
                </a:solidFill>
                <a:latin typeface="Calibri"/>
              </a:rPr>
              <a:t>1. Leading Queue-Age Telemetry Signal: </a:t>
            </a:r>
            <a:r>
              <a:rPr sz="1160" b="0">
                <a:solidFill>
                  <a:srgbClr val="1F2937"/>
                </a:solidFill>
                <a:latin typeface="Calibri"/>
              </a:rPr>
              <a:t>Proposal: Inspect the age of the oldest connection currently waiting at queue-&gt;head (monotonic_ns() − head.enqueued_ns) on each sampler tick so QLAAC reacts before worker dequeue.</a:t>
            </a:r>
          </a:p>
          <a:p>
            <a:pPr algn="l" marL="182880" indent="-182880">
              <a:spcAft>
                <a:spcPts val="200"/>
              </a:spcAft>
              <a:buFont typeface="Calibri"/>
              <a:buChar char="•"/>
            </a:pPr>
            <a:r>
              <a:rPr sz="1160" b="1">
                <a:solidFill>
                  <a:srgbClr val="0B1F3A"/>
                </a:solidFill>
                <a:latin typeface="Calibri"/>
              </a:rPr>
              <a:t>2. Continuous Keep-Alive Cap &amp; Sensitivity Study: </a:t>
            </a:r>
            <a:r>
              <a:rPr sz="1160" b="0">
                <a:solidFill>
                  <a:srgbClr val="1F2937"/>
                </a:solidFill>
                <a:latin typeface="Calibri"/>
              </a:rPr>
              <a:t>Proposal: Systematically sweep keep-alive caps (8, 16, 32) and thresholds, and scale max_requests continuously with queue occupancy K(q) to smooth the C = 32 p95 shift.</a:t>
            </a:r>
          </a:p>
          <a:p>
            <a:pPr algn="l" marL="182880" indent="-182880">
              <a:spcAft>
                <a:spcPts val="200"/>
              </a:spcAft>
              <a:buFont typeface="Calibri"/>
              <a:buChar char="•"/>
            </a:pPr>
            <a:r>
              <a:rPr sz="1160" b="1">
                <a:solidFill>
                  <a:srgbClr val="0B1F3A"/>
                </a:solidFill>
                <a:latin typeface="Calibri"/>
              </a:rPr>
              <a:t>3. Open-Loop &amp; Multi-Minute Benchmarks: </a:t>
            </a:r>
            <a:r>
              <a:rPr sz="1160" b="0">
                <a:solidFill>
                  <a:srgbClr val="1F2937"/>
                </a:solidFill>
                <a:latin typeface="Calibri"/>
              </a:rPr>
              <a:t>Proposal: Evaluate with a C open-loop generator (e.g., wrk) over 60–120 s windows with jittered Retry-After client backoff to measure steady-state recovery.</a:t>
            </a:r>
          </a:p>
          <a:p>
            <a:pPr algn="l" marL="182880" indent="-182880">
              <a:spcAft>
                <a:spcPts val="200"/>
              </a:spcAft>
              <a:buFont typeface="Calibri"/>
              <a:buChar char="•"/>
            </a:pPr>
            <a:r>
              <a:rPr sz="1160" b="1">
                <a:solidFill>
                  <a:srgbClr val="0B1F3A"/>
                </a:solidFill>
                <a:latin typeface="Calibri"/>
              </a:rPr>
              <a:t>4. Hardware Telemetry &amp; Diverse Workloads: </a:t>
            </a:r>
            <a:r>
              <a:rPr sz="1160" b="0">
                <a:solidFill>
                  <a:srgbClr val="1F2937"/>
                </a:solidFill>
                <a:latin typeface="Calibri"/>
              </a:rPr>
              <a:t>Proposal: Log CPU clock frequency and thermal sensors per trial; benchmark static file delivery (sendfile) and large POST /api/echo payloads under load.</a:t>
            </a:r>
          </a:p>
          <a:p>
            <a:pPr algn="l" marL="182880" indent="-182880">
              <a:spcAft>
                <a:spcPts val="0"/>
              </a:spcAft>
              <a:buFont typeface="Calibri"/>
              <a:buChar char="•"/>
            </a:pPr>
            <a:r>
              <a:rPr sz="1160" b="1">
                <a:solidFill>
                  <a:srgbClr val="0B1F3A"/>
                </a:solidFill>
                <a:latin typeface="Calibri"/>
              </a:rPr>
              <a:t>5. Extended Protocol &amp; Event-Driven I/O: </a:t>
            </a:r>
            <a:r>
              <a:rPr sz="1160" b="0">
                <a:solidFill>
                  <a:srgbClr val="1F2937"/>
                </a:solidFill>
                <a:latin typeface="Calibri"/>
              </a:rPr>
              <a:t>Proposal: Add RFC 9112 chunked request decoding, range requests, TLS, and hybrid epoll/io_uring I/O to mitigate Slowloris worker starvation.</a:t>
            </a:r>
          </a:p>
        </p:txBody>
      </p:sp>
      <p:sp>
        <p:nvSpPr>
          <p:cNvPr id="8" name="TextBox 7"/>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Sections 6.1 &amp; 6.3 (pp. 38–39) — Proposals clearly distinguished from completed work</a:t>
            </a:r>
          </a:p>
        </p:txBody>
      </p:sp>
      <p:sp>
        <p:nvSpPr>
          <p:cNvPr id="9" name="TextBox 8"/>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29184"/>
            <a:ext cx="11002975" cy="1417320"/>
          </a:xfrm>
          <a:prstGeom prst="rect">
            <a:avLst/>
          </a:prstGeom>
          <a:noFill/>
        </p:spPr>
        <p:txBody>
          <a:bodyPr wrap="square" anchor="t" lIns="0" tIns="0" rIns="0" bIns="0">
            <a:noAutofit/>
          </a:bodyPr>
          <a:lstStyle/>
          <a:p>
            <a:pPr algn="l">
              <a:spcAft>
                <a:spcPts val="200"/>
              </a:spcAft>
            </a:pPr>
            <a:r>
              <a:rPr sz="1300" b="1">
                <a:solidFill>
                  <a:srgbClr val="0E9AA7"/>
                </a:solidFill>
                <a:latin typeface="Calibri"/>
              </a:rPr>
              <a:t>SECTION 10 · CONCLUSION, FUTURE WORK AND REFERENCES</a:t>
            </a:r>
          </a:p>
          <a:p>
            <a:pPr algn="l">
              <a:spcAft>
                <a:spcPts val="300"/>
              </a:spcAft>
            </a:pPr>
            <a:r>
              <a:rPr sz="2700" b="1">
                <a:solidFill>
                  <a:srgbClr val="0B1F3A"/>
                </a:solidFill>
                <a:latin typeface="Cambria"/>
              </a:rPr>
              <a:t>IEEE References [1]–[11]</a:t>
            </a:r>
          </a:p>
          <a:p>
            <a:pPr algn="l"/>
            <a:r>
              <a:rPr sz="1500" b="0">
                <a:solidFill>
                  <a:srgbClr val="5B6676"/>
                </a:solidFill>
                <a:latin typeface="Calibri"/>
              </a:rPr>
              <a:t>Normative IETF standards, server concurrency architectures, and queue-delay management literature (Report Section 7, p. 40)</a:t>
            </a:r>
          </a:p>
        </p:txBody>
      </p:sp>
      <p:sp>
        <p:nvSpPr>
          <p:cNvPr id="4" name="Rounded Rectangle 3"/>
          <p:cNvSpPr/>
          <p:nvPr/>
        </p:nvSpPr>
        <p:spPr>
          <a:xfrm>
            <a:off x="594360" y="1965960"/>
            <a:ext cx="5376672" cy="3703320"/>
          </a:xfrm>
          <a:prstGeom prst="roundRect">
            <a:avLst>
              <a:gd name="adj" fmla="val 4000"/>
            </a:avLst>
          </a:prstGeom>
          <a:solidFill>
            <a:srgbClr val="F3F6F9"/>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58952" y="2039112"/>
            <a:ext cx="5047488" cy="3557015"/>
          </a:xfrm>
          <a:prstGeom prst="rect">
            <a:avLst/>
          </a:prstGeom>
          <a:noFill/>
        </p:spPr>
        <p:txBody>
          <a:bodyPr wrap="square" anchor="t" lIns="0" tIns="0" rIns="0" bIns="0">
            <a:noAutofit/>
          </a:bodyPr>
          <a:lstStyle/>
          <a:p>
            <a:pPr algn="l">
              <a:spcAft>
                <a:spcPts val="300"/>
              </a:spcAft>
            </a:pPr>
            <a:r>
              <a:rPr sz="1550" b="1">
                <a:solidFill>
                  <a:srgbClr val="0B1F3A"/>
                </a:solidFill>
                <a:latin typeface="Cambria"/>
              </a:rPr>
              <a:t>Normative RFCs &amp; Server Architectures [1]–[6]</a:t>
            </a:r>
          </a:p>
          <a:p>
            <a:pPr algn="l">
              <a:spcAft>
                <a:spcPts val="150"/>
              </a:spcAft>
            </a:pPr>
            <a:r>
              <a:rPr sz="1130" b="1">
                <a:solidFill>
                  <a:srgbClr val="0B1F3A"/>
                </a:solidFill>
                <a:latin typeface="Calibri"/>
              </a:rPr>
              <a:t>[1] R. Fielding, M. Nottingham, and J. Reschke, Eds.: </a:t>
            </a:r>
            <a:r>
              <a:rPr sz="1130" b="0">
                <a:solidFill>
                  <a:srgbClr val="1F2937"/>
                </a:solidFill>
                <a:latin typeface="Calibri"/>
              </a:rPr>
              <a:t>"HTTP/1.1," Internet Engineering Task Force (IETF), RFC 9112 (STD 99), Jun. 2022.</a:t>
            </a:r>
          </a:p>
          <a:p>
            <a:pPr algn="l">
              <a:spcAft>
                <a:spcPts val="150"/>
              </a:spcAft>
            </a:pPr>
            <a:r>
              <a:rPr sz="1130" b="1">
                <a:solidFill>
                  <a:srgbClr val="0B1F3A"/>
                </a:solidFill>
                <a:latin typeface="Calibri"/>
              </a:rPr>
              <a:t>[2] R. Fielding, M. Nottingham, and J. Reschke, Eds.: </a:t>
            </a:r>
            <a:r>
              <a:rPr sz="1130" b="0">
                <a:solidFill>
                  <a:srgbClr val="1F2937"/>
                </a:solidFill>
                <a:latin typeface="Calibri"/>
              </a:rPr>
              <a:t>"HTTP Semantics," Internet Engineering Task Force (IETF), RFC 9110 (STD 97), Jun. 2022.</a:t>
            </a:r>
          </a:p>
          <a:p>
            <a:pPr algn="l">
              <a:spcAft>
                <a:spcPts val="150"/>
              </a:spcAft>
            </a:pPr>
            <a:r>
              <a:rPr sz="1130" b="1">
                <a:solidFill>
                  <a:srgbClr val="0B1F3A"/>
                </a:solidFill>
                <a:latin typeface="Calibri"/>
              </a:rPr>
              <a:t>[3] W. Eddy, Ed.: </a:t>
            </a:r>
            <a:r>
              <a:rPr sz="1130" b="0">
                <a:solidFill>
                  <a:srgbClr val="1F2937"/>
                </a:solidFill>
                <a:latin typeface="Calibri"/>
              </a:rPr>
              <a:t>"Transmission Control Protocol (TCP)," Internet Engineering Task Force (IETF), RFC 9293 (STD 7), Aug. 2022.</a:t>
            </a:r>
          </a:p>
          <a:p>
            <a:pPr algn="l">
              <a:spcAft>
                <a:spcPts val="150"/>
              </a:spcAft>
            </a:pPr>
            <a:r>
              <a:rPr sz="1130" b="1">
                <a:solidFill>
                  <a:srgbClr val="0B1F3A"/>
                </a:solidFill>
                <a:latin typeface="Calibri"/>
              </a:rPr>
              <a:t>[4] M. Welsh, D. Culler, and E. Brewer: </a:t>
            </a:r>
            <a:r>
              <a:rPr sz="1130" b="0">
                <a:solidFill>
                  <a:srgbClr val="1F2937"/>
                </a:solidFill>
                <a:latin typeface="Calibri"/>
              </a:rPr>
              <a:t>"SEDA: An architecture for well-conditioned, scalable Internet services," in Proc. 18th ACM Symp. Operating Systems Principles (SOSP), Banff, AB, Canada, 2001, pp. 230–243.</a:t>
            </a:r>
          </a:p>
          <a:p>
            <a:pPr algn="l">
              <a:spcAft>
                <a:spcPts val="150"/>
              </a:spcAft>
            </a:pPr>
            <a:r>
              <a:rPr sz="1130" b="1">
                <a:solidFill>
                  <a:srgbClr val="0B1F3A"/>
                </a:solidFill>
                <a:latin typeface="Calibri"/>
              </a:rPr>
              <a:t>[5] M. Welsh and D. Culler: </a:t>
            </a:r>
            <a:r>
              <a:rPr sz="1130" b="0">
                <a:solidFill>
                  <a:srgbClr val="1F2937"/>
                </a:solidFill>
                <a:latin typeface="Calibri"/>
              </a:rPr>
              <a:t>"Adaptive overload control for busy Internet servers," in Proc. 4th USENIX Symp. Internet Technologies and Systems (USITS), Seattle, WA, USA, Mar. 2003, pp. 43–57.</a:t>
            </a:r>
          </a:p>
          <a:p>
            <a:pPr algn="l">
              <a:spcAft>
                <a:spcPts val="0"/>
              </a:spcAft>
            </a:pPr>
            <a:r>
              <a:rPr sz="1130" b="1">
                <a:solidFill>
                  <a:srgbClr val="0B1F3A"/>
                </a:solidFill>
                <a:latin typeface="Calibri"/>
              </a:rPr>
              <a:t>[6] B. Schroeder and M. Harchol-Balter: </a:t>
            </a:r>
            <a:r>
              <a:rPr sz="1130" b="0">
                <a:solidFill>
                  <a:srgbClr val="1F2937"/>
                </a:solidFill>
                <a:latin typeface="Calibri"/>
              </a:rPr>
              <a:t>"Web servers under overload: How scheduling can help," ACM Trans. Internet Technol., vol. 6, no. 1, pp. 20–52, Feb. 2006.</a:t>
            </a:r>
          </a:p>
        </p:txBody>
      </p:sp>
      <p:sp>
        <p:nvSpPr>
          <p:cNvPr id="6" name="Rounded Rectangle 5"/>
          <p:cNvSpPr/>
          <p:nvPr/>
        </p:nvSpPr>
        <p:spPr>
          <a:xfrm>
            <a:off x="6217920" y="1965960"/>
            <a:ext cx="5376672" cy="3703320"/>
          </a:xfrm>
          <a:prstGeom prst="roundRect">
            <a:avLst>
              <a:gd name="adj" fmla="val 4000"/>
            </a:avLst>
          </a:prstGeom>
          <a:solidFill>
            <a:srgbClr val="DCE6F2"/>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382512" y="2039112"/>
            <a:ext cx="5047488" cy="3557015"/>
          </a:xfrm>
          <a:prstGeom prst="rect">
            <a:avLst/>
          </a:prstGeom>
          <a:noFill/>
        </p:spPr>
        <p:txBody>
          <a:bodyPr wrap="square" anchor="t" lIns="0" tIns="0" rIns="0" bIns="0">
            <a:noAutofit/>
          </a:bodyPr>
          <a:lstStyle/>
          <a:p>
            <a:pPr algn="l">
              <a:spcAft>
                <a:spcPts val="600"/>
              </a:spcAft>
            </a:pPr>
            <a:r>
              <a:rPr sz="1600" b="1">
                <a:solidFill>
                  <a:srgbClr val="0B1F3A"/>
                </a:solidFill>
                <a:latin typeface="Cambria"/>
              </a:rPr>
              <a:t>Performance, Queue Delay &amp; Tail Latency [7]–[11]</a:t>
            </a:r>
          </a:p>
          <a:p>
            <a:pPr algn="l">
              <a:spcAft>
                <a:spcPts val="450"/>
              </a:spcAft>
            </a:pPr>
            <a:r>
              <a:rPr sz="1200" b="1">
                <a:solidFill>
                  <a:srgbClr val="0B1F3A"/>
                </a:solidFill>
                <a:latin typeface="Calibri"/>
              </a:rPr>
              <a:t>[7] D. Pariag, T. Brecht, A. Harji, P. Buhr, A. Shukla, and D. R. Cheriton: </a:t>
            </a:r>
            <a:r>
              <a:rPr sz="1200" b="0">
                <a:solidFill>
                  <a:srgbClr val="1F2937"/>
                </a:solidFill>
                <a:latin typeface="Calibri"/>
              </a:rPr>
              <a:t>"Comparing the performance of web server architectures," in Proc. 2nd ACM SIGOPS/EuroSys European Conf. Computer Systems (EuroSys), Lisbon, Portugal, 2007, pp. 231–243.</a:t>
            </a:r>
          </a:p>
          <a:p>
            <a:pPr algn="l">
              <a:spcAft>
                <a:spcPts val="450"/>
              </a:spcAft>
            </a:pPr>
            <a:r>
              <a:rPr sz="1200" b="1">
                <a:solidFill>
                  <a:srgbClr val="0B1F3A"/>
                </a:solidFill>
                <a:latin typeface="Calibri"/>
              </a:rPr>
              <a:t>[8] K. Nichols and V. Jacobson: </a:t>
            </a:r>
            <a:r>
              <a:rPr sz="1200" b="0">
                <a:solidFill>
                  <a:srgbClr val="1F2937"/>
                </a:solidFill>
                <a:latin typeface="Calibri"/>
              </a:rPr>
              <a:t>"Controlling queue delay," ACM Queue, vol. 10, no. 5, pp. 20–34, May 2012.</a:t>
            </a:r>
          </a:p>
          <a:p>
            <a:pPr algn="l">
              <a:spcAft>
                <a:spcPts val="450"/>
              </a:spcAft>
            </a:pPr>
            <a:r>
              <a:rPr sz="1200" b="1">
                <a:solidFill>
                  <a:srgbClr val="0B1F3A"/>
                </a:solidFill>
                <a:latin typeface="Calibri"/>
              </a:rPr>
              <a:t>[9] J. Gettys and K. Nichols: </a:t>
            </a:r>
            <a:r>
              <a:rPr sz="1200" b="0">
                <a:solidFill>
                  <a:srgbClr val="1F2937"/>
                </a:solidFill>
                <a:latin typeface="Calibri"/>
              </a:rPr>
              <a:t>"Bufferbloat: Dark buffers in the Internet," ACM Queue, vol. 9, no. 11, pp. 40–54, Nov. 2011.</a:t>
            </a:r>
          </a:p>
          <a:p>
            <a:pPr algn="l">
              <a:spcAft>
                <a:spcPts val="450"/>
              </a:spcAft>
            </a:pPr>
            <a:r>
              <a:rPr sz="1200" b="1">
                <a:solidFill>
                  <a:srgbClr val="0B1F3A"/>
                </a:solidFill>
                <a:latin typeface="Calibri"/>
              </a:rPr>
              <a:t>[10] J. Dean and L. A. Barroso: </a:t>
            </a:r>
            <a:r>
              <a:rPr sz="1200" b="0">
                <a:solidFill>
                  <a:srgbClr val="1F2937"/>
                </a:solidFill>
                <a:latin typeface="Calibri"/>
              </a:rPr>
              <a:t>"The tail at scale," Commun. ACM, vol. 56, no. 2, pp. 74–80, Feb. 2013.</a:t>
            </a:r>
          </a:p>
          <a:p>
            <a:pPr algn="l">
              <a:spcAft>
                <a:spcPts val="0"/>
              </a:spcAft>
            </a:pPr>
            <a:r>
              <a:rPr sz="1200" b="1">
                <a:solidFill>
                  <a:srgbClr val="0B1F3A"/>
                </a:solidFill>
                <a:latin typeface="Calibri"/>
              </a:rPr>
              <a:t>[11] J. D. C. Little: </a:t>
            </a:r>
            <a:r>
              <a:rPr sz="1200" b="0">
                <a:solidFill>
                  <a:srgbClr val="1F2937"/>
                </a:solidFill>
                <a:latin typeface="Calibri"/>
              </a:rPr>
              <a:t>"A proof for the queuing formula: L = λW," Oper. Res., vol. 9, no. 3, pp. 383–387, Jun. 1961.</a:t>
            </a:r>
          </a:p>
        </p:txBody>
      </p:sp>
      <p:sp>
        <p:nvSpPr>
          <p:cNvPr id="8" name="Rounded Rectangle 7"/>
          <p:cNvSpPr/>
          <p:nvPr/>
        </p:nvSpPr>
        <p:spPr>
          <a:xfrm>
            <a:off x="594360" y="5760720"/>
            <a:ext cx="11002975" cy="438912"/>
          </a:xfrm>
          <a:prstGeom prst="roundRect">
            <a:avLst>
              <a:gd name="adj" fmla="val 8000"/>
            </a:avLst>
          </a:prstGeom>
          <a:solidFill>
            <a:srgbClr val="0B1F3A"/>
          </a:solidFill>
          <a:ln>
            <a:noFill/>
          </a:ln>
          <a:effectLst/>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5797296"/>
            <a:ext cx="10637215" cy="365760"/>
          </a:xfrm>
          <a:prstGeom prst="rect">
            <a:avLst/>
          </a:prstGeom>
          <a:noFill/>
        </p:spPr>
        <p:txBody>
          <a:bodyPr wrap="square" anchor="ctr" lIns="0" tIns="0" rIns="0" bIns="0">
            <a:noAutofit/>
          </a:bodyPr>
          <a:lstStyle/>
          <a:p>
            <a:pPr algn="ctr"/>
            <a:r>
              <a:rPr sz="1250" b="1">
                <a:solidFill>
                  <a:srgbClr val="5FD3DD"/>
                </a:solidFill>
                <a:latin typeface="Calibri"/>
              </a:rPr>
              <a:t>Thank You · Ready for Live Two-Terminal Demonstration, Parameter Change &amp; Viva Voce  —  Yash Pradhan (24BCE0702) &amp; Anjini Pandey (24BCE0714)</a:t>
            </a:r>
          </a:p>
        </p:txBody>
      </p:sp>
      <p:sp>
        <p:nvSpPr>
          <p:cNvPr id="10" name="TextBox 9"/>
          <p:cNvSpPr txBox="1"/>
          <p:nvPr/>
        </p:nvSpPr>
        <p:spPr>
          <a:xfrm>
            <a:off x="594360" y="6327648"/>
            <a:ext cx="10134295" cy="438912"/>
          </a:xfrm>
          <a:prstGeom prst="rect">
            <a:avLst/>
          </a:prstGeom>
          <a:noFill/>
        </p:spPr>
        <p:txBody>
          <a:bodyPr wrap="square" anchor="t" lIns="0" tIns="0" rIns="0" bIns="0">
            <a:noAutofit/>
          </a:bodyPr>
          <a:lstStyle/>
          <a:p>
            <a:pPr algn="l"/>
            <a:r>
              <a:rPr sz="1150">
                <a:solidFill>
                  <a:srgbClr val="5B6676"/>
                </a:solidFill>
                <a:latin typeface="Calibri"/>
              </a:rPr>
              <a:t>Source: CN_Project_Final_Report_Final_Submission.pdf, Section 7 References (p. 40) · End of Section 10</a:t>
            </a:r>
          </a:p>
        </p:txBody>
      </p:sp>
      <p:sp>
        <p:nvSpPr>
          <p:cNvPr id="11" name="TextBox 10"/>
          <p:cNvSpPr txBox="1"/>
          <p:nvPr/>
        </p:nvSpPr>
        <p:spPr>
          <a:xfrm>
            <a:off x="10865815" y="6327648"/>
            <a:ext cx="731520" cy="438912"/>
          </a:xfrm>
          <a:prstGeom prst="rect">
            <a:avLst/>
          </a:prstGeom>
          <a:noFill/>
        </p:spPr>
        <p:txBody>
          <a:bodyPr wrap="square" anchor="t" lIns="0" tIns="0" rIns="0" bIns="0">
            <a:noAutofit/>
          </a:bodyPr>
          <a:lstStyle/>
          <a:p>
            <a:pPr algn="r"/>
            <a:r>
              <a:rPr sz="1250" b="1">
                <a:solidFill>
                  <a:srgbClr val="5B6676"/>
                </a:solidFill>
                <a:latin typeface="Calibri"/>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